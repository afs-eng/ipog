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0" r:id="rId3"/>
    <p:sldId id="317" r:id="rId4"/>
    <p:sldId id="261" r:id="rId5"/>
    <p:sldId id="312" r:id="rId6"/>
    <p:sldId id="313" r:id="rId7"/>
    <p:sldId id="314" r:id="rId8"/>
    <p:sldId id="268" r:id="rId9"/>
    <p:sldId id="269" r:id="rId10"/>
    <p:sldId id="315" r:id="rId11"/>
    <p:sldId id="311" r:id="rId12"/>
    <p:sldId id="270" r:id="rId13"/>
    <p:sldId id="307" r:id="rId14"/>
    <p:sldId id="316" r:id="rId15"/>
    <p:sldId id="281" r:id="rId16"/>
    <p:sldId id="262" r:id="rId17"/>
    <p:sldId id="309" r:id="rId18"/>
    <p:sldId id="308" r:id="rId19"/>
    <p:sldId id="263" r:id="rId20"/>
    <p:sldId id="265" r:id="rId21"/>
    <p:sldId id="264" r:id="rId22"/>
    <p:sldId id="266" r:id="rId23"/>
    <p:sldId id="310" r:id="rId24"/>
    <p:sldId id="267" r:id="rId25"/>
    <p:sldId id="271" r:id="rId26"/>
    <p:sldId id="272" r:id="rId27"/>
    <p:sldId id="273" r:id="rId28"/>
    <p:sldId id="275" r:id="rId29"/>
    <p:sldId id="274" r:id="rId30"/>
    <p:sldId id="276" r:id="rId31"/>
    <p:sldId id="277" r:id="rId32"/>
    <p:sldId id="280" r:id="rId33"/>
    <p:sldId id="259" r:id="rId34"/>
  </p:sldIdLst>
  <p:sldSz cx="12192000" cy="6858000"/>
  <p:notesSz cx="7559675" cy="106918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48"/>
  </p:normalViewPr>
  <p:slideViewPr>
    <p:cSldViewPr snapToGrid="0">
      <p:cViewPr varScale="1">
        <p:scale>
          <a:sx n="90" d="100"/>
          <a:sy n="90" d="100"/>
        </p:scale>
        <p:origin x="232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 algn="ctr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pt-BR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A579089-8000-4FD4-86B0-53DF4B9EA4D0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lide de Título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 algn="ctr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pt-BR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8" name="PlaceHolder 4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B77F34E-894D-46DF-B53F-F6F69846C9C2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numCol="1" spcCol="0" anchor="t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0B98056-F26B-4785-90E0-8B70DAE80A43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numCol="1" spcCol="0"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numCol="1" spcCol="0" anchor="t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19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2703933-D0BF-421B-B8BB-B8C530A02691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24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6C00008-29C0-4406-8D17-7F14BFBB5676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beçalho da Seção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pt-BR" sz="6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29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53CD39C-EB71-4C8E-88E1-7A22B72131DD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35" name="PlaceHolder 6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F841806-6D49-444C-A5A8-78A5C27977D6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ação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43" name="PlaceHolder 8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D140112-95AD-4774-A483-CE1768BA14AF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47" name="PlaceHolder 4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6A14073-1BC8-43A9-9870-40F695FE333F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50" name="PlaceHolder 3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229EAB9-E43A-432C-9E30-631BB92952AB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údo com Legenda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56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6D93253-C21F-46C9-B0CE-CA758723EA30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magem com Legenda"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icon to add picture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dt" idx="3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ftr" idx="3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62" name="PlaceHolder 6"/>
          <p:cNvSpPr>
            <a:spLocks noGrp="1"/>
          </p:cNvSpPr>
          <p:nvPr>
            <p:ph type="sldNum" idx="3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F698A67-2FA3-4FFA-999B-9F7EAD1A444B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EDAE4D-C2CB-FB66-FA15-74A611539A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120A2DD-64C4-9BFB-8160-CB3591EB49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EF455A5-4EAE-FE83-4EB0-222764CE1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487C3-7596-CC40-8014-854637DD4F53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F84199-D7E2-E849-0941-8BBC4C227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FBE4B94-1857-B585-C2AB-07F62D66A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A4306-E124-E748-9FE8-E84AC0675E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40730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15FB20-E341-F65B-8E85-B5CC954FB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29AA3D-3B3C-79D1-A766-AA1128BDD9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D5BDA22-ACCC-8A4F-B6C7-CF9C2E928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0487C3-7596-CC40-8014-854637DD4F53}" type="datetimeFigureOut">
              <a:rPr lang="pt-BR" smtClean="0"/>
              <a:t>26/02/2026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E2A72D-6017-1B9D-F340-926801F35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133825E-71E7-1C60-DCEF-F0113B90C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A4306-E124-E748-9FE8-E84AC0675E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7173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Imagem 5" descr="Forma&#10;&#10;Descrição gerada automaticamente com confiança média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 algn="ctr">
              <a:buNone/>
            </a:pPr>
            <a:r>
              <a:rPr lang="pt-BR" sz="6000" b="0" u="none" strike="noStrike" dirty="0">
                <a:solidFill>
                  <a:schemeClr val="dk1"/>
                </a:solidFill>
                <a:effectLst/>
                <a:uFillTx/>
                <a:latin typeface="Calibri Light"/>
              </a:rPr>
              <a:t>Medula espinal</a:t>
            </a:r>
          </a:p>
        </p:txBody>
      </p:sp>
      <p:sp>
        <p:nvSpPr>
          <p:cNvPr id="65" name="PlaceHolder 2"/>
          <p:cNvSpPr>
            <a:spLocks noGrp="1"/>
          </p:cNvSpPr>
          <p:nvPr>
            <p:ph type="subTitle"/>
          </p:nvPr>
        </p:nvSpPr>
        <p:spPr>
          <a:xfrm>
            <a:off x="1523880" y="4200874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 algn="ctr">
              <a:buNone/>
            </a:pPr>
            <a:r>
              <a:rPr lang="pt-BR" sz="2400" b="0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Profa. Dra. Laiza Barros</a:t>
            </a:r>
          </a:p>
          <a:p>
            <a:pPr indent="0" algn="ctr">
              <a:buNone/>
            </a:pPr>
            <a:endParaRPr lang="pt-BR" sz="2400" b="0" u="none" strike="noStrike" dirty="0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ctr">
              <a:buNone/>
            </a:pPr>
            <a:r>
              <a:rPr lang="pt-BR" sz="2400" dirty="0" err="1">
                <a:solidFill>
                  <a:schemeClr val="dk1"/>
                </a:solidFill>
                <a:latin typeface="Calibri"/>
              </a:rPr>
              <a:t>Neuroanotomofisiologia</a:t>
            </a:r>
            <a:r>
              <a:rPr lang="pt-BR" sz="2400" dirty="0">
                <a:solidFill>
                  <a:schemeClr val="dk1"/>
                </a:solidFill>
                <a:latin typeface="Calibri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915EEC-59ED-6F8C-5506-0105C8EA44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/>
              <a:t>Medula espinhal</a:t>
            </a:r>
            <a:endParaRPr lang="pt-BR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D72AE95-9F34-1D16-4AF9-779982CA9B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429" b="26961"/>
          <a:stretch/>
        </p:blipFill>
        <p:spPr>
          <a:xfrm>
            <a:off x="254793" y="242887"/>
            <a:ext cx="11682413" cy="637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599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ntendo Texto&#10;&#10;Descrição gerada automaticamente">
            <a:extLst>
              <a:ext uri="{FF2B5EF4-FFF2-40B4-BE49-F238E27FC236}">
                <a16:creationId xmlns:a16="http://schemas.microsoft.com/office/drawing/2014/main" id="{843960D0-76D9-1DC2-7C46-F6D7594544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16143">
            <a:off x="-300982" y="9046"/>
            <a:ext cx="3765721" cy="3765721"/>
          </a:xfrm>
          <a:prstGeom prst="rect">
            <a:avLst/>
          </a:prstGeom>
        </p:spPr>
      </p:pic>
      <p:pic>
        <p:nvPicPr>
          <p:cNvPr id="2050" name="Picture 2" descr="Nossa medula nervosa espinhal situa-se no canal vertebral, mas ela não  preenche longitudinalmente toda a extensão do canal. Ela se inicia na parte  superior a partir da base do crânio, continuando pela">
            <a:extLst>
              <a:ext uri="{FF2B5EF4-FFF2-40B4-BE49-F238E27FC236}">
                <a16:creationId xmlns:a16="http://schemas.microsoft.com/office/drawing/2014/main" id="{9A52C6C0-6436-9513-3DE6-CC5B1EAA42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2" y="1408013"/>
            <a:ext cx="3989491" cy="4981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Medula óssea: o que é, funções, tipos, transplante - Biologia Net">
            <a:extLst>
              <a:ext uri="{FF2B5EF4-FFF2-40B4-BE49-F238E27FC236}">
                <a16:creationId xmlns:a16="http://schemas.microsoft.com/office/drawing/2014/main" id="{724B1C5C-4408-266A-A5DB-58B2E34C53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8697" y="293914"/>
            <a:ext cx="4299131" cy="6433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iferente de 3">
            <a:extLst>
              <a:ext uri="{FF2B5EF4-FFF2-40B4-BE49-F238E27FC236}">
                <a16:creationId xmlns:a16="http://schemas.microsoft.com/office/drawing/2014/main" id="{D8F06E67-E94A-EF2C-DA6A-4A188E665FE2}"/>
              </a:ext>
            </a:extLst>
          </p:cNvPr>
          <p:cNvSpPr/>
          <p:nvPr/>
        </p:nvSpPr>
        <p:spPr>
          <a:xfrm>
            <a:off x="6732693" y="3243943"/>
            <a:ext cx="986005" cy="478969"/>
          </a:xfrm>
          <a:prstGeom prst="mathNot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2979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DA60B7B-797D-CA41-40E9-06AA399320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1875"/>
          <a:stretch/>
        </p:blipFill>
        <p:spPr>
          <a:xfrm>
            <a:off x="1295399" y="71437"/>
            <a:ext cx="10159999" cy="671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144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atomia da coluna: o que você precisa saber - Dr. Alberto Gotfryd">
            <a:extLst>
              <a:ext uri="{FF2B5EF4-FFF2-40B4-BE49-F238E27FC236}">
                <a16:creationId xmlns:a16="http://schemas.microsoft.com/office/drawing/2014/main" id="{E5B511DB-E506-7C51-8F6A-E4E3DA0991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6" y="474691"/>
            <a:ext cx="5961062" cy="5908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igura 5.1">
            <a:extLst>
              <a:ext uri="{FF2B5EF4-FFF2-40B4-BE49-F238E27FC236}">
                <a16:creationId xmlns:a16="http://schemas.microsoft.com/office/drawing/2014/main" id="{FE173193-C43F-4A47-B01C-54C5C73EE0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6362" y="1030824"/>
            <a:ext cx="5735638" cy="4796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4080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CA1E95C6-C214-F769-AA6E-25EBC14B6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18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3DD37EBA-F267-D671-F79A-E0B9FF5D95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500"/>
          <a:stretch/>
        </p:blipFill>
        <p:spPr>
          <a:xfrm>
            <a:off x="1495425" y="15448"/>
            <a:ext cx="9863138" cy="6842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228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52A0DEB9-C36E-5CD6-CB54-56679ABF7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838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78D38ED8-DA69-452C-635B-A6217390FD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676" t="1458" r="10104" b="6458"/>
          <a:stretch/>
        </p:blipFill>
        <p:spPr>
          <a:xfrm>
            <a:off x="2500312" y="100013"/>
            <a:ext cx="7743825" cy="6751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253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72E2ABEB-EA75-C931-3A4F-B26A01702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962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Picture 1" descr="page11image56552416">
            <a:extLst>
              <a:ext uri="{FF2B5EF4-FFF2-40B4-BE49-F238E27FC236}">
                <a16:creationId xmlns:a16="http://schemas.microsoft.com/office/drawing/2014/main" id="{EB94302D-7C41-9850-4BCD-34FAA9D314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2100" y="49212"/>
            <a:ext cx="6665913" cy="6665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40A74800-E3BB-E2EE-5E5D-DCFBEBD65D1E}"/>
              </a:ext>
            </a:extLst>
          </p:cNvPr>
          <p:cNvSpPr txBox="1"/>
          <p:nvPr/>
        </p:nvSpPr>
        <p:spPr>
          <a:xfrm>
            <a:off x="360760" y="794474"/>
            <a:ext cx="455414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dirty="0">
                <a:effectLst/>
                <a:latin typeface="TimesNewRomanPSMT"/>
              </a:rPr>
              <a:t>Figura 7. Vista anterior da coluna espinal dissecada do Feto No 1, evidenciando nervo espinal </a:t>
            </a:r>
            <a:r>
              <a:rPr lang="pt-BR" sz="1800" dirty="0" err="1">
                <a:effectLst/>
                <a:latin typeface="TimesNewRomanPSMT"/>
              </a:rPr>
              <a:t>I</a:t>
            </a:r>
            <a:r>
              <a:rPr lang="pt-BR" sz="1800" dirty="0">
                <a:effectLst/>
                <a:latin typeface="TimesNewRomanPSMT"/>
              </a:rPr>
              <a:t> (1.13); nervo espinal II (1.14); nervo espinal III (1.15); nervo espinal IV (1.16); nervo espinal V (1.17); nervo espinal VI (1.18); nervo espinal VII (1.19); nervo espinal VIII (1.20); nervo espinal IX (1.21); nervo espinal </a:t>
            </a:r>
            <a:r>
              <a:rPr lang="pt-BR" sz="1800" dirty="0" err="1">
                <a:effectLst/>
                <a:latin typeface="TimesNewRomanPSMT"/>
              </a:rPr>
              <a:t>X</a:t>
            </a:r>
            <a:r>
              <a:rPr lang="pt-BR" sz="1800" dirty="0">
                <a:effectLst/>
                <a:latin typeface="TimesNewRomanPSMT"/>
              </a:rPr>
              <a:t> (1.22); nervo espinal XI (1.23) e nervo espinal XII (1.24). </a:t>
            </a:r>
          </a:p>
          <a:p>
            <a:pPr algn="just"/>
            <a:endParaRPr lang="pt-BR" dirty="0">
              <a:latin typeface="TimesNewRomanPSMT"/>
            </a:endParaRPr>
          </a:p>
          <a:p>
            <a:pPr algn="just"/>
            <a:r>
              <a:rPr lang="pt-BR" sz="1800" dirty="0">
                <a:effectLst/>
                <a:latin typeface="TimesNewRomanPSMT"/>
              </a:rPr>
              <a:t>Fonte: Santos et al., 2023</a:t>
            </a:r>
          </a:p>
          <a:p>
            <a:pPr algn="just"/>
            <a:r>
              <a:rPr lang="pt-BR" sz="1800">
                <a:effectLst/>
                <a:latin typeface="TimesNewRomanPSMT"/>
              </a:rPr>
              <a:t>DOI: 10.25110/arqsaude.v27i1.20238919 </a:t>
            </a:r>
            <a:endParaRPr lang="pt-BR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53809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A3BCEC21-724F-3EA6-183F-A102BF893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0731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CD2751D-651D-C5A2-F320-57F2B7365C7A}"/>
              </a:ext>
            </a:extLst>
          </p:cNvPr>
          <p:cNvSpPr/>
          <p:nvPr/>
        </p:nvSpPr>
        <p:spPr>
          <a:xfrm>
            <a:off x="1289538" y="748994"/>
            <a:ext cx="923309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202124"/>
                </a:solidFill>
                <a:latin typeface="arial" panose="020B0604020202020204" pitchFamily="34" charset="0"/>
              </a:rPr>
              <a:t>Cisterna lombar</a:t>
            </a:r>
            <a:r>
              <a:rPr lang="pt-BR" dirty="0">
                <a:solidFill>
                  <a:srgbClr val="202124"/>
                </a:solidFill>
                <a:latin typeface="arial" panose="020B0604020202020204" pitchFamily="34" charset="0"/>
              </a:rPr>
              <a:t> – que é um fundo de saco dural, após a terminação da medula espinhal que começa de L1/L2 até S2, local onde primariamente se localizava a medula espinhal.</a:t>
            </a:r>
            <a:endParaRPr lang="pt-BR" dirty="0"/>
          </a:p>
        </p:txBody>
      </p:sp>
      <p:pic>
        <p:nvPicPr>
          <p:cNvPr id="9218" name="Picture 2" descr="09 15067">
            <a:extLst>
              <a:ext uri="{FF2B5EF4-FFF2-40B4-BE49-F238E27FC236}">
                <a16:creationId xmlns:a16="http://schemas.microsoft.com/office/drawing/2014/main" id="{1DE7F92A-A537-50FB-E924-04271391E2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791" y="3348635"/>
            <a:ext cx="9594166" cy="3213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95227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B1AD24DE-C3E8-9332-4E74-B853A7F31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7879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5A2D439F-19CC-E2E7-549B-99B63882C7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480" t="11470" r="21262" b="15588"/>
          <a:stretch/>
        </p:blipFill>
        <p:spPr>
          <a:xfrm>
            <a:off x="1628775" y="180143"/>
            <a:ext cx="9301162" cy="6497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1662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D2237217-7F6E-C565-E42E-557747511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0304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Medula espinhal - Só Biologia">
            <a:extLst>
              <a:ext uri="{FF2B5EF4-FFF2-40B4-BE49-F238E27FC236}">
                <a16:creationId xmlns:a16="http://schemas.microsoft.com/office/drawing/2014/main" id="{7FAB4B10-69CC-2187-F9C5-225AC8554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5325" y="685801"/>
            <a:ext cx="8608311" cy="5986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01073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46E0266-C70A-BE7E-45F8-476EC6B17F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49" y="1266828"/>
            <a:ext cx="6182639" cy="3844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274E58CD-2C8E-D115-5C3A-FBF127253509}"/>
              </a:ext>
            </a:extLst>
          </p:cNvPr>
          <p:cNvSpPr txBox="1"/>
          <p:nvPr/>
        </p:nvSpPr>
        <p:spPr>
          <a:xfrm>
            <a:off x="3262768" y="5375728"/>
            <a:ext cx="257175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" dirty="0"/>
              <a:t>https://</a:t>
            </a:r>
            <a:r>
              <a:rPr lang="pt-BR" sz="800" dirty="0" err="1"/>
              <a:t>mol.icb.usp.br</a:t>
            </a:r>
            <a:r>
              <a:rPr lang="pt-BR" sz="800" dirty="0"/>
              <a:t>/</a:t>
            </a:r>
            <a:r>
              <a:rPr lang="pt-BR" sz="800" dirty="0" err="1"/>
              <a:t>index.php</a:t>
            </a:r>
            <a:r>
              <a:rPr lang="pt-BR" sz="800" dirty="0"/>
              <a:t>/9-24-tecido-nervoso/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411413EE-1353-B836-CA9C-D92F403CDB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1272" y="1109662"/>
            <a:ext cx="5715000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12865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57F4D431-3CC6-C735-89A1-45719695E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1203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B045A3B-4994-EF57-A975-F8905BCC0F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1250"/>
          <a:stretch/>
        </p:blipFill>
        <p:spPr>
          <a:xfrm>
            <a:off x="360217" y="378618"/>
            <a:ext cx="11831783" cy="610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1508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FA06D389-9CB4-8497-50B0-D0D1E9D2C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3741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D7DBCD09-A69A-1EC0-5559-32328FA9B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6534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3" name="Picture 1" descr="page10image56497024">
            <a:extLst>
              <a:ext uri="{FF2B5EF4-FFF2-40B4-BE49-F238E27FC236}">
                <a16:creationId xmlns:a16="http://schemas.microsoft.com/office/drawing/2014/main" id="{BCEED77F-4478-36A4-BAE2-DB157C7DA4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9713" y="128590"/>
            <a:ext cx="6643688" cy="6643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E64ECC89-F4BC-44EE-9D57-A5B0441A2C38}"/>
              </a:ext>
            </a:extLst>
          </p:cNvPr>
          <p:cNvSpPr txBox="1"/>
          <p:nvPr/>
        </p:nvSpPr>
        <p:spPr>
          <a:xfrm>
            <a:off x="360760" y="618648"/>
            <a:ext cx="462557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800" dirty="0">
                <a:effectLst/>
                <a:latin typeface="TimesNewRomanPSMT"/>
              </a:rPr>
              <a:t>Figura 6. Vista posterior da coluna espinal dissecada do Feto No 1, evidenciando nervo espinal (1.7); </a:t>
            </a:r>
            <a:r>
              <a:rPr lang="pt-BR" sz="1800" dirty="0" err="1">
                <a:effectLst/>
                <a:latin typeface="TimesNewRomanPSMT"/>
              </a:rPr>
              <a:t>intumescência</a:t>
            </a:r>
            <a:r>
              <a:rPr lang="pt-BR" sz="1800" dirty="0">
                <a:effectLst/>
                <a:latin typeface="TimesNewRomanPSMT"/>
              </a:rPr>
              <a:t> </a:t>
            </a:r>
            <a:r>
              <a:rPr lang="pt-BR" sz="1800" dirty="0" err="1">
                <a:effectLst/>
                <a:latin typeface="TimesNewRomanPSMT"/>
              </a:rPr>
              <a:t>lombossacral</a:t>
            </a:r>
            <a:r>
              <a:rPr lang="pt-BR" sz="1800" dirty="0">
                <a:effectLst/>
                <a:latin typeface="TimesNewRomanPSMT"/>
              </a:rPr>
              <a:t> (1.8); cone medular (1.9); cauda equina (1.10); filamento terminal (1.11); </a:t>
            </a:r>
            <a:r>
              <a:rPr lang="pt-BR" sz="1800" dirty="0" err="1">
                <a:effectLst/>
                <a:latin typeface="TimesNewRomanPSMT"/>
              </a:rPr>
              <a:t>dura-máter</a:t>
            </a:r>
            <a:r>
              <a:rPr lang="pt-BR" sz="1800" dirty="0">
                <a:effectLst/>
                <a:latin typeface="TimesNewRomanPSMT"/>
              </a:rPr>
              <a:t> seccionada (1.12.) e Medula espinal (M).</a:t>
            </a:r>
          </a:p>
          <a:p>
            <a:pPr algn="just"/>
            <a:endParaRPr lang="pt-BR" dirty="0">
              <a:latin typeface="TimesNewRomanPSMT"/>
            </a:endParaRPr>
          </a:p>
          <a:p>
            <a:pPr algn="just"/>
            <a:r>
              <a:rPr lang="pt-BR" sz="1800" dirty="0">
                <a:effectLst/>
                <a:latin typeface="TimesNewRomanPSMT"/>
              </a:rPr>
              <a:t>Fonte: Santos et al., 2023</a:t>
            </a:r>
          </a:p>
          <a:p>
            <a:pPr algn="just"/>
            <a:r>
              <a:rPr lang="pt-BR" sz="1800" dirty="0">
                <a:effectLst/>
                <a:latin typeface="TimesNewRomanPSMT"/>
              </a:rPr>
              <a:t>DOI: 10.25110/arqsaude.v27i1.20238919 </a:t>
            </a:r>
            <a:endParaRPr lang="pt-BR" dirty="0"/>
          </a:p>
          <a:p>
            <a:pPr algn="just"/>
            <a:r>
              <a:rPr lang="pt-BR" sz="1800" dirty="0">
                <a:effectLst/>
                <a:latin typeface="TimesNewRomanPSMT"/>
              </a:rPr>
              <a:t>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748369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1C6F3A3-C5C5-80AF-4719-183D5BDD63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521" r="10104" b="18959"/>
          <a:stretch/>
        </p:blipFill>
        <p:spPr>
          <a:xfrm>
            <a:off x="1085852" y="0"/>
            <a:ext cx="8729662" cy="6684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1090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3F0F1049-3808-17F1-DE36-67654D0B9B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3333"/>
          <a:stretch/>
        </p:blipFill>
        <p:spPr>
          <a:xfrm>
            <a:off x="1524000" y="0"/>
            <a:ext cx="91440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6810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5DFB8D31-569C-41BE-9DB2-9A1833AAA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2717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13E7A2E2-FC59-4F44-7E5D-50778AC802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6250"/>
          <a:stretch/>
        </p:blipFill>
        <p:spPr>
          <a:xfrm>
            <a:off x="239057" y="242887"/>
            <a:ext cx="11952943" cy="571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9429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CE39E3BA-DBA4-5D4C-7C7E-7D8C6FC3D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1572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57988149-C6DB-CA9D-6B06-EC7A784D3A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3333"/>
          <a:stretch/>
        </p:blipFill>
        <p:spPr>
          <a:xfrm>
            <a:off x="526072" y="207168"/>
            <a:ext cx="9913328" cy="6443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0632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30D3908-1342-DF1A-DF95-13E29F1550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7083"/>
          <a:stretch/>
        </p:blipFill>
        <p:spPr>
          <a:xfrm>
            <a:off x="348343" y="100013"/>
            <a:ext cx="11495314" cy="628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8492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E488D310-1276-D029-9F87-9836C04E11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833"/>
          <a:stretch/>
        </p:blipFill>
        <p:spPr>
          <a:xfrm>
            <a:off x="192292" y="0"/>
            <a:ext cx="10275683" cy="648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3523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érebro Engraçado Dos Desenhos Animados Com Ideia Da Ampola Ilustração do  Vetor - Ilustração de brilhante, isolado: 94073314">
            <a:extLst>
              <a:ext uri="{FF2B5EF4-FFF2-40B4-BE49-F238E27FC236}">
                <a16:creationId xmlns:a16="http://schemas.microsoft.com/office/drawing/2014/main" id="{B836B081-420E-8C86-E152-E9FCBCC63E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4031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Imagem 4" descr="Uma imagem contendo Logotipo&#10;&#10;Descrição gerada automaticamente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Vermelho">
      <a:dk1>
        <a:srgbClr val="000000"/>
      </a:dk1>
      <a:lt1>
        <a:srgbClr val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Novo Modelo de Slides do IPOG - Versão 2021</Template>
  <TotalTime>25</TotalTime>
  <Words>232</Words>
  <Application>Microsoft Macintosh PowerPoint</Application>
  <PresentationFormat>Widescreen</PresentationFormat>
  <Paragraphs>16</Paragraphs>
  <Slides>33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33</vt:i4>
      </vt:variant>
    </vt:vector>
  </HeadingPairs>
  <TitlesOfParts>
    <vt:vector size="42" baseType="lpstr">
      <vt:lpstr>arial</vt:lpstr>
      <vt:lpstr>arial</vt:lpstr>
      <vt:lpstr>Calibri</vt:lpstr>
      <vt:lpstr>Calibri Light</vt:lpstr>
      <vt:lpstr>Symbol</vt:lpstr>
      <vt:lpstr>Times New Roman</vt:lpstr>
      <vt:lpstr>TimesNewRomanPSMT</vt:lpstr>
      <vt:lpstr>Wingdings</vt:lpstr>
      <vt:lpstr>Tema do Office</vt:lpstr>
      <vt:lpstr>Medula espinal</vt:lpstr>
      <vt:lpstr>Medula espinhal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>VIVIANE MARIA DE CASTRO GUIMARAES VIEIRA</dc:creator>
  <dc:description/>
  <cp:lastModifiedBy>Laiza Barros</cp:lastModifiedBy>
  <cp:revision>9</cp:revision>
  <dcterms:created xsi:type="dcterms:W3CDTF">2025-07-25T15:54:00Z</dcterms:created>
  <dcterms:modified xsi:type="dcterms:W3CDTF">2026-02-26T16:13:13Z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3</vt:i4>
  </property>
</Properties>
</file>