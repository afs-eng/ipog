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72" r:id="rId3"/>
    <p:sldId id="298" r:id="rId4"/>
    <p:sldId id="299" r:id="rId5"/>
    <p:sldId id="268" r:id="rId6"/>
    <p:sldId id="300" r:id="rId7"/>
    <p:sldId id="263" r:id="rId8"/>
    <p:sldId id="301" r:id="rId9"/>
    <p:sldId id="302" r:id="rId10"/>
    <p:sldId id="303" r:id="rId11"/>
    <p:sldId id="304" r:id="rId12"/>
    <p:sldId id="264" r:id="rId13"/>
    <p:sldId id="306" r:id="rId14"/>
    <p:sldId id="288" r:id="rId15"/>
    <p:sldId id="275" r:id="rId16"/>
    <p:sldId id="297" r:id="rId17"/>
    <p:sldId id="276" r:id="rId18"/>
    <p:sldId id="273" r:id="rId19"/>
    <p:sldId id="274" r:id="rId20"/>
    <p:sldId id="289" r:id="rId21"/>
    <p:sldId id="291" r:id="rId22"/>
    <p:sldId id="290" r:id="rId23"/>
    <p:sldId id="257" r:id="rId24"/>
    <p:sldId id="277" r:id="rId25"/>
    <p:sldId id="278" r:id="rId26"/>
    <p:sldId id="279" r:id="rId27"/>
    <p:sldId id="295" r:id="rId28"/>
    <p:sldId id="293" r:id="rId29"/>
    <p:sldId id="292" r:id="rId30"/>
    <p:sldId id="281" r:id="rId31"/>
    <p:sldId id="280" r:id="rId32"/>
    <p:sldId id="266" r:id="rId33"/>
    <p:sldId id="286" r:id="rId34"/>
    <p:sldId id="294" r:id="rId35"/>
    <p:sldId id="284" r:id="rId36"/>
    <p:sldId id="282" r:id="rId37"/>
    <p:sldId id="283" r:id="rId38"/>
    <p:sldId id="258" r:id="rId39"/>
    <p:sldId id="259" r:id="rId40"/>
    <p:sldId id="260" r:id="rId41"/>
    <p:sldId id="261" r:id="rId42"/>
    <p:sldId id="262" r:id="rId43"/>
    <p:sldId id="267" r:id="rId44"/>
    <p:sldId id="287" r:id="rId45"/>
    <p:sldId id="285" r:id="rId46"/>
    <p:sldId id="296" r:id="rId47"/>
    <p:sldId id="307" r:id="rId48"/>
    <p:sldId id="305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D0EDE-1557-407C-BB7F-5FD45E3EBCC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BB8356-CE28-438B-841C-A4B09DB400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29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662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1CC4A9-8809-452C-A5D2-78DD0D3DAE6D}" type="slidenum">
              <a:rPr lang="pt-BR" altLang="pt-BR" smtClean="0"/>
              <a:pPr>
                <a:spcBef>
                  <a:spcPct val="0"/>
                </a:spcBef>
              </a:pPr>
              <a:t>17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52766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8676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F6F6DAE-F2B2-4B58-B10A-FF3358B4232B}" type="slidenum">
              <a:rPr lang="pt-BR" altLang="pt-BR" smtClean="0"/>
              <a:pPr>
                <a:spcBef>
                  <a:spcPct val="0"/>
                </a:spcBef>
              </a:pPr>
              <a:t>24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32379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072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3D09448-6AFA-4D4A-B652-9A584B2908F2}" type="slidenum">
              <a:rPr lang="pt-BR" altLang="pt-BR" smtClean="0"/>
              <a:pPr>
                <a:spcBef>
                  <a:spcPct val="0"/>
                </a:spcBef>
              </a:pPr>
              <a:t>25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72293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277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E52A960-DBD5-4B8F-A80C-7901CA376F68}" type="slidenum">
              <a:rPr lang="pt-BR" altLang="pt-BR" smtClean="0"/>
              <a:pPr>
                <a:spcBef>
                  <a:spcPct val="0"/>
                </a:spcBef>
              </a:pPr>
              <a:t>26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969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6AC8-193C-46BB-BD6A-1F2DC3B9162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095C0-80FA-4145-81B5-4A5A52E921E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58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6AC8-193C-46BB-BD6A-1F2DC3B9162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095C0-80FA-4145-81B5-4A5A52E921E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35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6AC8-193C-46BB-BD6A-1F2DC3B9162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095C0-80FA-4145-81B5-4A5A52E921E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50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6AC8-193C-46BB-BD6A-1F2DC3B9162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095C0-80FA-4145-81B5-4A5A52E921E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73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6AC8-193C-46BB-BD6A-1F2DC3B9162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095C0-80FA-4145-81B5-4A5A52E921E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5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6AC8-193C-46BB-BD6A-1F2DC3B9162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095C0-80FA-4145-81B5-4A5A52E921E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10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6AC8-193C-46BB-BD6A-1F2DC3B9162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095C0-80FA-4145-81B5-4A5A52E921E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69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6AC8-193C-46BB-BD6A-1F2DC3B9162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095C0-80FA-4145-81B5-4A5A52E921E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52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6AC8-193C-46BB-BD6A-1F2DC3B9162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095C0-80FA-4145-81B5-4A5A52E921E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0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6AC8-193C-46BB-BD6A-1F2DC3B9162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095C0-80FA-4145-81B5-4A5A52E921E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7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6AC8-193C-46BB-BD6A-1F2DC3B9162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095C0-80FA-4145-81B5-4A5A52E921E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61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E6AC8-193C-46BB-BD6A-1F2DC3B9162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095C0-80FA-4145-81B5-4A5A52E921E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5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Dismetria&amp;oq=lesoes+do+cerebelo&amp;gs_lcrp=EgZjaHJvbWUyBggAEEUYOTIJCAEQABgNGIAEMgcIAhAAGO8FMgcIAxAAGO8FMgoIBBAAGIAEGKIE0gEINDg4MWowajeoAgCwAgA&amp;sourceid=chrome&amp;ie=UTF-8&amp;ved=2ahUKEwiBtOTs-JqTAxV8KrkGHfc1Da4QgK4QegYIAQgAEAw" TargetMode="External"/><Relationship Id="rId7" Type="http://schemas.openxmlformats.org/officeDocument/2006/relationships/hyperlink" Target="https://www.google.com/search?q=Nistagmo&amp;oq=lesoes+do+cerebelo&amp;gs_lcrp=EgZjaHJvbWUyBggAEEUYOTIJCAEQABgNGIAEMgcIAhAAGO8FMgcIAxAAGO8FMgoIBBAAGIAEGKIE0gEINDg4MWowajeoAgCwAgA&amp;sourceid=chrome&amp;ie=UTF-8&amp;ved=2ahUKEwiBtOTs-JqTAxV8KrkGHfc1Da4QgK4QegYIAQgDEAE" TargetMode="External"/><Relationship Id="rId2" Type="http://schemas.openxmlformats.org/officeDocument/2006/relationships/hyperlink" Target="https://www.google.com/search?q=Ataxia+Cerebelar&amp;oq=lesoes+do+cerebelo&amp;gs_lcrp=EgZjaHJvbWUyBggAEEUYOTIJCAEQABgNGIAEMgcIAhAAGO8FMgcIAxAAGO8FMgoIBBAAGIAEGKIE0gEINDg4MWowajeoAgCwAgA&amp;sourceid=chrome&amp;ie=UTF-8&amp;ved=2ahUKEwiBtOTs-JqTAxV8KrkGHfc1Da4QgK4QegYIAQgAEAo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oogle.com/search?q=Disartria&amp;oq=lesoes+do+cerebelo&amp;gs_lcrp=EgZjaHJvbWUyBggAEEUYOTIJCAEQABgNGIAEMgcIAhAAGO8FMgcIAxAAGO8FMgoIBBAAGIAEGKIE0gEINDg4MWowajeoAgCwAgA&amp;sourceid=chrome&amp;ie=UTF-8&amp;ved=2ahUKEwiBtOTs-JqTAxV8KrkGHfc1Da4QgK4QegYIAQgCEAE" TargetMode="External"/><Relationship Id="rId5" Type="http://schemas.openxmlformats.org/officeDocument/2006/relationships/hyperlink" Target="https://www.google.com/search?q=Tremores&amp;oq=lesoes+do+cerebelo&amp;gs_lcrp=EgZjaHJvbWUyBggAEEUYOTIJCAEQABgNGIAEMgcIAhAAGO8FMgcIAxAAGO8FMgoIBBAAGIAEGKIE0gEINDg4MWowajeoAgCwAgA&amp;sourceid=chrome&amp;ie=UTF-8&amp;ved=2ahUKEwiBtOTs-JqTAxV8KrkGHfc1Da4QgK4QegYIAQgBEAE" TargetMode="External"/><Relationship Id="rId4" Type="http://schemas.openxmlformats.org/officeDocument/2006/relationships/hyperlink" Target="https://www.google.com/search?q=Disdiadococinesia&amp;oq=lesoes+do+cerebelo&amp;gs_lcrp=EgZjaHJvbWUyBggAEEUYOTIJCAEQABgNGIAEMgcIAhAAGO8FMgcIAxAAGO8FMgoIBBAAGIAEGKIE0gEINDg4MWowajeoAgCwAgA&amp;sourceid=chrome&amp;ie=UTF-8&amp;ved=2ahUKEwiBtOTs-JqTAxV8KrkGHfc1Da4QgK4QegYIAQgAEA4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Anatomia do Sistema Nervoso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994363"/>
            <a:ext cx="9144000" cy="1655762"/>
          </a:xfrm>
        </p:spPr>
        <p:txBody>
          <a:bodyPr/>
          <a:lstStyle/>
          <a:p>
            <a:r>
              <a:rPr lang="pt-BR" dirty="0"/>
              <a:t>Tronco encefálico e Nervos cranianos</a:t>
            </a:r>
          </a:p>
          <a:p>
            <a:r>
              <a:rPr lang="pt-BR" dirty="0"/>
              <a:t>Cerebelo</a:t>
            </a:r>
            <a:endParaRPr lang="en-US" dirty="0"/>
          </a:p>
        </p:txBody>
      </p:sp>
      <p:sp>
        <p:nvSpPr>
          <p:cNvPr id="4" name="Retângulo 3"/>
          <p:cNvSpPr/>
          <p:nvPr/>
        </p:nvSpPr>
        <p:spPr>
          <a:xfrm>
            <a:off x="0" y="436730"/>
            <a:ext cx="12192000" cy="60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5" name="Retângulo 4"/>
          <p:cNvSpPr/>
          <p:nvPr/>
        </p:nvSpPr>
        <p:spPr>
          <a:xfrm>
            <a:off x="0" y="5404467"/>
            <a:ext cx="12192000" cy="60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2526384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839" y="-34117"/>
            <a:ext cx="5513694" cy="6892119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313899" y="532263"/>
            <a:ext cx="3548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Sistema Nervoso Central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72192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022" y="2"/>
            <a:ext cx="91562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04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528550" y="1173707"/>
            <a:ext cx="872091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Cerebelo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 </a:t>
            </a:r>
            <a:r>
              <a:rPr lang="pt-BR" sz="2000" b="1" dirty="0"/>
              <a:t>cerebelo</a:t>
            </a:r>
            <a:r>
              <a:rPr lang="pt-BR" sz="2000" dirty="0"/>
              <a:t> é a parte do encéfalo responsável pela manutenção do equilíbrio, pelo controlo do tónus muscular, dos movimentos involuntários e aprendizagem motora. Dependemos do </a:t>
            </a:r>
            <a:r>
              <a:rPr lang="pt-BR" sz="2000" b="1" dirty="0"/>
              <a:t>cerebelo</a:t>
            </a:r>
            <a:r>
              <a:rPr lang="pt-BR" sz="2000" dirty="0"/>
              <a:t> para andar, correr, saltar, andar de bicicleta, entre outras atividades.</a:t>
            </a:r>
          </a:p>
          <a:p>
            <a:pPr algn="just"/>
            <a:endParaRPr lang="pt-BR" sz="2000" dirty="0"/>
          </a:p>
          <a:p>
            <a:pPr algn="just"/>
            <a:r>
              <a:rPr lang="pt-BR" sz="1400" dirty="0" err="1"/>
              <a:t>Guyton</a:t>
            </a:r>
            <a:r>
              <a:rPr lang="pt-BR" sz="1400" dirty="0"/>
              <a:t> 1992. Fisiologia Humana. 5ª. Ed</a:t>
            </a:r>
            <a:endParaRPr lang="en-US" sz="14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572" y="3357350"/>
            <a:ext cx="5468208" cy="310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023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23" y="177927"/>
            <a:ext cx="3434298" cy="2500169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967" y="177927"/>
            <a:ext cx="6428095" cy="6415056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87" y="2975210"/>
            <a:ext cx="3879719" cy="296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44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601200A-774C-5EB8-3E9A-29DAB67F60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17" t="20000" r="29534" b="5588"/>
          <a:stretch/>
        </p:blipFill>
        <p:spPr>
          <a:xfrm>
            <a:off x="1243014" y="40954"/>
            <a:ext cx="9015412" cy="676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41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80" y="152400"/>
            <a:ext cx="10058400" cy="6705600"/>
          </a:xfrm>
          <a:prstGeom prst="rect">
            <a:avLst/>
          </a:prstGeom>
        </p:spPr>
      </p:pic>
      <p:pic>
        <p:nvPicPr>
          <p:cNvPr id="4" name="Picture 4" descr="http://anatpat.unicamp.br/Dsc44412++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325134" y="152399"/>
            <a:ext cx="3546113" cy="255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75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3B2EB1B-7202-D8FD-3148-7A6CFF737D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15" t="8824" r="28247" b="10000"/>
          <a:stretch/>
        </p:blipFill>
        <p:spPr>
          <a:xfrm>
            <a:off x="1285875" y="41639"/>
            <a:ext cx="8643937" cy="681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9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anatpat.unicamp.br/Dsc44975aa++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448" y="245660"/>
            <a:ext cx="7792872" cy="620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735009" y="6581001"/>
            <a:ext cx="36781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Fonte</a:t>
            </a:r>
            <a:r>
              <a:rPr lang="en-US" sz="1200" dirty="0"/>
              <a:t>: http://anatpat.unicamp.br/bineucerebroext.html</a:t>
            </a:r>
          </a:p>
        </p:txBody>
      </p:sp>
    </p:spTree>
    <p:extLst>
      <p:ext uri="{BB962C8B-B14F-4D97-AF65-F5344CB8AC3E}">
        <p14:creationId xmlns:p14="http://schemas.microsoft.com/office/powerpoint/2010/main" val="2800108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anatpat.unicamp.br/Dsc15491++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82" y="101148"/>
            <a:ext cx="5780704" cy="481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anatpat.unicamp.br/Dsc44412++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642" y="2257495"/>
            <a:ext cx="6215358" cy="448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408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anatpat.unicamp.br/Dsc15491+++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86" y="259307"/>
            <a:ext cx="10159320" cy="601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735009" y="6581001"/>
            <a:ext cx="36781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Fonte</a:t>
            </a:r>
            <a:r>
              <a:rPr lang="en-US" sz="1200" dirty="0"/>
              <a:t>: http://anatpat.unicamp.br/bineucerebroext.html</a:t>
            </a:r>
          </a:p>
        </p:txBody>
      </p:sp>
    </p:spTree>
    <p:extLst>
      <p:ext uri="{BB962C8B-B14F-4D97-AF65-F5344CB8AC3E}">
        <p14:creationId xmlns:p14="http://schemas.microsoft.com/office/powerpoint/2010/main" val="1242098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314" y="2579427"/>
            <a:ext cx="4826165" cy="4094329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21" y="0"/>
            <a:ext cx="7863346" cy="433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835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85DA1A8-0DD2-FA9F-8D0A-B7358E8644E7}"/>
              </a:ext>
            </a:extLst>
          </p:cNvPr>
          <p:cNvSpPr txBox="1"/>
          <p:nvPr/>
        </p:nvSpPr>
        <p:spPr>
          <a:xfrm>
            <a:off x="1393372" y="1055915"/>
            <a:ext cx="8839200" cy="4481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pt-BR" sz="1800" b="1" strike="noStrike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Ataxia Cerebelar</a:t>
            </a: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Marcha instável com base alargada, desequilíbrio e quedas frequentes.</a:t>
            </a:r>
          </a:p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pt-B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pt-BR" sz="1800" b="1" strike="noStrike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Dismetria</a:t>
            </a: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Incapacidade de avaliar distâncias, resultando em erros ao tentar alcançar objetos.</a:t>
            </a:r>
          </a:p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pt-B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pt-BR" sz="1800" b="1" strike="noStrike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Disdiadococinesia</a:t>
            </a:r>
            <a:r>
              <a:rPr lang="pt-BR" b="1" strike="noStrike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Dificuldade em realizar movimentos alternados rápidos (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girar a mão)</a:t>
            </a:r>
          </a:p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pt-B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pt-BR" sz="1800" b="1" strike="noStrike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Tremores</a:t>
            </a: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Tremores de ação ou intenção, que pioram ao realizar movimentos.</a:t>
            </a:r>
            <a:endParaRPr lang="pt-B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pt-BR" sz="1800" b="1" strike="noStrike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pt-BR" sz="1800" b="1" strike="noStrike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Disartria</a:t>
            </a: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Fala lenta, arrastada ou "escandida" (silabada).</a:t>
            </a:r>
            <a:endParaRPr lang="pt-B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pt-BR" sz="1800" b="1" strike="noStrike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42900" lvl="0" indent="-342900">
              <a:lnSpc>
                <a:spcPts val="1800"/>
              </a:lnSpc>
              <a:spcAft>
                <a:spcPts val="9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pt-BR" sz="1800" b="1" strike="noStrike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Nistagmo</a:t>
            </a: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Movimentos oculares involuntários</a:t>
            </a:r>
            <a:endParaRPr lang="pt-B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113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54"/>
          <a:stretch/>
        </p:blipFill>
        <p:spPr>
          <a:xfrm>
            <a:off x="2906974" y="1406477"/>
            <a:ext cx="5431807" cy="5305101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7642748" y="1263661"/>
            <a:ext cx="2947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Vamos </a:t>
            </a:r>
            <a:r>
              <a:rPr lang="en-US" sz="2400" dirty="0" err="1"/>
              <a:t>descansar</a:t>
            </a:r>
            <a:r>
              <a:rPr lang="en-US" sz="2400" dirty="0"/>
              <a:t>?</a:t>
            </a:r>
          </a:p>
        </p:txBody>
      </p:sp>
      <p:sp>
        <p:nvSpPr>
          <p:cNvPr id="4" name="Texto explicativo em elipse 3"/>
          <p:cNvSpPr/>
          <p:nvPr/>
        </p:nvSpPr>
        <p:spPr>
          <a:xfrm>
            <a:off x="7233314" y="504966"/>
            <a:ext cx="3357350" cy="1760561"/>
          </a:xfrm>
          <a:prstGeom prst="wedgeEllipse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46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022" y="2"/>
            <a:ext cx="91562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446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98" y="1332928"/>
            <a:ext cx="5970956" cy="4481019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1119116" y="177422"/>
            <a:ext cx="2770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Tronco encefálico</a:t>
            </a:r>
            <a:endParaRPr lang="en-US" sz="24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0" r="10337"/>
          <a:stretch/>
        </p:blipFill>
        <p:spPr>
          <a:xfrm>
            <a:off x="6755643" y="1332930"/>
            <a:ext cx="5239822" cy="451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3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524000" y="2"/>
            <a:ext cx="9144000" cy="928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1"/>
          </a:p>
        </p:txBody>
      </p:sp>
      <p:sp>
        <p:nvSpPr>
          <p:cNvPr id="9" name="CaixaDeTexto 8"/>
          <p:cNvSpPr txBox="1"/>
          <p:nvPr/>
        </p:nvSpPr>
        <p:spPr>
          <a:xfrm>
            <a:off x="1524000" y="1071564"/>
            <a:ext cx="8929689" cy="40336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1801" b="1" dirty="0">
                <a:latin typeface="Tahoma" pitchFamily="34" charset="0"/>
                <a:cs typeface="Tahoma" pitchFamily="34" charset="0"/>
              </a:rPr>
              <a:t>Sistema nervoso central (SNC)</a:t>
            </a:r>
          </a:p>
          <a:p>
            <a:pPr marL="342904" indent="-342904" algn="just">
              <a:defRPr/>
            </a:pPr>
            <a:endParaRPr lang="pt-BR" sz="1801" b="1" dirty="0">
              <a:latin typeface="Tahoma" pitchFamily="34" charset="0"/>
              <a:cs typeface="Tahoma" pitchFamily="34" charset="0"/>
            </a:endParaRPr>
          </a:p>
          <a:p>
            <a:pPr marL="342904" indent="-342904" algn="just">
              <a:defRPr/>
            </a:pPr>
            <a:r>
              <a:rPr lang="pt-BR" sz="1801" b="1" dirty="0">
                <a:cs typeface="Tahoma" pitchFamily="34" charset="0"/>
              </a:rPr>
              <a:t>	Tronco encefálico </a:t>
            </a:r>
          </a:p>
          <a:p>
            <a:pPr marL="1257315" lvl="2" indent="-342904" algn="just">
              <a:defRPr/>
            </a:pPr>
            <a:r>
              <a:rPr lang="pt-BR" sz="1801" dirty="0">
                <a:cs typeface="Tahoma" pitchFamily="34" charset="0"/>
              </a:rPr>
              <a:t>3 divisões:</a:t>
            </a:r>
          </a:p>
          <a:p>
            <a:pPr marL="1257315" lvl="2" indent="-342904" algn="just">
              <a:buFont typeface="Wingdings" pitchFamily="2" charset="2"/>
              <a:buChar char="§"/>
              <a:defRPr/>
            </a:pPr>
            <a:r>
              <a:rPr lang="pt-BR" sz="1801" dirty="0">
                <a:cs typeface="Tahoma" pitchFamily="34" charset="0"/>
              </a:rPr>
              <a:t>Mesencéfalo</a:t>
            </a:r>
          </a:p>
          <a:p>
            <a:pPr marL="1257315" lvl="2" indent="-342904" algn="just">
              <a:buFont typeface="Wingdings" pitchFamily="2" charset="2"/>
              <a:buChar char="§"/>
              <a:defRPr/>
            </a:pPr>
            <a:r>
              <a:rPr lang="pt-BR" sz="1801" dirty="0">
                <a:cs typeface="Tahoma" pitchFamily="34" charset="0"/>
              </a:rPr>
              <a:t>Ponte</a:t>
            </a:r>
          </a:p>
          <a:p>
            <a:pPr marL="1257315" lvl="2" indent="-342904" algn="just">
              <a:buFont typeface="Wingdings" pitchFamily="2" charset="2"/>
              <a:buChar char="§"/>
              <a:defRPr/>
            </a:pPr>
            <a:r>
              <a:rPr lang="pt-BR" sz="1801" dirty="0">
                <a:cs typeface="Tahoma" pitchFamily="34" charset="0"/>
              </a:rPr>
              <a:t>Bulbo</a:t>
            </a:r>
          </a:p>
          <a:p>
            <a:pPr marL="342904" indent="-342904" algn="just">
              <a:buFontTx/>
              <a:buAutoNum type="arabicParenR"/>
              <a:defRPr/>
            </a:pPr>
            <a:endParaRPr lang="pt-BR" sz="8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4" indent="-342904" algn="just">
              <a:defRPr/>
            </a:pPr>
            <a:r>
              <a:rPr lang="pt-BR" sz="1801" dirty="0">
                <a:cs typeface="Tahoma" pitchFamily="34" charset="0"/>
              </a:rPr>
              <a:t>	</a:t>
            </a:r>
          </a:p>
          <a:p>
            <a:pPr marL="342904" indent="-342904" algn="just">
              <a:defRPr/>
            </a:pPr>
            <a:r>
              <a:rPr lang="pt-BR" sz="1401" dirty="0">
                <a:cs typeface="Tahoma" pitchFamily="34" charset="0"/>
              </a:rPr>
              <a:t>	</a:t>
            </a:r>
            <a:endParaRPr lang="pt-BR" sz="1401" dirty="0">
              <a:solidFill>
                <a:schemeClr val="tx2">
                  <a:lumMod val="50000"/>
                </a:schemeClr>
              </a:solidFill>
              <a:cs typeface="Tahoma" pitchFamily="34" charset="0"/>
            </a:endParaRPr>
          </a:p>
          <a:p>
            <a:pPr marL="342904" indent="-342904" algn="just">
              <a:defRPr/>
            </a:pPr>
            <a:endParaRPr lang="pt-BR" sz="1801" dirty="0">
              <a:cs typeface="Tahoma" pitchFamily="34" charset="0"/>
            </a:endParaRPr>
          </a:p>
          <a:p>
            <a:pPr marL="342904" indent="-342904" algn="just">
              <a:defRPr/>
            </a:pPr>
            <a:endParaRPr lang="pt-BR" sz="1801" dirty="0">
              <a:cs typeface="Tahoma" pitchFamily="34" charset="0"/>
            </a:endParaRPr>
          </a:p>
          <a:p>
            <a:pPr marL="800110" lvl="1" indent="-342904" algn="just">
              <a:defRPr/>
            </a:pPr>
            <a:endParaRPr lang="pt-BR" sz="1801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1801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1801" dirty="0">
              <a:cs typeface="Tahoma" pitchFamily="34" charset="0"/>
            </a:endParaRPr>
          </a:p>
        </p:txBody>
      </p:sp>
      <p:pic>
        <p:nvPicPr>
          <p:cNvPr id="25605" name="Imagem 6" descr="cerebro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666" y="1529946"/>
            <a:ext cx="5969733" cy="4887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CaixaDeTexto 7"/>
          <p:cNvSpPr txBox="1">
            <a:spLocks noChangeArrowheads="1"/>
          </p:cNvSpPr>
          <p:nvPr/>
        </p:nvSpPr>
        <p:spPr bwMode="auto">
          <a:xfrm>
            <a:off x="4524377" y="5643563"/>
            <a:ext cx="1071563" cy="36946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1"/>
          </a:p>
        </p:txBody>
      </p:sp>
      <p:sp>
        <p:nvSpPr>
          <p:cNvPr id="25607" name="CaixaDeTexto 10"/>
          <p:cNvSpPr txBox="1">
            <a:spLocks noChangeArrowheads="1"/>
          </p:cNvSpPr>
          <p:nvPr/>
        </p:nvSpPr>
        <p:spPr bwMode="auto">
          <a:xfrm>
            <a:off x="2809875" y="5643564"/>
            <a:ext cx="1785938" cy="369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1" b="1">
                <a:solidFill>
                  <a:srgbClr val="0000FF"/>
                </a:solidFill>
              </a:rPr>
              <a:t>Mesencéfalo</a:t>
            </a:r>
          </a:p>
        </p:txBody>
      </p:sp>
      <p:cxnSp>
        <p:nvCxnSpPr>
          <p:cNvPr id="14" name="Conector reto 13"/>
          <p:cNvCxnSpPr/>
          <p:nvPr/>
        </p:nvCxnSpPr>
        <p:spPr>
          <a:xfrm flipH="1">
            <a:off x="4162567" y="4490113"/>
            <a:ext cx="2711310" cy="1054229"/>
          </a:xfrm>
          <a:prstGeom prst="line">
            <a:avLst/>
          </a:prstGeom>
          <a:ln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609" name="CaixaDeTexto 14"/>
          <p:cNvSpPr txBox="1">
            <a:spLocks noChangeArrowheads="1"/>
          </p:cNvSpPr>
          <p:nvPr/>
        </p:nvSpPr>
        <p:spPr bwMode="auto">
          <a:xfrm>
            <a:off x="3595689" y="5929315"/>
            <a:ext cx="1785938" cy="369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1" b="1">
                <a:solidFill>
                  <a:srgbClr val="0000FF"/>
                </a:solidFill>
              </a:rPr>
              <a:t>Ponte</a:t>
            </a:r>
          </a:p>
        </p:txBody>
      </p:sp>
      <p:sp>
        <p:nvSpPr>
          <p:cNvPr id="25610" name="CaixaDeTexto 15"/>
          <p:cNvSpPr txBox="1">
            <a:spLocks noChangeArrowheads="1"/>
          </p:cNvSpPr>
          <p:nvPr/>
        </p:nvSpPr>
        <p:spPr bwMode="auto">
          <a:xfrm>
            <a:off x="4024315" y="6286500"/>
            <a:ext cx="1785938" cy="369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1" b="1">
                <a:solidFill>
                  <a:srgbClr val="0000FF"/>
                </a:solidFill>
              </a:rPr>
              <a:t>Bulbo</a:t>
            </a:r>
          </a:p>
        </p:txBody>
      </p:sp>
      <p:cxnSp>
        <p:nvCxnSpPr>
          <p:cNvPr id="18" name="Conector reto 17"/>
          <p:cNvCxnSpPr/>
          <p:nvPr/>
        </p:nvCxnSpPr>
        <p:spPr>
          <a:xfrm flipH="1">
            <a:off x="4810127" y="5322500"/>
            <a:ext cx="2087849" cy="749689"/>
          </a:xfrm>
          <a:prstGeom prst="line">
            <a:avLst/>
          </a:prstGeom>
          <a:ln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 flipH="1">
            <a:off x="5310190" y="5758655"/>
            <a:ext cx="1861340" cy="647701"/>
          </a:xfrm>
          <a:prstGeom prst="line">
            <a:avLst/>
          </a:prstGeom>
          <a:ln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tângulo de cantos arredondados 9"/>
          <p:cNvSpPr/>
          <p:nvPr/>
        </p:nvSpPr>
        <p:spPr>
          <a:xfrm>
            <a:off x="5381626" y="5212559"/>
            <a:ext cx="1242404" cy="22422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1137602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119116" y="177422"/>
            <a:ext cx="2770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Tronco encefálico</a:t>
            </a:r>
            <a:endParaRPr lang="en-US" sz="24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774" y="639088"/>
            <a:ext cx="9837068" cy="5840759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3520359" y="6444107"/>
            <a:ext cx="36781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Fonte</a:t>
            </a:r>
            <a:r>
              <a:rPr lang="en-US" sz="1200" dirty="0"/>
              <a:t>: http://anatpat.unicamp.br/bineucerebroext.html</a:t>
            </a:r>
          </a:p>
        </p:txBody>
      </p:sp>
    </p:spTree>
    <p:extLst>
      <p:ext uri="{BB962C8B-B14F-4D97-AF65-F5344CB8AC3E}">
        <p14:creationId xmlns:p14="http://schemas.microsoft.com/office/powerpoint/2010/main" val="679983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119116" y="177422"/>
            <a:ext cx="2770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Tronco encefálico</a:t>
            </a:r>
            <a:endParaRPr lang="en-US" sz="24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530" y="836536"/>
            <a:ext cx="7878622" cy="5332252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3520359" y="6362219"/>
            <a:ext cx="36781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Fonte</a:t>
            </a:r>
            <a:r>
              <a:rPr lang="en-US" sz="1200" dirty="0"/>
              <a:t>: http://anatpat.unicamp.br/bineucerebroext.html</a:t>
            </a:r>
          </a:p>
        </p:txBody>
      </p:sp>
    </p:spTree>
    <p:extLst>
      <p:ext uri="{BB962C8B-B14F-4D97-AF65-F5344CB8AC3E}">
        <p14:creationId xmlns:p14="http://schemas.microsoft.com/office/powerpoint/2010/main" val="1064317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262872A-03EB-22D5-BB68-2D906CBCF0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21" t="48235" r="39031" b="7059"/>
          <a:stretch/>
        </p:blipFill>
        <p:spPr>
          <a:xfrm>
            <a:off x="1077686" y="410349"/>
            <a:ext cx="9405258" cy="62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0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01E5D-C95C-DA0D-6D7E-2FF3A1D46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4530624-DD93-0C16-C2D3-C15B994202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68" t="9412" r="41406" b="50295"/>
          <a:stretch/>
        </p:blipFill>
        <p:spPr>
          <a:xfrm>
            <a:off x="1138235" y="521497"/>
            <a:ext cx="9915529" cy="618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648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6507E37-C734-3576-16AC-F1DF9FF55B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40" t="10294" r="36703" b="10000"/>
          <a:stretch/>
        </p:blipFill>
        <p:spPr>
          <a:xfrm>
            <a:off x="3629026" y="0"/>
            <a:ext cx="6157912" cy="667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73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676" y="235862"/>
            <a:ext cx="9007522" cy="609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606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929689" cy="40336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1801" b="1" dirty="0">
                <a:latin typeface="Tahoma" pitchFamily="34" charset="0"/>
                <a:cs typeface="Tahoma" pitchFamily="34" charset="0"/>
              </a:rPr>
              <a:t>Sistema nervoso central (SNC)</a:t>
            </a:r>
          </a:p>
          <a:p>
            <a:pPr marL="342904" indent="-342904" algn="just">
              <a:defRPr/>
            </a:pPr>
            <a:endParaRPr lang="pt-BR" sz="1801" b="1" dirty="0">
              <a:latin typeface="Tahoma" pitchFamily="34" charset="0"/>
              <a:cs typeface="Tahoma" pitchFamily="34" charset="0"/>
            </a:endParaRPr>
          </a:p>
          <a:p>
            <a:pPr marL="342904" indent="-342904" algn="just">
              <a:defRPr/>
            </a:pPr>
            <a:r>
              <a:rPr lang="pt-BR" sz="1801" b="1" dirty="0">
                <a:cs typeface="Tahoma" pitchFamily="34" charset="0"/>
              </a:rPr>
              <a:t>	Tronco encefálico </a:t>
            </a:r>
            <a:endParaRPr lang="pt-BR" sz="1801" dirty="0">
              <a:cs typeface="Tahoma" pitchFamily="34" charset="0"/>
            </a:endParaRPr>
          </a:p>
          <a:p>
            <a:pPr marL="1257315" lvl="2" indent="-342904" algn="just">
              <a:buFont typeface="Wingdings" pitchFamily="2" charset="2"/>
              <a:buChar char="§"/>
              <a:defRPr/>
            </a:pPr>
            <a:r>
              <a:rPr lang="pt-BR" sz="1801" b="1" dirty="0">
                <a:cs typeface="Tahoma" pitchFamily="34" charset="0"/>
              </a:rPr>
              <a:t>Mesencéfalo</a:t>
            </a:r>
          </a:p>
          <a:p>
            <a:pPr marL="1714521" lvl="3" indent="-342904" algn="just">
              <a:buFont typeface="Courier New" pitchFamily="49" charset="0"/>
              <a:buChar char="o"/>
              <a:defRPr/>
            </a:pPr>
            <a:r>
              <a:rPr lang="pt-BR" sz="1801" dirty="0">
                <a:cs typeface="Tahoma" pitchFamily="34" charset="0"/>
              </a:rPr>
              <a:t>Recepção e coordenação da contração muscular</a:t>
            </a:r>
          </a:p>
          <a:p>
            <a:pPr marL="1714521" lvl="3" indent="-342904" algn="just">
              <a:buFont typeface="Courier New" pitchFamily="49" charset="0"/>
              <a:buChar char="o"/>
              <a:defRPr/>
            </a:pPr>
            <a:r>
              <a:rPr lang="pt-BR" sz="1801" dirty="0">
                <a:cs typeface="Tahoma" pitchFamily="34" charset="0"/>
              </a:rPr>
              <a:t>Postura corporal</a:t>
            </a:r>
          </a:p>
          <a:p>
            <a:pPr marL="1714521" lvl="3" indent="-342904" algn="just">
              <a:buFont typeface="Courier New" pitchFamily="49" charset="0"/>
              <a:buChar char="o"/>
              <a:defRPr/>
            </a:pPr>
            <a:endParaRPr lang="pt-BR" sz="1801" dirty="0">
              <a:cs typeface="Tahoma" pitchFamily="34" charset="0"/>
            </a:endParaRPr>
          </a:p>
          <a:p>
            <a:pPr marL="342904" indent="-342904" algn="just">
              <a:buFontTx/>
              <a:buAutoNum type="arabicParenR"/>
              <a:defRPr/>
            </a:pPr>
            <a:endParaRPr lang="pt-BR" sz="8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4" indent="-342904" algn="just">
              <a:defRPr/>
            </a:pPr>
            <a:r>
              <a:rPr lang="pt-BR" sz="1801" dirty="0">
                <a:cs typeface="Tahoma" pitchFamily="34" charset="0"/>
              </a:rPr>
              <a:t>	</a:t>
            </a:r>
          </a:p>
          <a:p>
            <a:pPr marL="342904" indent="-342904" algn="just">
              <a:defRPr/>
            </a:pPr>
            <a:r>
              <a:rPr lang="pt-BR" sz="1401" dirty="0">
                <a:cs typeface="Tahoma" pitchFamily="34" charset="0"/>
              </a:rPr>
              <a:t>	</a:t>
            </a:r>
            <a:endParaRPr lang="pt-BR" sz="1401" dirty="0">
              <a:solidFill>
                <a:schemeClr val="tx2">
                  <a:lumMod val="50000"/>
                </a:schemeClr>
              </a:solidFill>
              <a:cs typeface="Tahoma" pitchFamily="34" charset="0"/>
            </a:endParaRPr>
          </a:p>
          <a:p>
            <a:pPr marL="342904" indent="-342904" algn="just">
              <a:defRPr/>
            </a:pPr>
            <a:endParaRPr lang="pt-BR" sz="1801" dirty="0">
              <a:cs typeface="Tahoma" pitchFamily="34" charset="0"/>
            </a:endParaRPr>
          </a:p>
          <a:p>
            <a:pPr marL="342904" indent="-342904" algn="just">
              <a:defRPr/>
            </a:pPr>
            <a:endParaRPr lang="pt-BR" sz="1801" dirty="0">
              <a:cs typeface="Tahoma" pitchFamily="34" charset="0"/>
            </a:endParaRPr>
          </a:p>
          <a:p>
            <a:pPr marL="800110" lvl="1" indent="-342904" algn="just">
              <a:defRPr/>
            </a:pPr>
            <a:endParaRPr lang="pt-BR" sz="1801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1801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1801" dirty="0">
              <a:cs typeface="Tahoma" pitchFamily="34" charset="0"/>
            </a:endParaRPr>
          </a:p>
        </p:txBody>
      </p:sp>
      <p:pic>
        <p:nvPicPr>
          <p:cNvPr id="27653" name="Imagem 6" descr="cerebro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063" y="3071812"/>
            <a:ext cx="4343401" cy="35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CaixaDeTexto 7"/>
          <p:cNvSpPr txBox="1">
            <a:spLocks noChangeArrowheads="1"/>
          </p:cNvSpPr>
          <p:nvPr/>
        </p:nvSpPr>
        <p:spPr bwMode="auto">
          <a:xfrm>
            <a:off x="4524377" y="5643563"/>
            <a:ext cx="1071563" cy="36946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1"/>
          </a:p>
        </p:txBody>
      </p:sp>
      <p:sp>
        <p:nvSpPr>
          <p:cNvPr id="27655" name="CaixaDeTexto 10"/>
          <p:cNvSpPr txBox="1">
            <a:spLocks noChangeArrowheads="1"/>
          </p:cNvSpPr>
          <p:nvPr/>
        </p:nvSpPr>
        <p:spPr bwMode="auto">
          <a:xfrm>
            <a:off x="2809875" y="5643564"/>
            <a:ext cx="1785938" cy="369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1" b="1">
                <a:solidFill>
                  <a:srgbClr val="0000FF"/>
                </a:solidFill>
              </a:rPr>
              <a:t>Mesencéfalo</a:t>
            </a:r>
          </a:p>
        </p:txBody>
      </p:sp>
      <p:cxnSp>
        <p:nvCxnSpPr>
          <p:cNvPr id="14" name="Conector reto 13"/>
          <p:cNvCxnSpPr/>
          <p:nvPr/>
        </p:nvCxnSpPr>
        <p:spPr>
          <a:xfrm rot="10800000" flipV="1">
            <a:off x="4381501" y="5143500"/>
            <a:ext cx="1500188" cy="642939"/>
          </a:xfrm>
          <a:prstGeom prst="line">
            <a:avLst/>
          </a:prstGeom>
          <a:ln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363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929689" cy="40336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1801" b="1" dirty="0">
                <a:latin typeface="Tahoma" pitchFamily="34" charset="0"/>
                <a:cs typeface="Tahoma" pitchFamily="34" charset="0"/>
              </a:rPr>
              <a:t>Sistema nervoso central (SNC)</a:t>
            </a:r>
          </a:p>
          <a:p>
            <a:pPr marL="342904" indent="-342904" algn="just">
              <a:defRPr/>
            </a:pPr>
            <a:endParaRPr lang="pt-BR" sz="1801" b="1" dirty="0">
              <a:latin typeface="Tahoma" pitchFamily="34" charset="0"/>
              <a:cs typeface="Tahoma" pitchFamily="34" charset="0"/>
            </a:endParaRPr>
          </a:p>
          <a:p>
            <a:pPr marL="342904" indent="-342904" algn="just">
              <a:defRPr/>
            </a:pPr>
            <a:r>
              <a:rPr lang="pt-BR" sz="1801" b="1" dirty="0">
                <a:cs typeface="Tahoma" pitchFamily="34" charset="0"/>
              </a:rPr>
              <a:t>	  Tronco encefálico </a:t>
            </a:r>
            <a:endParaRPr lang="pt-BR" sz="1801" dirty="0">
              <a:cs typeface="Tahoma" pitchFamily="34" charset="0"/>
            </a:endParaRPr>
          </a:p>
          <a:p>
            <a:pPr marL="1257315" lvl="2" indent="-342904" algn="just">
              <a:buFont typeface="Wingdings" pitchFamily="2" charset="2"/>
              <a:buChar char="§"/>
              <a:defRPr/>
            </a:pPr>
            <a:r>
              <a:rPr lang="pt-BR" sz="1801" b="1" dirty="0">
                <a:cs typeface="Tahoma" pitchFamily="34" charset="0"/>
              </a:rPr>
              <a:t>Ponte</a:t>
            </a:r>
          </a:p>
          <a:p>
            <a:pPr marL="1714521" lvl="3" indent="-342904" algn="just">
              <a:buFont typeface="Courier New" pitchFamily="49" charset="0"/>
              <a:buChar char="o"/>
              <a:defRPr/>
            </a:pPr>
            <a:r>
              <a:rPr lang="pt-BR" sz="1801" dirty="0">
                <a:cs typeface="Tahoma" pitchFamily="34" charset="0"/>
              </a:rPr>
              <a:t>Manutenção da postura corporal, equilíbrio do corpo e tônus muscular.</a:t>
            </a:r>
          </a:p>
          <a:p>
            <a:pPr marL="1714521" lvl="3" indent="-342904" algn="just">
              <a:buFont typeface="Courier New" pitchFamily="49" charset="0"/>
              <a:buChar char="o"/>
              <a:defRPr/>
            </a:pPr>
            <a:endParaRPr lang="pt-BR" sz="1801" dirty="0">
              <a:cs typeface="Tahoma" pitchFamily="34" charset="0"/>
            </a:endParaRPr>
          </a:p>
          <a:p>
            <a:pPr marL="1714521" lvl="3" indent="-342904" algn="just">
              <a:buFont typeface="Courier New" pitchFamily="49" charset="0"/>
              <a:buChar char="o"/>
              <a:defRPr/>
            </a:pPr>
            <a:endParaRPr lang="pt-BR" sz="1801" dirty="0">
              <a:cs typeface="Tahoma" pitchFamily="34" charset="0"/>
            </a:endParaRPr>
          </a:p>
          <a:p>
            <a:pPr marL="342904" indent="-342904" algn="just">
              <a:buFontTx/>
              <a:buAutoNum type="arabicParenR"/>
              <a:defRPr/>
            </a:pPr>
            <a:endParaRPr lang="pt-BR" sz="8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4" indent="-342904" algn="just">
              <a:defRPr/>
            </a:pPr>
            <a:r>
              <a:rPr lang="pt-BR" sz="1801" dirty="0">
                <a:cs typeface="Tahoma" pitchFamily="34" charset="0"/>
              </a:rPr>
              <a:t>	</a:t>
            </a:r>
          </a:p>
          <a:p>
            <a:pPr marL="342904" indent="-342904" algn="just">
              <a:defRPr/>
            </a:pPr>
            <a:r>
              <a:rPr lang="pt-BR" sz="1401" dirty="0">
                <a:cs typeface="Tahoma" pitchFamily="34" charset="0"/>
              </a:rPr>
              <a:t>	</a:t>
            </a:r>
            <a:endParaRPr lang="pt-BR" sz="1401" dirty="0">
              <a:solidFill>
                <a:schemeClr val="tx2">
                  <a:lumMod val="50000"/>
                </a:schemeClr>
              </a:solidFill>
              <a:cs typeface="Tahoma" pitchFamily="34" charset="0"/>
            </a:endParaRPr>
          </a:p>
          <a:p>
            <a:pPr marL="342904" indent="-342904" algn="just">
              <a:defRPr/>
            </a:pPr>
            <a:endParaRPr lang="pt-BR" sz="1801" dirty="0">
              <a:cs typeface="Tahoma" pitchFamily="34" charset="0"/>
            </a:endParaRPr>
          </a:p>
          <a:p>
            <a:pPr marL="342904" indent="-342904" algn="just">
              <a:defRPr/>
            </a:pPr>
            <a:endParaRPr lang="pt-BR" sz="1801" dirty="0">
              <a:cs typeface="Tahoma" pitchFamily="34" charset="0"/>
            </a:endParaRPr>
          </a:p>
          <a:p>
            <a:pPr marL="800110" lvl="1" indent="-342904" algn="just">
              <a:defRPr/>
            </a:pPr>
            <a:endParaRPr lang="pt-BR" sz="1801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1801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1801" dirty="0">
              <a:cs typeface="Tahoma" pitchFamily="34" charset="0"/>
            </a:endParaRPr>
          </a:p>
        </p:txBody>
      </p:sp>
      <p:pic>
        <p:nvPicPr>
          <p:cNvPr id="29701" name="Imagem 6" descr="cerebro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063" y="3071812"/>
            <a:ext cx="4343401" cy="35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CaixaDeTexto 7"/>
          <p:cNvSpPr txBox="1">
            <a:spLocks noChangeArrowheads="1"/>
          </p:cNvSpPr>
          <p:nvPr/>
        </p:nvSpPr>
        <p:spPr bwMode="auto">
          <a:xfrm>
            <a:off x="4524377" y="5643563"/>
            <a:ext cx="1071563" cy="36946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1"/>
          </a:p>
        </p:txBody>
      </p:sp>
      <p:sp>
        <p:nvSpPr>
          <p:cNvPr id="29703" name="CaixaDeTexto 9"/>
          <p:cNvSpPr txBox="1">
            <a:spLocks noChangeArrowheads="1"/>
          </p:cNvSpPr>
          <p:nvPr/>
        </p:nvSpPr>
        <p:spPr bwMode="auto">
          <a:xfrm>
            <a:off x="4024315" y="5929315"/>
            <a:ext cx="1785938" cy="369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1" b="1">
                <a:solidFill>
                  <a:srgbClr val="0000FF"/>
                </a:solidFill>
              </a:rPr>
              <a:t>Ponte</a:t>
            </a:r>
          </a:p>
        </p:txBody>
      </p:sp>
      <p:cxnSp>
        <p:nvCxnSpPr>
          <p:cNvPr id="13" name="Conector reto 12"/>
          <p:cNvCxnSpPr/>
          <p:nvPr/>
        </p:nvCxnSpPr>
        <p:spPr>
          <a:xfrm rot="10800000" flipV="1">
            <a:off x="4810126" y="5643563"/>
            <a:ext cx="1000124" cy="428626"/>
          </a:xfrm>
          <a:prstGeom prst="line">
            <a:avLst/>
          </a:prstGeom>
          <a:ln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394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929689" cy="458792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1801" b="1" dirty="0">
                <a:latin typeface="Tahoma" pitchFamily="34" charset="0"/>
                <a:cs typeface="Tahoma" pitchFamily="34" charset="0"/>
              </a:rPr>
              <a:t>Sistema nervoso central (SNC)</a:t>
            </a:r>
          </a:p>
          <a:p>
            <a:pPr marL="342904" indent="-342904" algn="just">
              <a:defRPr/>
            </a:pPr>
            <a:endParaRPr lang="pt-BR" sz="1801" b="1" dirty="0">
              <a:latin typeface="Tahoma" pitchFamily="34" charset="0"/>
              <a:cs typeface="Tahoma" pitchFamily="34" charset="0"/>
            </a:endParaRPr>
          </a:p>
          <a:p>
            <a:pPr marL="342904" indent="-342904" algn="just">
              <a:defRPr/>
            </a:pPr>
            <a:r>
              <a:rPr lang="pt-BR" sz="1801" b="1" dirty="0">
                <a:cs typeface="Tahoma" pitchFamily="34" charset="0"/>
              </a:rPr>
              <a:t>  Tronco encefálico </a:t>
            </a:r>
            <a:endParaRPr lang="pt-BR" sz="1801" dirty="0">
              <a:cs typeface="Tahoma" pitchFamily="34" charset="0"/>
            </a:endParaRPr>
          </a:p>
          <a:p>
            <a:pPr marL="1257315" lvl="2" indent="-342904" algn="just">
              <a:buFont typeface="Wingdings" pitchFamily="2" charset="2"/>
              <a:buChar char="§"/>
              <a:defRPr/>
            </a:pPr>
            <a:r>
              <a:rPr lang="pt-BR" sz="1801" b="1" dirty="0">
                <a:cs typeface="Tahoma" pitchFamily="34" charset="0"/>
              </a:rPr>
              <a:t>Bulbo</a:t>
            </a:r>
          </a:p>
          <a:p>
            <a:pPr marL="1714521" lvl="3" indent="-342904" algn="just">
              <a:buFont typeface="Courier New" pitchFamily="49" charset="0"/>
              <a:buChar char="o"/>
              <a:defRPr/>
            </a:pPr>
            <a:r>
              <a:rPr lang="pt-BR" sz="1801" dirty="0">
                <a:cs typeface="Tahoma" pitchFamily="34" charset="0"/>
              </a:rPr>
              <a:t>Controle dos batimentos cardíacos</a:t>
            </a:r>
          </a:p>
          <a:p>
            <a:pPr marL="1714521" lvl="3" indent="-342904" algn="just">
              <a:buFont typeface="Courier New" pitchFamily="49" charset="0"/>
              <a:buChar char="o"/>
              <a:defRPr/>
            </a:pPr>
            <a:r>
              <a:rPr lang="pt-BR" sz="1801" dirty="0">
                <a:cs typeface="Tahoma" pitchFamily="34" charset="0"/>
              </a:rPr>
              <a:t>Controle dos movimentos respiratórios</a:t>
            </a:r>
          </a:p>
          <a:p>
            <a:pPr marL="1714521" lvl="3" indent="-342904" algn="just">
              <a:buFont typeface="Courier New" pitchFamily="49" charset="0"/>
              <a:buChar char="o"/>
              <a:defRPr/>
            </a:pPr>
            <a:r>
              <a:rPr lang="pt-BR" sz="1801" dirty="0">
                <a:cs typeface="Tahoma" pitchFamily="34" charset="0"/>
              </a:rPr>
              <a:t>Controle da deglutição (engolir)</a:t>
            </a:r>
          </a:p>
          <a:p>
            <a:pPr marL="1714521" lvl="3" indent="-342904" algn="just">
              <a:buFont typeface="Courier New" pitchFamily="49" charset="0"/>
              <a:buChar char="o"/>
              <a:defRPr/>
            </a:pPr>
            <a:endParaRPr lang="pt-BR" sz="1801" dirty="0">
              <a:cs typeface="Tahoma" pitchFamily="34" charset="0"/>
            </a:endParaRPr>
          </a:p>
          <a:p>
            <a:pPr marL="1714521" lvl="3" indent="-342904" algn="just">
              <a:buFont typeface="Courier New" pitchFamily="49" charset="0"/>
              <a:buChar char="o"/>
              <a:defRPr/>
            </a:pPr>
            <a:endParaRPr lang="pt-BR" sz="1801" dirty="0">
              <a:cs typeface="Tahoma" pitchFamily="34" charset="0"/>
            </a:endParaRPr>
          </a:p>
          <a:p>
            <a:pPr marL="342904" indent="-342904" algn="just">
              <a:buFontTx/>
              <a:buAutoNum type="arabicParenR"/>
              <a:defRPr/>
            </a:pPr>
            <a:endParaRPr lang="pt-BR" sz="8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4" indent="-342904" algn="just">
              <a:defRPr/>
            </a:pPr>
            <a:r>
              <a:rPr lang="pt-BR" sz="1801" dirty="0">
                <a:cs typeface="Tahoma" pitchFamily="34" charset="0"/>
              </a:rPr>
              <a:t>	</a:t>
            </a:r>
          </a:p>
          <a:p>
            <a:pPr marL="342904" indent="-342904" algn="just">
              <a:defRPr/>
            </a:pPr>
            <a:r>
              <a:rPr lang="pt-BR" sz="1401" dirty="0">
                <a:cs typeface="Tahoma" pitchFamily="34" charset="0"/>
              </a:rPr>
              <a:t>	</a:t>
            </a:r>
            <a:endParaRPr lang="pt-BR" sz="1401" dirty="0">
              <a:solidFill>
                <a:schemeClr val="tx2">
                  <a:lumMod val="50000"/>
                </a:schemeClr>
              </a:solidFill>
              <a:cs typeface="Tahoma" pitchFamily="34" charset="0"/>
            </a:endParaRPr>
          </a:p>
          <a:p>
            <a:pPr marL="342904" indent="-342904" algn="just">
              <a:defRPr/>
            </a:pPr>
            <a:endParaRPr lang="pt-BR" sz="1801" dirty="0">
              <a:cs typeface="Tahoma" pitchFamily="34" charset="0"/>
            </a:endParaRPr>
          </a:p>
          <a:p>
            <a:pPr marL="342904" indent="-342904" algn="just">
              <a:defRPr/>
            </a:pPr>
            <a:endParaRPr lang="pt-BR" sz="1801" dirty="0">
              <a:cs typeface="Tahoma" pitchFamily="34" charset="0"/>
            </a:endParaRPr>
          </a:p>
          <a:p>
            <a:pPr marL="800110" lvl="1" indent="-342904" algn="just">
              <a:defRPr/>
            </a:pPr>
            <a:endParaRPr lang="pt-BR" sz="1801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1801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1801" dirty="0">
              <a:cs typeface="Tahoma" pitchFamily="34" charset="0"/>
            </a:endParaRPr>
          </a:p>
        </p:txBody>
      </p:sp>
      <p:pic>
        <p:nvPicPr>
          <p:cNvPr id="31749" name="Imagem 6" descr="cerebro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063" y="3071812"/>
            <a:ext cx="4343401" cy="35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CaixaDeTexto 7"/>
          <p:cNvSpPr txBox="1">
            <a:spLocks noChangeArrowheads="1"/>
          </p:cNvSpPr>
          <p:nvPr/>
        </p:nvSpPr>
        <p:spPr bwMode="auto">
          <a:xfrm>
            <a:off x="4524377" y="5643563"/>
            <a:ext cx="1071563" cy="36946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1"/>
          </a:p>
        </p:txBody>
      </p:sp>
      <p:sp>
        <p:nvSpPr>
          <p:cNvPr id="31751" name="CaixaDeTexto 10"/>
          <p:cNvSpPr txBox="1">
            <a:spLocks noChangeArrowheads="1"/>
          </p:cNvSpPr>
          <p:nvPr/>
        </p:nvSpPr>
        <p:spPr bwMode="auto">
          <a:xfrm>
            <a:off x="4024315" y="6286500"/>
            <a:ext cx="1785938" cy="369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1" b="1">
                <a:solidFill>
                  <a:srgbClr val="0000FF"/>
                </a:solidFill>
              </a:rPr>
              <a:t>Bulbo</a:t>
            </a:r>
          </a:p>
        </p:txBody>
      </p:sp>
      <p:cxnSp>
        <p:nvCxnSpPr>
          <p:cNvPr id="12" name="Conector reto 11"/>
          <p:cNvCxnSpPr/>
          <p:nvPr/>
        </p:nvCxnSpPr>
        <p:spPr>
          <a:xfrm rot="10800000" flipV="1">
            <a:off x="5238751" y="6072189"/>
            <a:ext cx="857250" cy="357188"/>
          </a:xfrm>
          <a:prstGeom prst="line">
            <a:avLst/>
          </a:prstGeom>
          <a:ln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5289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3402D-2E25-A56E-6466-9D83DFBC5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03DD281-C5C1-36B4-5D0D-1F3B1017221C}"/>
              </a:ext>
            </a:extLst>
          </p:cNvPr>
          <p:cNvSpPr txBox="1"/>
          <p:nvPr/>
        </p:nvSpPr>
        <p:spPr>
          <a:xfrm>
            <a:off x="1119116" y="177422"/>
            <a:ext cx="2770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Tronco encefálico</a:t>
            </a:r>
            <a:endParaRPr lang="en-US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E2F3F76-ADA0-03EF-105D-CE68D385F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774" y="639088"/>
            <a:ext cx="9837068" cy="584075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58E2F39-5DF6-2465-4739-A722BDB337F3}"/>
              </a:ext>
            </a:extLst>
          </p:cNvPr>
          <p:cNvSpPr/>
          <p:nvPr/>
        </p:nvSpPr>
        <p:spPr>
          <a:xfrm>
            <a:off x="3520359" y="6444107"/>
            <a:ext cx="36781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err="1"/>
              <a:t>Fonte</a:t>
            </a:r>
            <a:r>
              <a:rPr lang="en-US" sz="1200" dirty="0"/>
              <a:t>: http://anatpat.unicamp.br/bineucerebroext.html</a:t>
            </a:r>
          </a:p>
        </p:txBody>
      </p:sp>
    </p:spTree>
    <p:extLst>
      <p:ext uri="{BB962C8B-B14F-4D97-AF65-F5344CB8AC3E}">
        <p14:creationId xmlns:p14="http://schemas.microsoft.com/office/powerpoint/2010/main" val="14217758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ratamento osteopático para os nervos cranianos | Idot Blog">
            <a:extLst>
              <a:ext uri="{FF2B5EF4-FFF2-40B4-BE49-F238E27FC236}">
                <a16:creationId xmlns:a16="http://schemas.microsoft.com/office/drawing/2014/main" id="{F8F75B41-403F-1CCD-2FC3-4B0031549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7" y="81677"/>
            <a:ext cx="9429749" cy="669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1107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Nervos Cranianos - Odonto Up">
            <a:extLst>
              <a:ext uri="{FF2B5EF4-FFF2-40B4-BE49-F238E27FC236}">
                <a16:creationId xmlns:a16="http://schemas.microsoft.com/office/drawing/2014/main" id="{CBB3976A-0861-FC2D-4525-0A2B744D4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593" y="178593"/>
            <a:ext cx="6655595" cy="6655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Arredondado 1">
            <a:extLst>
              <a:ext uri="{FF2B5EF4-FFF2-40B4-BE49-F238E27FC236}">
                <a16:creationId xmlns:a16="http://schemas.microsoft.com/office/drawing/2014/main" id="{63A5DE33-F121-2A56-94FA-3C9A23D713AD}"/>
              </a:ext>
            </a:extLst>
          </p:cNvPr>
          <p:cNvSpPr/>
          <p:nvPr/>
        </p:nvSpPr>
        <p:spPr>
          <a:xfrm>
            <a:off x="8129588" y="271463"/>
            <a:ext cx="1143000" cy="47148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751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ço Reservado para Conteúdo 2"/>
          <p:cNvSpPr>
            <a:spLocks noGrp="1"/>
          </p:cNvSpPr>
          <p:nvPr>
            <p:ph idx="1"/>
          </p:nvPr>
        </p:nvSpPr>
        <p:spPr>
          <a:xfrm>
            <a:off x="1847854" y="1804988"/>
            <a:ext cx="8569324" cy="5040313"/>
          </a:xfrm>
        </p:spPr>
        <p:txBody>
          <a:bodyPr/>
          <a:lstStyle/>
          <a:p>
            <a:pPr eaLnBrk="1" hangingPunct="1"/>
            <a:r>
              <a:rPr lang="pt-BR" altLang="pt-BR">
                <a:solidFill>
                  <a:srgbClr val="002060"/>
                </a:solidFill>
                <a:latin typeface="Arial Narrow" panose="020B0606020202030204" pitchFamily="34" charset="0"/>
              </a:rPr>
              <a:t>São 12 pares – fazem conexão com o encéfalo</a:t>
            </a:r>
          </a:p>
          <a:p>
            <a:pPr eaLnBrk="1" hangingPunct="1"/>
            <a:r>
              <a:rPr lang="pt-BR" altLang="pt-BR">
                <a:solidFill>
                  <a:srgbClr val="002060"/>
                </a:solidFill>
                <a:latin typeface="Arial Narrow" panose="020B0606020202030204" pitchFamily="34" charset="0"/>
              </a:rPr>
              <a:t>Maioria (10) se origina do tronco encefálico (mesencéfalo, ponte e bulbo)</a:t>
            </a:r>
          </a:p>
          <a:p>
            <a:pPr eaLnBrk="1" hangingPunct="1"/>
            <a:r>
              <a:rPr lang="pt-BR" altLang="pt-BR">
                <a:solidFill>
                  <a:srgbClr val="002060"/>
                </a:solidFill>
                <a:latin typeface="Arial Narrow" panose="020B0606020202030204" pitchFamily="34" charset="0"/>
              </a:rPr>
              <a:t>Olfatório – telencéfalo</a:t>
            </a:r>
          </a:p>
          <a:p>
            <a:pPr eaLnBrk="1" hangingPunct="1"/>
            <a:r>
              <a:rPr lang="pt-BR" altLang="pt-BR">
                <a:solidFill>
                  <a:srgbClr val="002060"/>
                </a:solidFill>
                <a:latin typeface="Arial Narrow" panose="020B0606020202030204" pitchFamily="34" charset="0"/>
              </a:rPr>
              <a:t>Óptico – diencéfalo</a:t>
            </a:r>
          </a:p>
          <a:p>
            <a:pPr eaLnBrk="1" hangingPunct="1"/>
            <a:r>
              <a:rPr lang="pt-BR" altLang="pt-BR">
                <a:solidFill>
                  <a:srgbClr val="002060"/>
                </a:solidFill>
                <a:latin typeface="Arial Narrow" panose="020B0606020202030204" pitchFamily="34" charset="0"/>
              </a:rPr>
              <a:t>Nervos sensitivos, motores ou mistos</a:t>
            </a:r>
          </a:p>
          <a:p>
            <a:pPr eaLnBrk="1" hangingPunct="1"/>
            <a:r>
              <a:rPr lang="pt-BR" altLang="pt-BR">
                <a:solidFill>
                  <a:srgbClr val="002060"/>
                </a:solidFill>
                <a:latin typeface="Arial Narrow" panose="020B0606020202030204" pitchFamily="34" charset="0"/>
              </a:rPr>
              <a:t>Servem a pele e músculos da cabeça e pescoço, órgãos especiais do sentido (olfato, audição, visão, gustação)</a:t>
            </a:r>
          </a:p>
          <a:p>
            <a:pPr eaLnBrk="1" hangingPunct="1"/>
            <a:r>
              <a:rPr lang="pt-BR" altLang="pt-BR">
                <a:solidFill>
                  <a:srgbClr val="002060"/>
                </a:solidFill>
                <a:latin typeface="Arial Narrow" panose="020B0606020202030204" pitchFamily="34" charset="0"/>
              </a:rPr>
              <a:t>Nervo vago (X par) – SNA – vísceras torácicas e abdominais</a:t>
            </a:r>
          </a:p>
          <a:p>
            <a:pPr eaLnBrk="1" hangingPunct="1"/>
            <a:endParaRPr lang="pt-BR" altLang="pt-BR">
              <a:solidFill>
                <a:srgbClr val="002060"/>
              </a:solidFill>
              <a:latin typeface="Arial Narrow" panose="020B0606020202030204" pitchFamily="34" charset="0"/>
            </a:endParaRPr>
          </a:p>
          <a:p>
            <a:pPr eaLnBrk="1" hangingPunct="1"/>
            <a:endParaRPr lang="pt-BR" altLang="pt-BR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1524000" y="2"/>
            <a:ext cx="9144000" cy="928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1"/>
          </a:p>
        </p:txBody>
      </p:sp>
      <p:sp>
        <p:nvSpPr>
          <p:cNvPr id="68612" name="Título 1"/>
          <p:cNvSpPr txBox="1">
            <a:spLocks/>
          </p:cNvSpPr>
          <p:nvPr/>
        </p:nvSpPr>
        <p:spPr bwMode="auto">
          <a:xfrm>
            <a:off x="2135188" y="-171450"/>
            <a:ext cx="82296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400" b="1">
                <a:latin typeface="Arial Narrow" panose="020B0606020202030204" pitchFamily="34" charset="0"/>
              </a:rPr>
              <a:t>Nervos Cranianos</a:t>
            </a:r>
          </a:p>
        </p:txBody>
      </p:sp>
    </p:spTree>
    <p:extLst>
      <p:ext uri="{BB962C8B-B14F-4D97-AF65-F5344CB8AC3E}">
        <p14:creationId xmlns:p14="http://schemas.microsoft.com/office/powerpoint/2010/main" val="2223404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29" y="993930"/>
            <a:ext cx="9465179" cy="5560793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696036" y="395787"/>
            <a:ext cx="3070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Nervos Cranianos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9820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242" y="122899"/>
            <a:ext cx="9020316" cy="677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lipse 4"/>
          <p:cNvSpPr/>
          <p:nvPr/>
        </p:nvSpPr>
        <p:spPr>
          <a:xfrm>
            <a:off x="5782102" y="1984376"/>
            <a:ext cx="247650" cy="292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1"/>
          </a:p>
        </p:txBody>
      </p:sp>
      <p:sp>
        <p:nvSpPr>
          <p:cNvPr id="7" name="Elipse 6"/>
          <p:cNvSpPr/>
          <p:nvPr/>
        </p:nvSpPr>
        <p:spPr>
          <a:xfrm>
            <a:off x="5782101" y="2276476"/>
            <a:ext cx="215900" cy="2159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1"/>
          </a:p>
        </p:txBody>
      </p:sp>
      <p:sp>
        <p:nvSpPr>
          <p:cNvPr id="8" name="Elipse 7"/>
          <p:cNvSpPr/>
          <p:nvPr/>
        </p:nvSpPr>
        <p:spPr>
          <a:xfrm>
            <a:off x="5809392" y="3123231"/>
            <a:ext cx="287339" cy="2889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1"/>
          </a:p>
        </p:txBody>
      </p:sp>
      <p:sp>
        <p:nvSpPr>
          <p:cNvPr id="9" name="Elipse 8"/>
          <p:cNvSpPr/>
          <p:nvPr/>
        </p:nvSpPr>
        <p:spPr>
          <a:xfrm>
            <a:off x="5809398" y="3421018"/>
            <a:ext cx="287339" cy="2159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1"/>
          </a:p>
        </p:txBody>
      </p:sp>
      <p:sp>
        <p:nvSpPr>
          <p:cNvPr id="10" name="Elipse 9"/>
          <p:cNvSpPr/>
          <p:nvPr/>
        </p:nvSpPr>
        <p:spPr>
          <a:xfrm>
            <a:off x="5809392" y="3823497"/>
            <a:ext cx="287339" cy="2889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1"/>
          </a:p>
        </p:txBody>
      </p:sp>
      <p:sp>
        <p:nvSpPr>
          <p:cNvPr id="11" name="Elipse 10"/>
          <p:cNvSpPr/>
          <p:nvPr/>
        </p:nvSpPr>
        <p:spPr>
          <a:xfrm>
            <a:off x="5750253" y="440090"/>
            <a:ext cx="215900" cy="2159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1"/>
          </a:p>
        </p:txBody>
      </p:sp>
      <p:sp>
        <p:nvSpPr>
          <p:cNvPr id="12" name="Elipse 11"/>
          <p:cNvSpPr/>
          <p:nvPr/>
        </p:nvSpPr>
        <p:spPr>
          <a:xfrm>
            <a:off x="5768450" y="655990"/>
            <a:ext cx="215900" cy="2873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1"/>
          </a:p>
        </p:txBody>
      </p:sp>
      <p:sp>
        <p:nvSpPr>
          <p:cNvPr id="13" name="Elipse 12"/>
          <p:cNvSpPr/>
          <p:nvPr/>
        </p:nvSpPr>
        <p:spPr>
          <a:xfrm>
            <a:off x="5768450" y="4107135"/>
            <a:ext cx="287339" cy="2889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1"/>
          </a:p>
        </p:txBody>
      </p:sp>
      <p:sp>
        <p:nvSpPr>
          <p:cNvPr id="14" name="Elipse 13"/>
          <p:cNvSpPr/>
          <p:nvPr/>
        </p:nvSpPr>
        <p:spPr>
          <a:xfrm>
            <a:off x="5795750" y="4295067"/>
            <a:ext cx="287339" cy="2889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1"/>
          </a:p>
        </p:txBody>
      </p:sp>
      <p:sp>
        <p:nvSpPr>
          <p:cNvPr id="15" name="Elipse 14"/>
          <p:cNvSpPr/>
          <p:nvPr/>
        </p:nvSpPr>
        <p:spPr>
          <a:xfrm>
            <a:off x="5788732" y="4997906"/>
            <a:ext cx="287339" cy="2889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1"/>
          </a:p>
        </p:txBody>
      </p:sp>
      <p:sp>
        <p:nvSpPr>
          <p:cNvPr id="16" name="Elipse 15"/>
          <p:cNvSpPr/>
          <p:nvPr/>
        </p:nvSpPr>
        <p:spPr>
          <a:xfrm>
            <a:off x="5809394" y="5214850"/>
            <a:ext cx="287339" cy="2873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1"/>
          </a:p>
        </p:txBody>
      </p:sp>
      <p:sp>
        <p:nvSpPr>
          <p:cNvPr id="17" name="Elipse 16"/>
          <p:cNvSpPr/>
          <p:nvPr/>
        </p:nvSpPr>
        <p:spPr>
          <a:xfrm>
            <a:off x="5791937" y="5428825"/>
            <a:ext cx="287339" cy="2873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1"/>
          </a:p>
        </p:txBody>
      </p:sp>
      <p:sp>
        <p:nvSpPr>
          <p:cNvPr id="18" name="Elipse 17"/>
          <p:cNvSpPr/>
          <p:nvPr/>
        </p:nvSpPr>
        <p:spPr>
          <a:xfrm>
            <a:off x="5822483" y="5644182"/>
            <a:ext cx="287339" cy="2873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1801"/>
          </a:p>
        </p:txBody>
      </p:sp>
      <p:sp>
        <p:nvSpPr>
          <p:cNvPr id="71696" name="CaixaDeTexto 5"/>
          <p:cNvSpPr txBox="1">
            <a:spLocks noChangeArrowheads="1"/>
          </p:cNvSpPr>
          <p:nvPr/>
        </p:nvSpPr>
        <p:spPr bwMode="auto">
          <a:xfrm>
            <a:off x="7774129" y="399148"/>
            <a:ext cx="4333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FF0000"/>
                </a:solidFill>
                <a:latin typeface="Arial" panose="020B0604020202020204" pitchFamily="34" charset="0"/>
              </a:rPr>
              <a:t>I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FF0000"/>
                </a:solidFill>
                <a:latin typeface="Arial" panose="020B0604020202020204" pitchFamily="34" charset="0"/>
              </a:rPr>
              <a:t>II</a:t>
            </a:r>
          </a:p>
        </p:txBody>
      </p:sp>
      <p:sp>
        <p:nvSpPr>
          <p:cNvPr id="71697" name="CaixaDeTexto 19"/>
          <p:cNvSpPr txBox="1">
            <a:spLocks noChangeArrowheads="1"/>
          </p:cNvSpPr>
          <p:nvPr/>
        </p:nvSpPr>
        <p:spPr bwMode="auto">
          <a:xfrm>
            <a:off x="8335964" y="2032002"/>
            <a:ext cx="4333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FF0000"/>
                </a:solidFill>
                <a:latin typeface="Arial" panose="020B0604020202020204" pitchFamily="34" charset="0"/>
              </a:rPr>
              <a:t>III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FF0000"/>
                </a:solidFill>
                <a:latin typeface="Arial" panose="020B0604020202020204" pitchFamily="34" charset="0"/>
              </a:rPr>
              <a:t>IV</a:t>
            </a:r>
          </a:p>
        </p:txBody>
      </p:sp>
      <p:sp>
        <p:nvSpPr>
          <p:cNvPr id="71698" name="CaixaDeTexto 20"/>
          <p:cNvSpPr txBox="1">
            <a:spLocks noChangeArrowheads="1"/>
          </p:cNvSpPr>
          <p:nvPr/>
        </p:nvSpPr>
        <p:spPr bwMode="auto">
          <a:xfrm>
            <a:off x="9759025" y="2883231"/>
            <a:ext cx="43180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pt-BR" altLang="pt-BR" sz="16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Arial" panose="020B0604020202020204" pitchFamily="34" charset="0"/>
              </a:rPr>
              <a:t>V</a:t>
            </a:r>
          </a:p>
        </p:txBody>
      </p:sp>
      <p:sp>
        <p:nvSpPr>
          <p:cNvPr id="71699" name="CaixaDeTexto 21"/>
          <p:cNvSpPr txBox="1">
            <a:spLocks noChangeArrowheads="1"/>
          </p:cNvSpPr>
          <p:nvPr/>
        </p:nvSpPr>
        <p:spPr bwMode="auto">
          <a:xfrm>
            <a:off x="8472487" y="3907411"/>
            <a:ext cx="71826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Arial" panose="020B0604020202020204" pitchFamily="34" charset="0"/>
              </a:rPr>
              <a:t>     VIII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Arial" panose="020B0604020202020204" pitchFamily="34" charset="0"/>
              </a:rPr>
              <a:t>        VII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Arial" panose="020B0604020202020204" pitchFamily="34" charset="0"/>
              </a:rPr>
              <a:t>VI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pt-BR" sz="12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1700" name="CaixaDeTexto 22"/>
          <p:cNvSpPr txBox="1">
            <a:spLocks noChangeArrowheads="1"/>
          </p:cNvSpPr>
          <p:nvPr/>
        </p:nvSpPr>
        <p:spPr bwMode="auto">
          <a:xfrm>
            <a:off x="8339066" y="5013327"/>
            <a:ext cx="4318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Arial" panose="020B0604020202020204" pitchFamily="34" charset="0"/>
              </a:rPr>
              <a:t>IX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Arial" panose="020B0604020202020204" pitchFamily="34" charset="0"/>
              </a:rPr>
              <a:t>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Arial" panose="020B0604020202020204" pitchFamily="34" charset="0"/>
              </a:rPr>
              <a:t>XII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Arial" panose="020B0604020202020204" pitchFamily="34" charset="0"/>
              </a:rPr>
              <a:t>XI</a:t>
            </a:r>
          </a:p>
        </p:txBody>
      </p:sp>
    </p:spTree>
    <p:extLst>
      <p:ext uri="{BB962C8B-B14F-4D97-AF65-F5344CB8AC3E}">
        <p14:creationId xmlns:p14="http://schemas.microsoft.com/office/powerpoint/2010/main" val="36636825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lum contrast="-20000"/>
          </a:blip>
          <a:stretch>
            <a:fillRect/>
          </a:stretch>
        </p:blipFill>
        <p:spPr>
          <a:xfrm>
            <a:off x="1364777" y="190451"/>
            <a:ext cx="9321420" cy="654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928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ervos cranianos: Anatomia e funções | Kenhub">
            <a:extLst>
              <a:ext uri="{FF2B5EF4-FFF2-40B4-BE49-F238E27FC236}">
                <a16:creationId xmlns:a16="http://schemas.microsoft.com/office/drawing/2014/main" id="{9EDAE4B4-89F4-D37D-D02A-ABEF2DAF1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3" y="0"/>
            <a:ext cx="8104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3153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669" y="124755"/>
            <a:ext cx="5036023" cy="673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8530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992313" y="-1"/>
            <a:ext cx="82296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>
              <a:defRPr/>
            </a:pPr>
            <a:r>
              <a:rPr lang="pt-BR" sz="44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Nervos Cranianos - SNP</a:t>
            </a:r>
          </a:p>
        </p:txBody>
      </p:sp>
      <p:graphicFrame>
        <p:nvGraphicFramePr>
          <p:cNvPr id="9498" name="Group 282"/>
          <p:cNvGraphicFramePr>
            <a:graphicFrameLocks noGrp="1"/>
          </p:cNvGraphicFramePr>
          <p:nvPr>
            <p:ph type="tbl" idx="4294967295"/>
          </p:nvPr>
        </p:nvGraphicFramePr>
        <p:xfrm>
          <a:off x="1524000" y="863600"/>
          <a:ext cx="9144000" cy="5934074"/>
        </p:xfrm>
        <a:graphic>
          <a:graphicData uri="http://schemas.openxmlformats.org/drawingml/2006/table">
            <a:tbl>
              <a:tblPr/>
              <a:tblGrid>
                <a:gridCol w="2268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5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8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NERVO</a:t>
                      </a:r>
                      <a:endParaRPr kumimoji="0" lang="pt-BR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AFERENTE/EFERENTE/MISTO</a:t>
                      </a:r>
                      <a:endParaRPr kumimoji="0" lang="pt-BR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FUNÇÃO</a:t>
                      </a:r>
                      <a:endParaRPr kumimoji="0" lang="pt-BR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50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 - Olfatório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Aferente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Olfação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50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II - Óptico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Aferente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Percepção visual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09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III - Oculomotor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Eferente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Mm. movimentam olho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50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IV - Troclear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Eferente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Mm movimentam o olho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V- Trigêmeo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Misto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Sensibilidade da cabeça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Mm movimentam a mandíbula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50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VI - Abducente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Eferente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Mm movimentam o olho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300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VII - Facial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Misto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Expressão mimicofacial, gustação, sensibilidade visceral, mm lisa e esquelética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09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VIII - Vestibulococlear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Aferente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Audição e equilíbrio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1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IX - Glossofaríngeo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Misto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Gustação, sensibilidade visceral, Gls. salivares, mm lisa e esquelética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10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- Vago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Misto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Todas as vísceras torácicas e abdominais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91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XI - Acessório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Misto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Mm. Esquelético e parte das fibras c/ vago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50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XII - Hipoglosso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Eferente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Mm. que movimentam a língua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3421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Imagem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2" b="10101"/>
          <a:stretch/>
        </p:blipFill>
        <p:spPr bwMode="auto">
          <a:xfrm>
            <a:off x="3359151" y="0"/>
            <a:ext cx="6276169" cy="6901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47497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Nervos Cranianos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1992314" y="1700214"/>
            <a:ext cx="8218487" cy="4873625"/>
          </a:xfrm>
        </p:spPr>
        <p:txBody>
          <a:bodyPr>
            <a:normAutofit fontScale="70000" lnSpcReduction="20000"/>
          </a:bodyPr>
          <a:lstStyle/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r>
              <a:rPr lang="pt-BR" b="1" dirty="0"/>
              <a:t>Doze pares de nervos periféricos que se originam principalmente do tronco encefálico</a:t>
            </a:r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endParaRPr lang="pt-BR" dirty="0"/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r>
              <a:rPr lang="pt-BR" b="1" dirty="0"/>
              <a:t>Pares de nervos</a:t>
            </a:r>
            <a:r>
              <a:rPr lang="pt-BR" dirty="0"/>
              <a:t>:</a:t>
            </a:r>
          </a:p>
          <a:p>
            <a:pPr marL="658368" lvl="1" indent="-246888">
              <a:buFont typeface="Georgia"/>
              <a:buChar char="▫"/>
              <a:defRPr/>
            </a:pPr>
            <a:r>
              <a:rPr lang="pt-BR" sz="3100" b="1" dirty="0">
                <a:solidFill>
                  <a:srgbClr val="FF0000"/>
                </a:solidFill>
              </a:rPr>
              <a:t>I par</a:t>
            </a:r>
            <a:r>
              <a:rPr lang="pt-BR" sz="3100" b="1" dirty="0"/>
              <a:t>: nervo olfativo (olfatório)</a:t>
            </a:r>
          </a:p>
          <a:p>
            <a:pPr marL="658368" lvl="1" indent="-246888">
              <a:buFont typeface="Georgia"/>
              <a:buChar char="▫"/>
              <a:defRPr/>
            </a:pPr>
            <a:r>
              <a:rPr lang="pt-BR" sz="3100" b="1" dirty="0">
                <a:solidFill>
                  <a:srgbClr val="FF0000"/>
                </a:solidFill>
              </a:rPr>
              <a:t>II par</a:t>
            </a:r>
            <a:r>
              <a:rPr lang="pt-BR" sz="3100" b="1" dirty="0"/>
              <a:t>: nervo óptico</a:t>
            </a:r>
          </a:p>
          <a:p>
            <a:pPr marL="658368" lvl="1" indent="-246888">
              <a:buFont typeface="Georgia"/>
              <a:buChar char="▫"/>
              <a:defRPr/>
            </a:pPr>
            <a:r>
              <a:rPr lang="pt-BR" sz="3100" b="1" dirty="0">
                <a:solidFill>
                  <a:srgbClr val="FF0000"/>
                </a:solidFill>
              </a:rPr>
              <a:t>III par</a:t>
            </a:r>
            <a:r>
              <a:rPr lang="pt-BR" sz="3100" b="1" dirty="0"/>
              <a:t>: nervo oculomotor</a:t>
            </a:r>
          </a:p>
          <a:p>
            <a:pPr marL="658368" lvl="1" indent="-246888">
              <a:buFont typeface="Georgia"/>
              <a:buChar char="▫"/>
              <a:defRPr/>
            </a:pPr>
            <a:r>
              <a:rPr lang="pt-BR" sz="3100" b="1" dirty="0">
                <a:solidFill>
                  <a:srgbClr val="FF0000"/>
                </a:solidFill>
              </a:rPr>
              <a:t>IV par</a:t>
            </a:r>
            <a:r>
              <a:rPr lang="pt-BR" sz="3100" b="1" dirty="0"/>
              <a:t>: nervo troclear</a:t>
            </a:r>
          </a:p>
          <a:p>
            <a:pPr marL="658368" lvl="1" indent="-246888">
              <a:buFont typeface="Georgia"/>
              <a:buChar char="▫"/>
              <a:defRPr/>
            </a:pPr>
            <a:r>
              <a:rPr lang="pt-BR" sz="3100" b="1" dirty="0">
                <a:solidFill>
                  <a:srgbClr val="FF0000"/>
                </a:solidFill>
              </a:rPr>
              <a:t>V par</a:t>
            </a:r>
            <a:r>
              <a:rPr lang="pt-BR" sz="3100" b="1" dirty="0"/>
              <a:t>: nervo trigêmeo</a:t>
            </a:r>
          </a:p>
          <a:p>
            <a:pPr marL="658368" lvl="1" indent="-246888">
              <a:buFont typeface="Georgia"/>
              <a:buChar char="▫"/>
              <a:defRPr/>
            </a:pPr>
            <a:r>
              <a:rPr lang="pt-BR" sz="3100" b="1" dirty="0">
                <a:solidFill>
                  <a:srgbClr val="FF0000"/>
                </a:solidFill>
              </a:rPr>
              <a:t>VI par</a:t>
            </a:r>
            <a:r>
              <a:rPr lang="pt-BR" sz="3100" b="1" dirty="0"/>
              <a:t>: nervo abducente</a:t>
            </a:r>
          </a:p>
          <a:p>
            <a:pPr marL="658368" lvl="1" indent="-246888">
              <a:buFont typeface="Georgia"/>
              <a:buChar char="▫"/>
              <a:defRPr/>
            </a:pPr>
            <a:r>
              <a:rPr lang="pt-BR" sz="3100" b="1" dirty="0">
                <a:solidFill>
                  <a:srgbClr val="FF0000"/>
                </a:solidFill>
              </a:rPr>
              <a:t>VII par</a:t>
            </a:r>
            <a:r>
              <a:rPr lang="pt-BR" sz="3100" b="1" dirty="0"/>
              <a:t>: nervo facial</a:t>
            </a:r>
          </a:p>
          <a:p>
            <a:pPr marL="658368" lvl="1" indent="-246888">
              <a:buFont typeface="Georgia"/>
              <a:buChar char="▫"/>
              <a:defRPr/>
            </a:pPr>
            <a:r>
              <a:rPr lang="pt-BR" sz="3100" b="1" dirty="0">
                <a:solidFill>
                  <a:srgbClr val="FF0000"/>
                </a:solidFill>
              </a:rPr>
              <a:t>VIII par</a:t>
            </a:r>
            <a:r>
              <a:rPr lang="pt-BR" sz="3100" b="1" dirty="0"/>
              <a:t>: nervo vestíbulo-coclear</a:t>
            </a:r>
          </a:p>
          <a:p>
            <a:pPr marL="658368" lvl="1" indent="-246888">
              <a:buFont typeface="Georgia"/>
              <a:buChar char="▫"/>
              <a:defRPr/>
            </a:pPr>
            <a:r>
              <a:rPr lang="pt-BR" sz="3100" b="1" dirty="0">
                <a:solidFill>
                  <a:srgbClr val="FF0000"/>
                </a:solidFill>
              </a:rPr>
              <a:t>IX par: </a:t>
            </a:r>
            <a:r>
              <a:rPr lang="pt-BR" sz="3100" b="1" dirty="0"/>
              <a:t>nervo glossofaríngeo</a:t>
            </a:r>
          </a:p>
          <a:p>
            <a:pPr marL="658368" lvl="1" indent="-246888">
              <a:buFont typeface="Georgia"/>
              <a:buChar char="▫"/>
              <a:defRPr/>
            </a:pPr>
            <a:r>
              <a:rPr lang="pt-BR" sz="3100" b="1" dirty="0">
                <a:solidFill>
                  <a:srgbClr val="FF0000"/>
                </a:solidFill>
              </a:rPr>
              <a:t>X par</a:t>
            </a:r>
            <a:r>
              <a:rPr lang="pt-BR" sz="3100" b="1" dirty="0"/>
              <a:t>: nervo vago</a:t>
            </a:r>
          </a:p>
          <a:p>
            <a:pPr marL="658368" lvl="1" indent="-246888">
              <a:buFont typeface="Georgia"/>
              <a:buChar char="▫"/>
              <a:defRPr/>
            </a:pPr>
            <a:r>
              <a:rPr lang="pt-BR" sz="3100" b="1" dirty="0">
                <a:solidFill>
                  <a:srgbClr val="FF0000"/>
                </a:solidFill>
              </a:rPr>
              <a:t>XI par</a:t>
            </a:r>
            <a:r>
              <a:rPr lang="pt-BR" sz="3100" b="1" dirty="0"/>
              <a:t>: nervo acessório</a:t>
            </a:r>
          </a:p>
          <a:p>
            <a:pPr marL="658368" lvl="1" indent="-246888">
              <a:buFont typeface="Georgia"/>
              <a:buChar char="▫"/>
              <a:defRPr/>
            </a:pPr>
            <a:r>
              <a:rPr lang="pt-BR" sz="3100" b="1" dirty="0">
                <a:solidFill>
                  <a:srgbClr val="FF0000"/>
                </a:solidFill>
              </a:rPr>
              <a:t>XII par</a:t>
            </a:r>
            <a:r>
              <a:rPr lang="pt-BR" sz="3100" b="1" dirty="0"/>
              <a:t>: nervo hipoglosso </a:t>
            </a:r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endParaRPr lang="pt-BR" dirty="0"/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endParaRPr lang="pt-BR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27339" y="0"/>
            <a:ext cx="72294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Nervos Cranianos - Mesencéfalo</a:t>
            </a:r>
          </a:p>
        </p:txBody>
      </p:sp>
      <p:sp>
        <p:nvSpPr>
          <p:cNvPr id="3891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/>
              <a:t>III par (oculomotor): </a:t>
            </a:r>
            <a:r>
              <a:rPr lang="pt-BR"/>
              <a:t>movimento dos olhos</a:t>
            </a:r>
          </a:p>
          <a:p>
            <a:endParaRPr lang="pt-BR"/>
          </a:p>
          <a:p>
            <a:r>
              <a:rPr lang="pt-BR" b="1"/>
              <a:t>IV par (troclear): </a:t>
            </a:r>
            <a:r>
              <a:rPr lang="pt-BR"/>
              <a:t>movimento dos olhos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Nervos Cranianos - Ponte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r>
              <a:rPr lang="pt-BR" b="1" dirty="0"/>
              <a:t>V par (trigêmeo): </a:t>
            </a:r>
            <a:r>
              <a:rPr lang="pt-BR" dirty="0"/>
              <a:t>sensações da face e sinais motores para a mastigação</a:t>
            </a:r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endParaRPr lang="pt-BR" dirty="0"/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r>
              <a:rPr lang="pt-BR" b="1" dirty="0"/>
              <a:t>VI par (abducente): </a:t>
            </a:r>
            <a:r>
              <a:rPr lang="pt-BR" dirty="0"/>
              <a:t>movimento dos olhos</a:t>
            </a:r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endParaRPr lang="pt-BR" dirty="0"/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r>
              <a:rPr lang="pt-BR" b="1" dirty="0"/>
              <a:t>VII par (facial): </a:t>
            </a:r>
            <a:r>
              <a:rPr lang="pt-BR" dirty="0"/>
              <a:t>sensações relacionadas ao paladar, regulação da secreção de lágrima e saliva, contrações dos músculos das expressões faciais</a:t>
            </a:r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endParaRPr lang="pt-BR" dirty="0"/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r>
              <a:rPr lang="pt-BR" b="1" dirty="0"/>
              <a:t>VIII par (vestíbulo-coclear): </a:t>
            </a:r>
            <a:r>
              <a:rPr lang="pt-BR" dirty="0"/>
              <a:t>equilíbrio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Nervos Cranianos - Bulbo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r>
              <a:rPr lang="pt-BR" b="1" dirty="0"/>
              <a:t>VIII par (vestíbulo-coclear): </a:t>
            </a:r>
            <a:r>
              <a:rPr lang="pt-BR" dirty="0"/>
              <a:t>audição</a:t>
            </a:r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endParaRPr lang="pt-BR" dirty="0"/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r>
              <a:rPr lang="pt-BR" b="1" dirty="0"/>
              <a:t>IX par (glossofaríngeo): </a:t>
            </a:r>
            <a:r>
              <a:rPr lang="pt-BR" dirty="0"/>
              <a:t>paladar, deglutição e salivação</a:t>
            </a:r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endParaRPr lang="pt-BR" dirty="0"/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r>
              <a:rPr lang="pt-BR" b="1" dirty="0"/>
              <a:t>X par (vago): </a:t>
            </a:r>
            <a:r>
              <a:rPr lang="pt-BR" dirty="0"/>
              <a:t>vísceras torácicas e abdominais</a:t>
            </a:r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endParaRPr lang="pt-BR" dirty="0"/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r>
              <a:rPr lang="pt-BR" b="1" dirty="0"/>
              <a:t>XI par (acessório): </a:t>
            </a:r>
            <a:r>
              <a:rPr lang="pt-BR" dirty="0"/>
              <a:t>deglutição</a:t>
            </a:r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endParaRPr lang="pt-BR" dirty="0"/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r>
              <a:rPr lang="pt-BR" b="1" dirty="0"/>
              <a:t>XII par (hipoglosso): </a:t>
            </a:r>
            <a:r>
              <a:rPr lang="pt-BR" dirty="0"/>
              <a:t>movimentos da língua durante a fala e a deglutição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12183" r="25587" b="7980"/>
          <a:stretch>
            <a:fillRect/>
          </a:stretch>
        </p:blipFill>
        <p:spPr bwMode="auto">
          <a:xfrm>
            <a:off x="2393117" y="95534"/>
            <a:ext cx="9611534" cy="6760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/>
          <a:srcRect t="1074" r="51185"/>
          <a:stretch/>
        </p:blipFill>
        <p:spPr>
          <a:xfrm>
            <a:off x="294471" y="374605"/>
            <a:ext cx="1884363" cy="28686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12502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337480" y="716664"/>
            <a:ext cx="9362364" cy="568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8125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006" y="37040"/>
            <a:ext cx="7751928" cy="679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018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onte entre hemisférios : Revista Pesquisa Fapesp">
            <a:extLst>
              <a:ext uri="{FF2B5EF4-FFF2-40B4-BE49-F238E27FC236}">
                <a16:creationId xmlns:a16="http://schemas.microsoft.com/office/drawing/2014/main" id="{2F3401D5-1AFC-8D32-BEF6-1D5EA277D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" y="177106"/>
            <a:ext cx="11201400" cy="625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1945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2056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B86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O corpo caloso é uma estrutura de fibras nervosas espessa e achatada,  localizada na região central do cérebro, que atua como a principal via de  comunicação entre os dois hemisférios cerebrais (direito">
            <a:extLst>
              <a:ext uri="{FF2B5EF4-FFF2-40B4-BE49-F238E27FC236}">
                <a16:creationId xmlns:a16="http://schemas.microsoft.com/office/drawing/2014/main" id="{69553D68-E69F-3081-A922-E69CA43C8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55281" y="643467"/>
            <a:ext cx="4461291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Rectangle 2060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🧠 O corpo caloso é um grande trato (feixe) de substância branca que liga  os dois hemisférios do cérebro. 📌 É uma parte estrutural e funcional  incrivelmente importante do cérebro. 📚 Permite-nos">
            <a:extLst>
              <a:ext uri="{FF2B5EF4-FFF2-40B4-BE49-F238E27FC236}">
                <a16:creationId xmlns:a16="http://schemas.microsoft.com/office/drawing/2014/main" id="{A62C737D-9D11-25F9-6466-8E69A4104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8731" y="643467"/>
            <a:ext cx="4874682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5763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4CF08-E8EA-9739-47BF-85D7DF522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E9BA924-89D5-99E0-FCBA-D6FAEB31F5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54"/>
          <a:stretch/>
        </p:blipFill>
        <p:spPr>
          <a:xfrm>
            <a:off x="2906974" y="1406477"/>
            <a:ext cx="5431807" cy="530510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754EE9A-21C0-865C-09A8-8A8FDE66E473}"/>
              </a:ext>
            </a:extLst>
          </p:cNvPr>
          <p:cNvSpPr txBox="1"/>
          <p:nvPr/>
        </p:nvSpPr>
        <p:spPr>
          <a:xfrm>
            <a:off x="7847463" y="969747"/>
            <a:ext cx="29479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Por hoje é só, pessoal!</a:t>
            </a:r>
            <a:endParaRPr lang="en-US" sz="2400" dirty="0"/>
          </a:p>
        </p:txBody>
      </p:sp>
      <p:sp>
        <p:nvSpPr>
          <p:cNvPr id="4" name="Texto explicativo em elipse 3">
            <a:extLst>
              <a:ext uri="{FF2B5EF4-FFF2-40B4-BE49-F238E27FC236}">
                <a16:creationId xmlns:a16="http://schemas.microsoft.com/office/drawing/2014/main" id="{C3C6F3A8-F227-09EA-D01F-AE54D9F13DCC}"/>
              </a:ext>
            </a:extLst>
          </p:cNvPr>
          <p:cNvSpPr/>
          <p:nvPr/>
        </p:nvSpPr>
        <p:spPr>
          <a:xfrm>
            <a:off x="7233314" y="504966"/>
            <a:ext cx="3357350" cy="1760561"/>
          </a:xfrm>
          <a:prstGeom prst="wedgeEllipse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120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</TotalTime>
  <Words>751</Words>
  <Application>Microsoft Macintosh PowerPoint</Application>
  <PresentationFormat>Widescreen</PresentationFormat>
  <Paragraphs>196</Paragraphs>
  <Slides>48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60" baseType="lpstr">
      <vt:lpstr>Aptos</vt:lpstr>
      <vt:lpstr>Arial</vt:lpstr>
      <vt:lpstr>Arial Narrow</vt:lpstr>
      <vt:lpstr>Calibri</vt:lpstr>
      <vt:lpstr>Calibri Light</vt:lpstr>
      <vt:lpstr>Courier New</vt:lpstr>
      <vt:lpstr>Georgia</vt:lpstr>
      <vt:lpstr>Symbol</vt:lpstr>
      <vt:lpstr>Tahoma</vt:lpstr>
      <vt:lpstr>Times New Roman</vt:lpstr>
      <vt:lpstr>Wingdings</vt:lpstr>
      <vt:lpstr>Tema do Office</vt:lpstr>
      <vt:lpstr>Anatomia do Sistema Nervoso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Nervos Cranianos</vt:lpstr>
      <vt:lpstr>Apresentação do PowerPoint</vt:lpstr>
      <vt:lpstr>Nervos Cranianos - Mesencéfalo</vt:lpstr>
      <vt:lpstr>Nervos Cranianos - Ponte</vt:lpstr>
      <vt:lpstr>Nervos Cranianos - Bulbo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Anatomia do Sistema Nervoso</dc:title>
  <dc:creator>Laiza Barros</dc:creator>
  <cp:lastModifiedBy>Laiza Barros</cp:lastModifiedBy>
  <cp:revision>20</cp:revision>
  <dcterms:created xsi:type="dcterms:W3CDTF">2020-09-10T12:58:00Z</dcterms:created>
  <dcterms:modified xsi:type="dcterms:W3CDTF">2026-03-12T18:11:38Z</dcterms:modified>
</cp:coreProperties>
</file>