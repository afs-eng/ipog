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256" r:id="rId2"/>
    <p:sldId id="300" r:id="rId3"/>
    <p:sldId id="258" r:id="rId4"/>
    <p:sldId id="291" r:id="rId5"/>
    <p:sldId id="398" r:id="rId6"/>
    <p:sldId id="283" r:id="rId7"/>
    <p:sldId id="301" r:id="rId8"/>
    <p:sldId id="259" r:id="rId9"/>
    <p:sldId id="295" r:id="rId10"/>
    <p:sldId id="358" r:id="rId11"/>
    <p:sldId id="359" r:id="rId12"/>
    <p:sldId id="360" r:id="rId13"/>
    <p:sldId id="284" r:id="rId14"/>
    <p:sldId id="260" r:id="rId15"/>
    <p:sldId id="297" r:id="rId16"/>
    <p:sldId id="293" r:id="rId17"/>
    <p:sldId id="294" r:id="rId18"/>
    <p:sldId id="261" r:id="rId19"/>
    <p:sldId id="391" r:id="rId20"/>
    <p:sldId id="267" r:id="rId21"/>
    <p:sldId id="262" r:id="rId22"/>
    <p:sldId id="399" r:id="rId23"/>
    <p:sldId id="263" r:id="rId24"/>
    <p:sldId id="264" r:id="rId25"/>
    <p:sldId id="265" r:id="rId26"/>
    <p:sldId id="298" r:id="rId27"/>
    <p:sldId id="390" r:id="rId28"/>
    <p:sldId id="269" r:id="rId29"/>
    <p:sldId id="270" r:id="rId30"/>
    <p:sldId id="400" r:id="rId31"/>
    <p:sldId id="299" r:id="rId32"/>
    <p:sldId id="402" r:id="rId33"/>
    <p:sldId id="272" r:id="rId34"/>
    <p:sldId id="405" r:id="rId35"/>
    <p:sldId id="389" r:id="rId36"/>
    <p:sldId id="403" r:id="rId37"/>
    <p:sldId id="361" r:id="rId38"/>
    <p:sldId id="362" r:id="rId39"/>
    <p:sldId id="363" r:id="rId40"/>
    <p:sldId id="394" r:id="rId41"/>
    <p:sldId id="288" r:id="rId42"/>
    <p:sldId id="274" r:id="rId43"/>
    <p:sldId id="406" r:id="rId44"/>
    <p:sldId id="290" r:id="rId45"/>
    <p:sldId id="407" r:id="rId46"/>
    <p:sldId id="412" r:id="rId47"/>
    <p:sldId id="413" r:id="rId48"/>
    <p:sldId id="275" r:id="rId49"/>
    <p:sldId id="276" r:id="rId50"/>
    <p:sldId id="296" r:id="rId51"/>
    <p:sldId id="401" r:id="rId52"/>
    <p:sldId id="408" r:id="rId53"/>
    <p:sldId id="409" r:id="rId54"/>
    <p:sldId id="410" r:id="rId55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D61"/>
    <a:srgbClr val="C5D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48"/>
  </p:normalViewPr>
  <p:slideViewPr>
    <p:cSldViewPr>
      <p:cViewPr varScale="1">
        <p:scale>
          <a:sx n="117" d="100"/>
          <a:sy n="117" d="100"/>
        </p:scale>
        <p:origin x="2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6B3843B-99DD-8B4B-EEE8-EA257F9AD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2DC037-4C1A-7081-7250-9DBB62A989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BC220605-4DBB-DF4E-9CC4-96C39C6C6D53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3E6BFA-1090-FEF3-872D-205A238665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131BE1-462C-A097-C147-1E4E05F1DA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anose="020F0502020204030204" pitchFamily="34" charset="0"/>
              </a:defRPr>
            </a:lvl1pPr>
          </a:lstStyle>
          <a:p>
            <a:fld id="{19A3D0F6-852F-4B43-9651-BB587EDAB407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8CCD0-EF25-3942-8C33-2BD3D65250EE}" type="datetimeFigureOut">
              <a:rPr lang="pt-BR" smtClean="0"/>
              <a:t>05/03/2026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745C4-209D-704B-82B8-5D4D2F0B27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801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ço Reservado para Imagem de Slide 1">
            <a:extLst>
              <a:ext uri="{FF2B5EF4-FFF2-40B4-BE49-F238E27FC236}">
                <a16:creationId xmlns:a16="http://schemas.microsoft.com/office/drawing/2014/main" id="{7FE097CB-8E29-C449-BA87-8D8431CFC7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Espaço Reservado para Anotações 2">
            <a:extLst>
              <a:ext uri="{FF2B5EF4-FFF2-40B4-BE49-F238E27FC236}">
                <a16:creationId xmlns:a16="http://schemas.microsoft.com/office/drawing/2014/main" id="{E5B77753-3304-EB43-971A-B5E65A256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76804" name="Espaço Reservado para Número de Slide 3">
            <a:extLst>
              <a:ext uri="{FF2B5EF4-FFF2-40B4-BE49-F238E27FC236}">
                <a16:creationId xmlns:a16="http://schemas.microsoft.com/office/drawing/2014/main" id="{192D1CC7-A358-6E42-87AD-9380DEED4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CC00A79-619F-D14F-80BC-930921346A21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23707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ço Reservado para Imagem de Slide 1">
            <a:extLst>
              <a:ext uri="{FF2B5EF4-FFF2-40B4-BE49-F238E27FC236}">
                <a16:creationId xmlns:a16="http://schemas.microsoft.com/office/drawing/2014/main" id="{CCE12B6A-CB4D-614F-B509-FECF4B6B67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Espaço Reservado para Anotações 2">
            <a:extLst>
              <a:ext uri="{FF2B5EF4-FFF2-40B4-BE49-F238E27FC236}">
                <a16:creationId xmlns:a16="http://schemas.microsoft.com/office/drawing/2014/main" id="{0E260D77-68CE-9C48-AB61-CFF686DC5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78852" name="Espaço Reservado para Número de Slide 3">
            <a:extLst>
              <a:ext uri="{FF2B5EF4-FFF2-40B4-BE49-F238E27FC236}">
                <a16:creationId xmlns:a16="http://schemas.microsoft.com/office/drawing/2014/main" id="{5BE925A7-5502-D44E-B869-DFD629C8E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F4BC5BA-3BFB-3E4C-9D7E-A3E35B147FA7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98161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ço Reservado para Imagem de Slide 1">
            <a:extLst>
              <a:ext uri="{FF2B5EF4-FFF2-40B4-BE49-F238E27FC236}">
                <a16:creationId xmlns:a16="http://schemas.microsoft.com/office/drawing/2014/main" id="{B553B877-8249-CD43-8321-3419D13DA3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Espaço Reservado para Anotações 2">
            <a:extLst>
              <a:ext uri="{FF2B5EF4-FFF2-40B4-BE49-F238E27FC236}">
                <a16:creationId xmlns:a16="http://schemas.microsoft.com/office/drawing/2014/main" id="{FCA9D243-7330-E243-8849-FCD63C74D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80900" name="Espaço Reservado para Número de Slide 3">
            <a:extLst>
              <a:ext uri="{FF2B5EF4-FFF2-40B4-BE49-F238E27FC236}">
                <a16:creationId xmlns:a16="http://schemas.microsoft.com/office/drawing/2014/main" id="{8D9F9E64-E249-494E-840A-DA1FDF879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E72A88-BCE2-E241-80D8-FE2C6B2B62D3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307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ço Reservado para Imagem de Slide 1">
            <a:extLst>
              <a:ext uri="{FF2B5EF4-FFF2-40B4-BE49-F238E27FC236}">
                <a16:creationId xmlns:a16="http://schemas.microsoft.com/office/drawing/2014/main" id="{22E683E9-ABF0-0F45-80F2-F658D65DCD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Espaço Reservado para Anotações 2">
            <a:extLst>
              <a:ext uri="{FF2B5EF4-FFF2-40B4-BE49-F238E27FC236}">
                <a16:creationId xmlns:a16="http://schemas.microsoft.com/office/drawing/2014/main" id="{9F4F9D3C-DB55-F84B-AC41-507992BE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82948" name="Espaço Reservado para Número de Slide 3">
            <a:extLst>
              <a:ext uri="{FF2B5EF4-FFF2-40B4-BE49-F238E27FC236}">
                <a16:creationId xmlns:a16="http://schemas.microsoft.com/office/drawing/2014/main" id="{DE166484-3834-DA4C-B705-4AD5ED823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E31B17-FBAC-4840-B8C7-0E9025463CA8}" type="slidenum">
              <a:rPr lang="pt-BR" altLang="pt-BR"/>
              <a:pPr>
                <a:spcBef>
                  <a:spcPct val="0"/>
                </a:spcBef>
              </a:pPr>
              <a:t>37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ço Reservado para Imagem de Slide 1">
            <a:extLst>
              <a:ext uri="{FF2B5EF4-FFF2-40B4-BE49-F238E27FC236}">
                <a16:creationId xmlns:a16="http://schemas.microsoft.com/office/drawing/2014/main" id="{E9C6B3A1-FE9C-2C40-A040-2F07E50D82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Espaço Reservado para Anotações 2">
            <a:extLst>
              <a:ext uri="{FF2B5EF4-FFF2-40B4-BE49-F238E27FC236}">
                <a16:creationId xmlns:a16="http://schemas.microsoft.com/office/drawing/2014/main" id="{01CF8274-45F7-224D-A896-A273BD302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84996" name="Espaço Reservado para Número de Slide 3">
            <a:extLst>
              <a:ext uri="{FF2B5EF4-FFF2-40B4-BE49-F238E27FC236}">
                <a16:creationId xmlns:a16="http://schemas.microsoft.com/office/drawing/2014/main" id="{EB4CD999-BF5B-2C41-B306-C5C9D2DDA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5EBD2DC-7152-994A-BE9C-71E746433582}" type="slidenum">
              <a:rPr lang="pt-BR" altLang="pt-BR"/>
              <a:pPr>
                <a:spcBef>
                  <a:spcPct val="0"/>
                </a:spcBef>
              </a:pPr>
              <a:t>38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>
            <a:extLst>
              <a:ext uri="{FF2B5EF4-FFF2-40B4-BE49-F238E27FC236}">
                <a16:creationId xmlns:a16="http://schemas.microsoft.com/office/drawing/2014/main" id="{0C6FE467-D7FB-6B43-B17D-6EC9F276DD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Espaço Reservado para Anotações 2">
            <a:extLst>
              <a:ext uri="{FF2B5EF4-FFF2-40B4-BE49-F238E27FC236}">
                <a16:creationId xmlns:a16="http://schemas.microsoft.com/office/drawing/2014/main" id="{4C56AACE-8689-484E-A876-5DE5A0BF7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87044" name="Espaço Reservado para Número de Slide 3">
            <a:extLst>
              <a:ext uri="{FF2B5EF4-FFF2-40B4-BE49-F238E27FC236}">
                <a16:creationId xmlns:a16="http://schemas.microsoft.com/office/drawing/2014/main" id="{10ED730E-4FEE-6B45-BC49-4AE2580A5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AFD39D-3F1E-164C-8BCC-EB789713A198}" type="slidenum">
              <a:rPr lang="pt-BR" altLang="pt-BR"/>
              <a:pPr>
                <a:spcBef>
                  <a:spcPct val="0"/>
                </a:spcBef>
              </a:pPr>
              <a:t>39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2507BCA-0444-5D23-54F8-954948C384BD}"/>
              </a:ext>
            </a:extLst>
          </p:cNvPr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CE2E44B-400F-9CD1-6549-53477E2FF098}"/>
              </a:ext>
            </a:extLst>
          </p:cNvPr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446F14-398D-2940-2C5A-10403B431491}"/>
              </a:ext>
            </a:extLst>
          </p:cNvPr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4F005B-2D72-ADAE-6A95-4201F6DAFB0F}"/>
              </a:ext>
            </a:extLst>
          </p:cNvPr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E9207C-39D1-35CC-4D9D-E87BB4746DCB}"/>
              </a:ext>
            </a:extLst>
          </p:cNvPr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7" name="Retângulo de cantos arredondados 23">
            <a:extLst>
              <a:ext uri="{FF2B5EF4-FFF2-40B4-BE49-F238E27FC236}">
                <a16:creationId xmlns:a16="http://schemas.microsoft.com/office/drawing/2014/main" id="{CA70D7DA-6408-CEEE-5F9E-827276703444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0" name="Retângulo de cantos arredondados 24">
            <a:extLst>
              <a:ext uri="{FF2B5EF4-FFF2-40B4-BE49-F238E27FC236}">
                <a16:creationId xmlns:a16="http://schemas.microsoft.com/office/drawing/2014/main" id="{A9AD336E-BA4F-19BD-5D2E-35B3F8F272CD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7752E2-C87C-F21E-A444-D7EB1A3682CE}"/>
              </a:ext>
            </a:extLst>
          </p:cNvPr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F8F431F-E83E-CF1E-9D4A-5EF1B844D3F9}"/>
              </a:ext>
            </a:extLst>
          </p:cNvPr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F3E731D-6735-61C2-9A54-4E86772C3989}"/>
              </a:ext>
            </a:extLst>
          </p:cNvPr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582FFB5-08F9-C925-633D-8BCF0B3F4851}"/>
              </a:ext>
            </a:extLst>
          </p:cNvPr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5" name="Espaço Reservado para Data 27">
            <a:extLst>
              <a:ext uri="{FF2B5EF4-FFF2-40B4-BE49-F238E27FC236}">
                <a16:creationId xmlns:a16="http://schemas.microsoft.com/office/drawing/2014/main" id="{EBA40812-93BF-2108-78BC-6BCA1CEC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CADB2DB-8400-934E-BAD1-DB3413AA0E3D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16" name="Espaço Reservado para Rodapé 16">
            <a:extLst>
              <a:ext uri="{FF2B5EF4-FFF2-40B4-BE49-F238E27FC236}">
                <a16:creationId xmlns:a16="http://schemas.microsoft.com/office/drawing/2014/main" id="{D49BC8C3-FB92-DEE2-0E5B-F4E2E238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" name="Espaço Reservado para Número de Slide 28">
            <a:extLst>
              <a:ext uri="{FF2B5EF4-FFF2-40B4-BE49-F238E27FC236}">
                <a16:creationId xmlns:a16="http://schemas.microsoft.com/office/drawing/2014/main" id="{FF9B38D4-AB5D-9E30-643D-67B37B3D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B07329-541F-AA43-ABE2-32D06CB701A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5704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0FD364-DE8C-29EC-5294-A074A305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87EC7E07-246A-8543-9F5B-8A1266D69C2C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E4CC37-9329-FFDF-F347-BDE66BD5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764D7E-D1A5-2666-98F6-3439FC3C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B5DE3-CAAD-784D-AB39-2BC3D3FB3E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763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F74D39-2A4F-FD52-8D67-09180644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AFEC7AF-292B-C344-B0F8-FB1A1002C6CF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F39335-E017-C503-75BA-D382A32F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E39A5B-2F4B-0A9A-542A-983EDD8D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AB6B2-66A7-D840-A5F5-7FA82C88CF7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3784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Número de Slide 22">
            <a:extLst>
              <a:ext uri="{FF2B5EF4-FFF2-40B4-BE49-F238E27FC236}">
                <a16:creationId xmlns:a16="http://schemas.microsoft.com/office/drawing/2014/main" id="{FAD6EE90-C2BF-3FC9-AB40-2691932A1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394D055-9DE4-5747-960F-C57DB54AE68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184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25">
            <a:extLst>
              <a:ext uri="{FF2B5EF4-FFF2-40B4-BE49-F238E27FC236}">
                <a16:creationId xmlns:a16="http://schemas.microsoft.com/office/drawing/2014/main" id="{4E1A2D82-260A-A509-97DA-7B6128D6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139702F-7534-3540-AE53-D9D54BD48D12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8" name="Espaço Reservado para Número de Slide 26">
            <a:extLst>
              <a:ext uri="{FF2B5EF4-FFF2-40B4-BE49-F238E27FC236}">
                <a16:creationId xmlns:a16="http://schemas.microsoft.com/office/drawing/2014/main" id="{6E3BD192-66E1-6EFC-7144-98AD17CB0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BB1420-C1DD-B04B-8903-A566FB7AA70C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9" name="Espaço Reservado para Rodapé 27">
            <a:extLst>
              <a:ext uri="{FF2B5EF4-FFF2-40B4-BE49-F238E27FC236}">
                <a16:creationId xmlns:a16="http://schemas.microsoft.com/office/drawing/2014/main" id="{27B86303-90CD-9FF0-D03C-94C6AEA0EA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61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E5C6CB-17D6-D09E-871D-F7790AF2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1559968-AB93-8044-B2BB-5BAC5D779FE1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637716-F8CD-2D83-9E0F-99A55A3A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972927-3C99-6467-B667-9F6E1E83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A1D4AD-DF49-BA49-B9A4-B06B792306C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768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5906EC-711A-1DEB-B41A-FF53BFE6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5C2BFF5-0EA5-7C4F-A901-4B61599B7DDF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2F9800-FA62-01AD-E385-54AFA063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7A415B-B49A-C9B2-B5A7-6CAB888C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8CD5E1-B7A2-B046-8F89-1402ABC79C1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8071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4BFABF-A9EF-9103-537A-BB804EDD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58B6D27-827F-A14E-9A45-D123C5035802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C4259F-0952-9060-0405-E4320A5E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81C7CC-ADC8-D67E-7AD4-CBCCC816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A58B6-EB76-384B-AE46-76CA962CC47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028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611121-1CBE-1EA0-4ED2-324B663D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D209A64-1696-DE41-874F-EE34E40DC17B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DD1CD5-3A56-0D52-8F86-CD3FAE89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2C313A-AAF9-0386-8387-6EA29AC1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20C9A-9F2F-1D4C-BD30-54AE8DDD02F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800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5CDCD2-FE44-B38F-1486-DA081BAC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12E8D0D-9C99-EA4F-9E7D-6881B1E52BF9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D15CAB-643E-CDEF-5504-523DCBCE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BE9B9D-BE47-42D2-4C76-764270BC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2143B-9ADE-D945-9313-473F43334EE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600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99CBA1-B6E2-1797-9E6F-42EBA341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7D57905-275F-D642-B257-56E3151B52DB}" type="datetimeFigureOut">
              <a:rPr lang="pt-BR"/>
              <a:pPr>
                <a:defRPr/>
              </a:pPr>
              <a:t>05/03/2026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A3EC19-77D7-CEEA-3087-C87D309B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29F27B-6BF0-486E-6656-194774FD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DCE19B-F03E-7E44-AABF-8D8CB4EBD07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7274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63B0142F-8D1D-5C24-5B9A-232F18D4EC81}"/>
              </a:ext>
            </a:extLst>
          </p:cNvPr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1C31039-30E2-F3A4-EDAD-3F9105B39390}"/>
              </a:ext>
            </a:extLst>
          </p:cNvPr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182C478-46F6-E980-E6A6-C3E8F9445010}"/>
              </a:ext>
            </a:extLst>
          </p:cNvPr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7E3FD34-A40D-9B4B-B057-4941CFDFE08F}"/>
              </a:ext>
            </a:extLst>
          </p:cNvPr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595B489-301B-588C-23D2-7AEF8CDE287B}"/>
              </a:ext>
            </a:extLst>
          </p:cNvPr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etângulo de cantos arredondados 32">
            <a:extLst>
              <a:ext uri="{FF2B5EF4-FFF2-40B4-BE49-F238E27FC236}">
                <a16:creationId xmlns:a16="http://schemas.microsoft.com/office/drawing/2014/main" id="{CD36398D-CB40-5237-4F19-DADD2CE613C5}"/>
              </a:ext>
            </a:extLst>
          </p:cNvPr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etângulo de cantos arredondados 33">
            <a:extLst>
              <a:ext uri="{FF2B5EF4-FFF2-40B4-BE49-F238E27FC236}">
                <a16:creationId xmlns:a16="http://schemas.microsoft.com/office/drawing/2014/main" id="{23707B48-1C79-87DA-22E5-9DA5C0224BED}"/>
              </a:ext>
            </a:extLst>
          </p:cNvPr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923657D-2FAF-08B9-15AC-F17C861232B0}"/>
              </a:ext>
            </a:extLst>
          </p:cNvPr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B2CCE0B-67B5-9446-7FCF-EE972ECFEDEC}"/>
              </a:ext>
            </a:extLst>
          </p:cNvPr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3CCA247-EBC1-76AC-58FB-69384B97E425}"/>
              </a:ext>
            </a:extLst>
          </p:cNvPr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E66BF33-9513-25A7-BEF0-F15BBCD41AD0}"/>
              </a:ext>
            </a:extLst>
          </p:cNvPr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65293C5-75B7-CBE3-C638-9EBAC0CAE9BE}"/>
              </a:ext>
            </a:extLst>
          </p:cNvPr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E9766B4-E09A-F450-AB5E-95D2F7C95132}"/>
              </a:ext>
            </a:extLst>
          </p:cNvPr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39" name="Espaço Reservado para Título 21">
            <a:extLst>
              <a:ext uri="{FF2B5EF4-FFF2-40B4-BE49-F238E27FC236}">
                <a16:creationId xmlns:a16="http://schemas.microsoft.com/office/drawing/2014/main" id="{C37644B5-9BC3-6073-76D7-BA6D019364C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62071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  <a:endParaRPr lang="en-US" altLang="pt-BR"/>
          </a:p>
        </p:txBody>
      </p:sp>
      <p:sp>
        <p:nvSpPr>
          <p:cNvPr id="1040" name="Espaço Reservado para Texto 12">
            <a:extLst>
              <a:ext uri="{FF2B5EF4-FFF2-40B4-BE49-F238E27FC236}">
                <a16:creationId xmlns:a16="http://schemas.microsoft.com/office/drawing/2014/main" id="{41F1D348-4C57-7D09-01E2-C880950BCE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68313" y="1916113"/>
            <a:ext cx="8218487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23" name="Espaço Reservado para Número de Slide 22">
            <a:extLst>
              <a:ext uri="{FF2B5EF4-FFF2-40B4-BE49-F238E27FC236}">
                <a16:creationId xmlns:a16="http://schemas.microsoft.com/office/drawing/2014/main" id="{E18D7E6C-81F7-1081-BDAC-0CC4AD861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D5326E29-47F5-F443-93A4-2CA913AEBE6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5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2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2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9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25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6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1.wdp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9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-5bYi9XTln4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hyperlink" Target="https://youtu.be/BgoCoGaf5wc?si=6O9DSPfWMIt10OpL" TargetMode="Externa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QzrJqogbzs" TargetMode="External"/><Relationship Id="rId2" Type="http://schemas.openxmlformats.org/officeDocument/2006/relationships/hyperlink" Target="https://parajovens.unesp.br/a-prosodia-da-fala-o-aspecto-musical-e-magico-que-a-fala-apresenta/#:~:text=Essa%20varia%C3%A7%C3%A3o%20em%20pitch%20(termo,significado%20do%20que%20estamos%20dizendo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>
            <a:extLst>
              <a:ext uri="{FF2B5EF4-FFF2-40B4-BE49-F238E27FC236}">
                <a16:creationId xmlns:a16="http://schemas.microsoft.com/office/drawing/2014/main" id="{EFB22C87-9AE0-5D82-0C17-174E24EAA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844824"/>
            <a:ext cx="8458200" cy="1470025"/>
          </a:xfrm>
        </p:spPr>
        <p:txBody>
          <a:bodyPr/>
          <a:lstStyle/>
          <a:p>
            <a:pPr eaLnBrk="1" hangingPunct="1"/>
            <a:r>
              <a:rPr lang="pt-BR" altLang="pt-BR" dirty="0"/>
              <a:t>Encéfalo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O Pensador de Rodin: análise e significado da escultura - Cultura Genial">
            <a:extLst>
              <a:ext uri="{FF2B5EF4-FFF2-40B4-BE49-F238E27FC236}">
                <a16:creationId xmlns:a16="http://schemas.microsoft.com/office/drawing/2014/main" id="{0F109458-9BF0-AC52-85F8-54DF3180C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279969" y="1097360"/>
            <a:ext cx="10972649" cy="57606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O Pensador de Rodin: análise e significado da escultura - Cultura Genial">
            <a:extLst>
              <a:ext uri="{FF2B5EF4-FFF2-40B4-BE49-F238E27FC236}">
                <a16:creationId xmlns:a16="http://schemas.microsoft.com/office/drawing/2014/main" id="{128CD050-C3B6-C239-BC9B-FDBEA3397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180528" y="0"/>
            <a:ext cx="10972649" cy="57606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E9B5F4D-ECF5-8804-7A8D-7B5CE657EDB5}"/>
              </a:ext>
            </a:extLst>
          </p:cNvPr>
          <p:cNvSpPr txBox="1"/>
          <p:nvPr/>
        </p:nvSpPr>
        <p:spPr>
          <a:xfrm>
            <a:off x="6732240" y="81697"/>
            <a:ext cx="31683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</a:rPr>
              <a:t>Encéfalo</a:t>
            </a:r>
          </a:p>
        </p:txBody>
      </p:sp>
    </p:spTree>
    <p:extLst>
      <p:ext uri="{BB962C8B-B14F-4D97-AF65-F5344CB8AC3E}">
        <p14:creationId xmlns:p14="http://schemas.microsoft.com/office/powerpoint/2010/main" val="127318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3">
            <a:extLst>
              <a:ext uri="{FF2B5EF4-FFF2-40B4-BE49-F238E27FC236}">
                <a16:creationId xmlns:a16="http://schemas.microsoft.com/office/drawing/2014/main" id="{25CCEBED-339B-55DF-DD12-B8EC77D9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</a:t>
            </a:r>
          </a:p>
        </p:txBody>
      </p:sp>
      <p:sp>
        <p:nvSpPr>
          <p:cNvPr id="13315" name="Espaço Reservado para Conteúdo 4">
            <a:extLst>
              <a:ext uri="{FF2B5EF4-FFF2-40B4-BE49-F238E27FC236}">
                <a16:creationId xmlns:a16="http://schemas.microsoft.com/office/drawing/2014/main" id="{1C18E2A7-F42A-15C0-5A54-5160D13AE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Peso</a:t>
            </a:r>
            <a:r>
              <a:rPr lang="pt-BR" altLang="pt-BR"/>
              <a:t>: 1300 g – protegido pelos ossos do crânio e meninges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Partes</a:t>
            </a:r>
            <a:r>
              <a:rPr lang="pt-BR" altLang="pt-BR"/>
              <a:t>: </a:t>
            </a:r>
          </a:p>
          <a:p>
            <a:pPr lvl="1" eaLnBrk="1" hangingPunct="1"/>
            <a:r>
              <a:rPr lang="pt-BR" altLang="pt-BR"/>
              <a:t>Telencéfalo, </a:t>
            </a:r>
          </a:p>
          <a:p>
            <a:pPr lvl="1" eaLnBrk="1" hangingPunct="1"/>
            <a:r>
              <a:rPr lang="pt-BR" altLang="pt-BR"/>
              <a:t>Diencéfalo, </a:t>
            </a:r>
          </a:p>
          <a:p>
            <a:pPr lvl="1" eaLnBrk="1" hangingPunct="1"/>
            <a:r>
              <a:rPr lang="pt-BR" altLang="pt-BR"/>
              <a:t>Tronco encefálico </a:t>
            </a:r>
          </a:p>
          <a:p>
            <a:pPr lvl="1" eaLnBrk="1" hangingPunct="1"/>
            <a:r>
              <a:rPr lang="pt-BR" altLang="pt-BR"/>
              <a:t>Cerebelo</a:t>
            </a:r>
          </a:p>
          <a:p>
            <a:pPr eaLnBrk="1" hangingPunct="1"/>
            <a:endParaRPr lang="pt-BR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faculty.irsc.edu/FACULTY/TFischer/AP1/brain%20regions.jpg">
            <a:extLst>
              <a:ext uri="{FF2B5EF4-FFF2-40B4-BE49-F238E27FC236}">
                <a16:creationId xmlns:a16="http://schemas.microsoft.com/office/drawing/2014/main" id="{6791AD44-2674-60ED-B8EE-1BDB5A6A4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1563" y="1714500"/>
            <a:ext cx="7358062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ítulo 4">
            <a:extLst>
              <a:ext uri="{FF2B5EF4-FFF2-40B4-BE49-F238E27FC236}">
                <a16:creationId xmlns:a16="http://schemas.microsoft.com/office/drawing/2014/main" id="{57D0D4E1-9011-3968-8575-22D0853F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620713"/>
            <a:ext cx="8280400" cy="863600"/>
          </a:xfrm>
        </p:spPr>
        <p:txBody>
          <a:bodyPr/>
          <a:lstStyle/>
          <a:p>
            <a:pPr algn="l" eaLnBrk="1" hangingPunct="1"/>
            <a:r>
              <a:rPr lang="pt-BR" altLang="pt-BR"/>
              <a:t>Relações anatômicas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visão do Sistema Nervoso Central | Sistema nervoso, Sistema nervoso  anatomia, Partes do cérebro">
            <a:extLst>
              <a:ext uri="{FF2B5EF4-FFF2-40B4-BE49-F238E27FC236}">
                <a16:creationId xmlns:a16="http://schemas.microsoft.com/office/drawing/2014/main" id="{0FFEEC50-1F59-EB4D-8683-0A9DFB6CA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" y="1543049"/>
            <a:ext cx="8171579" cy="409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02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EEDE9FC0-9B31-0C4F-8BCC-387DDD6DC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2719" y="1235870"/>
            <a:ext cx="5876925" cy="1145381"/>
          </a:xfrm>
        </p:spPr>
        <p:txBody>
          <a:bodyPr/>
          <a:lstStyle/>
          <a:p>
            <a:r>
              <a:rPr lang="pt-BR" altLang="pt-BR" dirty="0"/>
              <a:t>Classificação - SNC</a:t>
            </a:r>
          </a:p>
        </p:txBody>
      </p:sp>
      <p:pic>
        <p:nvPicPr>
          <p:cNvPr id="106500" name="Picture 4">
            <a:extLst>
              <a:ext uri="{FF2B5EF4-FFF2-40B4-BE49-F238E27FC236}">
                <a16:creationId xmlns:a16="http://schemas.microsoft.com/office/drawing/2014/main" id="{7C5AB393-9185-7F44-8E4E-AA42AC320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7" b="12199"/>
          <a:stretch>
            <a:fillRect/>
          </a:stretch>
        </p:blipFill>
        <p:spPr bwMode="auto">
          <a:xfrm>
            <a:off x="2250281" y="1975248"/>
            <a:ext cx="4806554" cy="404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3E9E5F8-4067-F046-B538-C06F5BE01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100" dirty="0"/>
              <a:t> Encéfalo</a:t>
            </a:r>
          </a:p>
        </p:txBody>
      </p:sp>
      <p:pic>
        <p:nvPicPr>
          <p:cNvPr id="13315" name="Picture 3" descr="face medial">
            <a:extLst>
              <a:ext uri="{FF2B5EF4-FFF2-40B4-BE49-F238E27FC236}">
                <a16:creationId xmlns:a16="http://schemas.microsoft.com/office/drawing/2014/main" id="{9943D056-434D-A745-90B3-963BC97C41B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1525" y="1933595"/>
            <a:ext cx="4177904" cy="338611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corte coronal das cavidades ventricularesb">
            <a:extLst>
              <a:ext uri="{FF2B5EF4-FFF2-40B4-BE49-F238E27FC236}">
                <a16:creationId xmlns:a16="http://schemas.microsoft.com/office/drawing/2014/main" id="{D1D2B78C-5DC5-7B48-A3DA-E5B59DECE1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57775" y="1619359"/>
            <a:ext cx="3193256" cy="39158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>
            <a:extLst>
              <a:ext uri="{FF2B5EF4-FFF2-40B4-BE49-F238E27FC236}">
                <a16:creationId xmlns:a16="http://schemas.microsoft.com/office/drawing/2014/main" id="{4C690906-28FE-DE23-8465-4E46F523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</a:t>
            </a:r>
          </a:p>
        </p:txBody>
      </p:sp>
      <p:sp>
        <p:nvSpPr>
          <p:cNvPr id="15363" name="Espaço Reservado para Conteúdo 2">
            <a:extLst>
              <a:ext uri="{FF2B5EF4-FFF2-40B4-BE49-F238E27FC236}">
                <a16:creationId xmlns:a16="http://schemas.microsoft.com/office/drawing/2014/main" id="{D03DB68F-34C0-2C10-9867-511591243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Hemisférios</a:t>
            </a:r>
            <a:r>
              <a:rPr lang="pt-BR" altLang="pt-BR"/>
              <a:t>: direito e esquerdo</a:t>
            </a:r>
          </a:p>
          <a:p>
            <a:pPr lvl="1" eaLnBrk="1" hangingPunct="1"/>
            <a:r>
              <a:rPr lang="pt-BR" altLang="pt-BR" b="1"/>
              <a:t>Corpo caloso</a:t>
            </a:r>
            <a:r>
              <a:rPr lang="pt-BR" altLang="pt-BR"/>
              <a:t>: conecta os hemisférios cerebrais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Sulcos</a:t>
            </a:r>
            <a:r>
              <a:rPr lang="pt-BR" altLang="pt-BR"/>
              <a:t>: pregas rasas entre as dobras do córtex cerebral (reentrâncias que delimitam os giros ou circunvoluções)</a:t>
            </a:r>
          </a:p>
          <a:p>
            <a:pPr lvl="1" eaLnBrk="1" hangingPunct="1"/>
            <a:r>
              <a:rPr lang="pt-BR" altLang="pt-BR" b="1"/>
              <a:t>Sulco central</a:t>
            </a:r>
            <a:r>
              <a:rPr lang="pt-BR" altLang="pt-BR"/>
              <a:t>: separa lobo frontal e parietal</a:t>
            </a:r>
          </a:p>
          <a:p>
            <a:pPr lvl="1" eaLnBrk="1" hangingPunct="1"/>
            <a:r>
              <a:rPr lang="pt-BR" altLang="pt-BR" b="1"/>
              <a:t>Sulco lateral: </a:t>
            </a:r>
            <a:r>
              <a:rPr lang="pt-BR" altLang="pt-BR"/>
              <a:t>separa lobo frontal e temporal</a:t>
            </a:r>
          </a:p>
          <a:p>
            <a:pPr lvl="1" eaLnBrk="1" hangingPunct="1"/>
            <a:r>
              <a:rPr lang="pt-BR" altLang="pt-BR" b="1"/>
              <a:t>Sulco parieto-occipital</a:t>
            </a:r>
            <a:r>
              <a:rPr lang="pt-BR" altLang="pt-BR"/>
              <a:t>: separa lobo parietal e occipital</a:t>
            </a:r>
          </a:p>
          <a:p>
            <a:pPr eaLnBrk="1" hangingPunct="1"/>
            <a:endParaRPr lang="pt-BR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B9D4CD26-8891-A401-B8AF-F8EF8E607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0825" y="1052513"/>
            <a:ext cx="8494713" cy="537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CB74B7-54C0-8548-A590-3F7C7F79A83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solidFill>
                  <a:schemeClr val="tx2">
                    <a:satMod val="200000"/>
                  </a:schemeClr>
                </a:solidFill>
              </a:rPr>
              <a:t>Fissura longitudinal do cérebro 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5D12224-CA09-8842-89B6-78DABC7BE9C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É uma depressão profunda que se estende até o corpo caloso, na região central do cérebro. Ela se dirige anterior e posteriormente, dividindo o cérebro em hemisférico direito e esquerdo. Cada hemisfério é posteriormente dividido em um lobo frontal e um lobo parietal.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94544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4" descr="fissura">
            <a:extLst>
              <a:ext uri="{FF2B5EF4-FFF2-40B4-BE49-F238E27FC236}">
                <a16:creationId xmlns:a16="http://schemas.microsoft.com/office/drawing/2014/main" id="{C4762985-6740-D441-B684-1CEFC808AF9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620" y="767955"/>
            <a:ext cx="6426994" cy="502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A742A2A-C7DF-9244-9AF7-F846FA89806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388402" y="1591056"/>
            <a:ext cx="3765887" cy="3652843"/>
          </a:xfrm>
        </p:spPr>
        <p:txBody>
          <a:bodyPr/>
          <a:lstStyle/>
          <a:p>
            <a:pPr>
              <a:defRPr/>
            </a:pPr>
            <a:r>
              <a:rPr lang="pt-BR" dirty="0">
                <a:solidFill>
                  <a:schemeClr val="tx2">
                    <a:satMod val="200000"/>
                  </a:schemeClr>
                </a:solidFill>
              </a:rPr>
              <a:t>Fissura longitudinal do cérebro 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C2EF0880-EDB5-CE40-AC64-213124DF79AF}"/>
              </a:ext>
            </a:extLst>
          </p:cNvPr>
          <p:cNvCxnSpPr/>
          <p:nvPr/>
        </p:nvCxnSpPr>
        <p:spPr>
          <a:xfrm flipV="1">
            <a:off x="2346723" y="2989660"/>
            <a:ext cx="3825478" cy="11894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5927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BC27783B-F7E9-7346-9080-88DFD118D64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235745" y="1371600"/>
            <a:ext cx="2475309" cy="4114800"/>
          </a:xfrm>
        </p:spPr>
        <p:txBody>
          <a:bodyPr/>
          <a:lstStyle/>
          <a:p>
            <a:pPr eaLnBrk="1" hangingPunct="1"/>
            <a:r>
              <a:rPr lang="pt-BR" altLang="pt-BR" dirty="0"/>
              <a:t>Dois giros se situam paralelamente ao sulco central: um anterior a ele:</a:t>
            </a:r>
          </a:p>
          <a:p>
            <a:pPr eaLnBrk="1" hangingPunct="1"/>
            <a:r>
              <a:rPr lang="pt-BR" altLang="pt-BR" dirty="0"/>
              <a:t> o giro </a:t>
            </a:r>
            <a:r>
              <a:rPr lang="pt-BR" altLang="pt-BR" dirty="0" err="1"/>
              <a:t>pré-cental</a:t>
            </a:r>
            <a:r>
              <a:rPr lang="pt-BR" altLang="pt-BR" dirty="0"/>
              <a:t>, </a:t>
            </a:r>
          </a:p>
          <a:p>
            <a:pPr eaLnBrk="1" hangingPunct="1"/>
            <a:r>
              <a:rPr lang="pt-BR" altLang="pt-BR" dirty="0"/>
              <a:t>e outro posterior, o giro pós-central. </a:t>
            </a:r>
          </a:p>
        </p:txBody>
      </p:sp>
      <p:pic>
        <p:nvPicPr>
          <p:cNvPr id="46082" name="Picture 2" descr="sulcos e giros - Neuroanatomia">
            <a:extLst>
              <a:ext uri="{FF2B5EF4-FFF2-40B4-BE49-F238E27FC236}">
                <a16:creationId xmlns:a16="http://schemas.microsoft.com/office/drawing/2014/main" id="{F38B233A-CC30-B148-8D60-D4CBCAAD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840" y="1128068"/>
            <a:ext cx="6129416" cy="460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392618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4" name="Picture 4">
            <a:extLst>
              <a:ext uri="{FF2B5EF4-FFF2-40B4-BE49-F238E27FC236}">
                <a16:creationId xmlns:a16="http://schemas.microsoft.com/office/drawing/2014/main" id="{BD81D32F-E108-1044-86DD-A6419F71F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4214"/>
            <a:ext cx="7344816" cy="636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>
            <a:extLst>
              <a:ext uri="{FF2B5EF4-FFF2-40B4-BE49-F238E27FC236}">
                <a16:creationId xmlns:a16="http://schemas.microsoft.com/office/drawing/2014/main" id="{99C70D31-FE1B-F050-9501-44FEA005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7AEF56-1CE3-BE37-07AF-B0472A5BA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Fissuras</a:t>
            </a:r>
            <a:r>
              <a:rPr lang="pt-BR" dirty="0"/>
              <a:t>: pregas mais profundas entre as dobras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pt-BR" b="1" dirty="0"/>
              <a:t>Fissura lateral </a:t>
            </a:r>
            <a:r>
              <a:rPr lang="pt-BR" dirty="0"/>
              <a:t>(</a:t>
            </a:r>
            <a:r>
              <a:rPr lang="pt-BR" dirty="0" err="1"/>
              <a:t>Sylvius</a:t>
            </a:r>
            <a:r>
              <a:rPr lang="pt-BR" dirty="0"/>
              <a:t>)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pt-BR" b="1" dirty="0"/>
              <a:t>Fissura longitudinal</a:t>
            </a:r>
            <a:r>
              <a:rPr lang="pt-BR" dirty="0"/>
              <a:t>: separa os hemisférios cerebrais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endParaRPr lang="pt-BR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Giros</a:t>
            </a:r>
            <a:r>
              <a:rPr lang="pt-BR" dirty="0"/>
              <a:t>: dobras da região cortical sobre si mesma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pt-BR" b="1" dirty="0"/>
              <a:t>Giro pré-central</a:t>
            </a:r>
            <a:r>
              <a:rPr lang="pt-BR" dirty="0"/>
              <a:t>: área motora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pt-BR" b="1" dirty="0"/>
              <a:t>Giro pós-central</a:t>
            </a:r>
            <a:r>
              <a:rPr lang="pt-BR" dirty="0"/>
              <a:t>: área sensorial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pt-BR" b="1" dirty="0"/>
              <a:t>Giros frontais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pt-BR" b="1" dirty="0"/>
              <a:t>Giros temporais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6CE13EED-1C09-736D-BA9A-2D703A3AE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950" y="26988"/>
            <a:ext cx="8931275" cy="678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3AFB4FF4-56F6-7020-2A19-25A105F92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6738" y="466725"/>
            <a:ext cx="8253412" cy="605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AAA6E686-DE2A-64F2-8D1B-F4D86374E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350" y="1071563"/>
            <a:ext cx="8704263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C8AD70DA-B97A-FCC7-45F3-291D1502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</a:t>
            </a:r>
          </a:p>
        </p:txBody>
      </p:sp>
      <p:sp>
        <p:nvSpPr>
          <p:cNvPr id="21507" name="Espaço Reservado para Conteúdo 2">
            <a:extLst>
              <a:ext uri="{FF2B5EF4-FFF2-40B4-BE49-F238E27FC236}">
                <a16:creationId xmlns:a16="http://schemas.microsoft.com/office/drawing/2014/main" id="{29BC4E08-C991-69CE-8332-2242B55D4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Lobos cerebrais </a:t>
            </a:r>
            <a:r>
              <a:rPr lang="pt-BR" altLang="pt-BR"/>
              <a:t>– 4 lobos</a:t>
            </a:r>
          </a:p>
          <a:p>
            <a:pPr lvl="1" eaLnBrk="1" hangingPunct="1"/>
            <a:endParaRPr lang="pt-BR" altLang="pt-BR" b="1"/>
          </a:p>
          <a:p>
            <a:pPr lvl="1" eaLnBrk="1" hangingPunct="1"/>
            <a:r>
              <a:rPr lang="pt-BR" altLang="pt-BR" b="1"/>
              <a:t>Lobo frontal</a:t>
            </a:r>
          </a:p>
          <a:p>
            <a:pPr lvl="1" eaLnBrk="1" hangingPunct="1"/>
            <a:r>
              <a:rPr lang="pt-BR" altLang="pt-BR" b="1"/>
              <a:t>Lobo parietal</a:t>
            </a:r>
          </a:p>
          <a:p>
            <a:pPr lvl="1" eaLnBrk="1" hangingPunct="1"/>
            <a:r>
              <a:rPr lang="pt-BR" altLang="pt-BR" b="1"/>
              <a:t>Lobo temporal</a:t>
            </a:r>
          </a:p>
          <a:p>
            <a:pPr lvl="1" eaLnBrk="1" hangingPunct="1"/>
            <a:r>
              <a:rPr lang="pt-BR" altLang="pt-BR" b="1"/>
              <a:t>Lobo occipital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Cérebro - Toda Matéria">
            <a:extLst>
              <a:ext uri="{FF2B5EF4-FFF2-40B4-BE49-F238E27FC236}">
                <a16:creationId xmlns:a16="http://schemas.microsoft.com/office/drawing/2014/main" id="{DFE57227-B726-9E41-B7D2-75E2F8D3B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0550"/>
            <a:ext cx="7560840" cy="664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19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Documents and Settings\Viviane\Meus documentos\Imagens\loboscerebrais.jpg">
            <a:extLst>
              <a:ext uri="{FF2B5EF4-FFF2-40B4-BE49-F238E27FC236}">
                <a16:creationId xmlns:a16="http://schemas.microsoft.com/office/drawing/2014/main" id="{1340FDA2-8523-9184-9373-FFAF794B7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9250" y="900113"/>
            <a:ext cx="8470900" cy="5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>
            <a:extLst>
              <a:ext uri="{FF2B5EF4-FFF2-40B4-BE49-F238E27FC236}">
                <a16:creationId xmlns:a16="http://schemas.microsoft.com/office/drawing/2014/main" id="{38E32C1C-6396-49F4-1C5B-97C56649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Lobo Frontal</a:t>
            </a:r>
          </a:p>
        </p:txBody>
      </p:sp>
      <p:sp>
        <p:nvSpPr>
          <p:cNvPr id="23555" name="Espaço Reservado para Conteúdo 2">
            <a:extLst>
              <a:ext uri="{FF2B5EF4-FFF2-40B4-BE49-F238E27FC236}">
                <a16:creationId xmlns:a16="http://schemas.microsoft.com/office/drawing/2014/main" id="{75B7CE49-AC5E-9050-48A5-C623529B5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Motor</a:t>
            </a:r>
            <a:r>
              <a:rPr lang="pt-BR" altLang="pt-BR"/>
              <a:t> – à frente do sulco central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Funções intelectuais </a:t>
            </a:r>
            <a:r>
              <a:rPr lang="pt-BR" altLang="pt-BR"/>
              <a:t>( elaboração do pensamento, planejamento, agressão, comportamento sexual, olfação)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Movimentos Voluntários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Fala</a:t>
            </a:r>
            <a:r>
              <a:rPr lang="pt-BR" altLang="pt-BR"/>
              <a:t> (área de Broca – afasia motora)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EBE2-E9F8-C245-B68F-88AEFCF7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783645CD-86E6-A139-D568-51B148C70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44450"/>
            <a:ext cx="8569325" cy="66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829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>
            <a:extLst>
              <a:ext uri="{FF2B5EF4-FFF2-40B4-BE49-F238E27FC236}">
                <a16:creationId xmlns:a16="http://schemas.microsoft.com/office/drawing/2014/main" id="{288E57D1-E5EE-895A-AF76-8354ECDB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Lobo Parietal</a:t>
            </a:r>
          </a:p>
        </p:txBody>
      </p:sp>
      <p:sp>
        <p:nvSpPr>
          <p:cNvPr id="24579" name="Espaço Reservado para Conteúdo 2">
            <a:extLst>
              <a:ext uri="{FF2B5EF4-FFF2-40B4-BE49-F238E27FC236}">
                <a16:creationId xmlns:a16="http://schemas.microsoft.com/office/drawing/2014/main" id="{07679455-22CF-75F3-4F84-A7E2E535B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Sensitivo</a:t>
            </a:r>
            <a:r>
              <a:rPr lang="pt-BR" altLang="pt-BR"/>
              <a:t> – atrás do sulco central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Percepção sensorial</a:t>
            </a:r>
            <a:r>
              <a:rPr lang="pt-BR" altLang="pt-BR"/>
              <a:t>: dor, tato, gustação, temperatura, pressão; imagem corporal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Lógica matemática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Linguagem</a:t>
            </a:r>
            <a:r>
              <a:rPr lang="pt-BR" altLang="pt-BR"/>
              <a:t> (área de Wernicke – afasia sensorial)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>
            <a:extLst>
              <a:ext uri="{FF2B5EF4-FFF2-40B4-BE49-F238E27FC236}">
                <a16:creationId xmlns:a16="http://schemas.microsoft.com/office/drawing/2014/main" id="{DA8EF1A6-375C-E705-DD24-3FDAAF08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Lobo Temporal</a:t>
            </a:r>
          </a:p>
        </p:txBody>
      </p:sp>
      <p:sp>
        <p:nvSpPr>
          <p:cNvPr id="25603" name="Espaço Reservado para Conteúdo 2">
            <a:extLst>
              <a:ext uri="{FF2B5EF4-FFF2-40B4-BE49-F238E27FC236}">
                <a16:creationId xmlns:a16="http://schemas.microsoft.com/office/drawing/2014/main" id="{F4C76C0B-B2D7-4540-0708-348FF9D45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Auditivo</a:t>
            </a:r>
            <a:r>
              <a:rPr lang="pt-BR" altLang="pt-BR"/>
              <a:t> – Abaixo da Fissura lateral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Discriminação de sons e interpretação da linguagem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Parte límbica</a:t>
            </a:r>
            <a:r>
              <a:rPr lang="pt-BR" altLang="pt-BR"/>
              <a:t>: emoções (amor, raiva, agressão, comportamento sexual)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Área de processamento da memória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>
            <a:extLst>
              <a:ext uri="{FF2B5EF4-FFF2-40B4-BE49-F238E27FC236}">
                <a16:creationId xmlns:a16="http://schemas.microsoft.com/office/drawing/2014/main" id="{D30AE48D-D364-4FA9-DA4F-4EEF6AC7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Lobo Occipital</a:t>
            </a:r>
          </a:p>
        </p:txBody>
      </p:sp>
      <p:sp>
        <p:nvSpPr>
          <p:cNvPr id="26627" name="Espaço Reservado para Conteúdo 2">
            <a:extLst>
              <a:ext uri="{FF2B5EF4-FFF2-40B4-BE49-F238E27FC236}">
                <a16:creationId xmlns:a16="http://schemas.microsoft.com/office/drawing/2014/main" id="{3FD6ECDC-35E4-936A-BD18-9718FC85F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Visão – </a:t>
            </a:r>
            <a:r>
              <a:rPr lang="pt-BR" altLang="pt-BR"/>
              <a:t>sensorial 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Recepção, interpretação e discriminação de estímulos visuais</a:t>
            </a:r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/>
          </a:p>
          <a:p>
            <a:pPr marL="623888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/>
              <a:t>Associação dos impulsos visuais com outras áreas corticais </a:t>
            </a:r>
            <a:r>
              <a:rPr lang="pt-BR" altLang="pt-BR"/>
              <a:t>(ex.: memória)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8E81FD2F-58FA-A6FF-2025-E4F274A6B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44450"/>
            <a:ext cx="8569325" cy="66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neuroanatomia simplificada - Neuroanatomia e Neurofisiologia">
            <a:extLst>
              <a:ext uri="{FF2B5EF4-FFF2-40B4-BE49-F238E27FC236}">
                <a16:creationId xmlns:a16="http://schemas.microsoft.com/office/drawing/2014/main" id="{49473479-262B-1248-A8C1-6C4DC49B1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003" y="942975"/>
            <a:ext cx="6718697" cy="503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550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>
            <a:extLst>
              <a:ext uri="{FF2B5EF4-FFF2-40B4-BE49-F238E27FC236}">
                <a16:creationId xmlns:a16="http://schemas.microsoft.com/office/drawing/2014/main" id="{D1BE5C40-8101-0E69-2531-4CDB6D06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- Telencéfalo</a:t>
            </a:r>
          </a:p>
        </p:txBody>
      </p:sp>
      <p:sp>
        <p:nvSpPr>
          <p:cNvPr id="28675" name="Espaço Reservado para Conteúdo 2">
            <a:extLst>
              <a:ext uri="{FF2B5EF4-FFF2-40B4-BE49-F238E27FC236}">
                <a16:creationId xmlns:a16="http://schemas.microsoft.com/office/drawing/2014/main" id="{D9F1DBB2-877B-5C04-67B5-55CF7C04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Telencéfalo</a:t>
            </a:r>
            <a:r>
              <a:rPr lang="pt-BR" altLang="pt-BR"/>
              <a:t> = cérebro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É a maior parte da massa do encéfalo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Está apoiado sobre o diencéfalo e tronco encefálico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É a “sede da inteligência” </a:t>
            </a:r>
            <a:r>
              <a:rPr lang="pt-BR" altLang="pt-BR"/>
              <a:t>– capacidade de ler, escrever e falar; fazer cálculos, compor música, lembrar do passado, planejar o futuro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EE902482-70C3-1534-D1DF-21611169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Telencéfalo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F8287C-C3AD-388B-9435-A310A7B3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Possui uma camada superficial de substância cinzenta </a:t>
            </a:r>
            <a:r>
              <a:rPr lang="pt-BR" dirty="0"/>
              <a:t>= córtex cerebral (2 a 4 mm de espessura)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endParaRPr lang="pt-BR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Possui substância branca subjacente ao córtex </a:t>
            </a:r>
            <a:r>
              <a:rPr lang="pt-BR" dirty="0"/>
              <a:t>– fibras nervosas mielínicas e </a:t>
            </a:r>
            <a:r>
              <a:rPr lang="pt-BR" dirty="0" err="1"/>
              <a:t>amielínicas</a:t>
            </a:r>
            <a:endParaRPr lang="pt-B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E16E9A08-6630-CBE4-8ACE-468C7BBBF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8663">
            <a:off x="6797739" y="4031282"/>
            <a:ext cx="2206506" cy="2206506"/>
          </a:xfrm>
          <a:prstGeom prst="rect">
            <a:avLst/>
          </a:prstGeom>
        </p:spPr>
      </p:pic>
      <p:pic>
        <p:nvPicPr>
          <p:cNvPr id="65538" name="Picture 2">
            <a:extLst>
              <a:ext uri="{FF2B5EF4-FFF2-40B4-BE49-F238E27FC236}">
                <a16:creationId xmlns:a16="http://schemas.microsoft.com/office/drawing/2014/main" id="{769EF3BB-F56F-5221-114A-3E62C8E9E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6632"/>
            <a:ext cx="3594100" cy="35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0" name="Picture 4" descr="Substância branca – Wikipédia, a enciclopédia livre">
            <a:extLst>
              <a:ext uri="{FF2B5EF4-FFF2-40B4-BE49-F238E27FC236}">
                <a16:creationId xmlns:a16="http://schemas.microsoft.com/office/drawing/2014/main" id="{49CE8881-877B-C62A-92AA-E6232848E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797" y="149357"/>
            <a:ext cx="4418477" cy="305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2" name="Picture 6" descr="🤯🧠| Este é um corte transversal da sua medula espinhal 🤯🧠 Uma  fascinante estrutura em forma de borboleta pode ser vista: a substância  rosácea (onde os sinais nervosos são processados) cercada pela">
            <a:extLst>
              <a:ext uri="{FF2B5EF4-FFF2-40B4-BE49-F238E27FC236}">
                <a16:creationId xmlns:a16="http://schemas.microsoft.com/office/drawing/2014/main" id="{FB4FA154-33F7-62E8-1876-615005305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608478"/>
            <a:ext cx="5465861" cy="306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7DEB1F9-D690-9D60-8F31-FBB6EC2D57AA}"/>
              </a:ext>
            </a:extLst>
          </p:cNvPr>
          <p:cNvSpPr txBox="1"/>
          <p:nvPr/>
        </p:nvSpPr>
        <p:spPr>
          <a:xfrm>
            <a:off x="244773" y="6663327"/>
            <a:ext cx="56166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/>
              <a:t>https://</a:t>
            </a:r>
            <a:r>
              <a:rPr lang="pt-BR" sz="600" dirty="0" err="1"/>
              <a:t>www.facebook.com</a:t>
            </a:r>
            <a:r>
              <a:rPr lang="pt-BR" sz="600" dirty="0"/>
              <a:t>/</a:t>
            </a:r>
            <a:r>
              <a:rPr lang="pt-BR" sz="600" dirty="0" err="1"/>
              <a:t>ofisiconerd</a:t>
            </a:r>
            <a:r>
              <a:rPr lang="pt-BR" sz="600" dirty="0"/>
              <a:t>/posts/-este-%C3%A9-um-corte-transversal-da-sua-medula-espinhal-uma-fascinante-estrutura-em-/1212922477304963/</a:t>
            </a:r>
          </a:p>
        </p:txBody>
      </p:sp>
    </p:spTree>
    <p:extLst>
      <p:ext uri="{BB962C8B-B14F-4D97-AF65-F5344CB8AC3E}">
        <p14:creationId xmlns:p14="http://schemas.microsoft.com/office/powerpoint/2010/main" val="3505281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>
            <a:extLst>
              <a:ext uri="{FF2B5EF4-FFF2-40B4-BE49-F238E27FC236}">
                <a16:creationId xmlns:a16="http://schemas.microsoft.com/office/drawing/2014/main" id="{6FAE287A-9024-4C23-F4FC-83780E79C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9113" y="1700213"/>
            <a:ext cx="5519737" cy="471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ítulo 5">
            <a:extLst>
              <a:ext uri="{FF2B5EF4-FFF2-40B4-BE49-F238E27FC236}">
                <a16:creationId xmlns:a16="http://schemas.microsoft.com/office/drawing/2014/main" id="{B69040C8-4414-3C53-AFC9-A145208E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549275"/>
            <a:ext cx="8229600" cy="1069975"/>
          </a:xfrm>
        </p:spPr>
        <p:txBody>
          <a:bodyPr/>
          <a:lstStyle/>
          <a:p>
            <a:pPr eaLnBrk="1" hangingPunct="1"/>
            <a:r>
              <a:rPr lang="pt-BR" altLang="pt-BR"/>
              <a:t>Camadas do córtex cerebral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EB69D5F-A403-0642-8389-F19142659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1720" y="980728"/>
            <a:ext cx="4608173" cy="1450629"/>
          </a:xfrm>
        </p:spPr>
        <p:txBody>
          <a:bodyPr>
            <a:normAutofit/>
          </a:bodyPr>
          <a:lstStyle/>
          <a:p>
            <a:r>
              <a:rPr lang="pt-BR" altLang="pt-BR" dirty="0"/>
              <a:t>Níveis funcionais do SNC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C01AD7A-6F64-0A41-ABA0-6B85B72EF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640" y="2708920"/>
            <a:ext cx="7056784" cy="30243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pt-BR" altLang="pt-BR" sz="2000" dirty="0"/>
              <a:t>Nível Encefálico Superior (Cortical):</a:t>
            </a:r>
          </a:p>
          <a:p>
            <a:pPr lvl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pt-BR" altLang="pt-BR" sz="2000" dirty="0"/>
              <a:t>Nunca funciona sozinho, está em associação com níveis inferiores.</a:t>
            </a:r>
          </a:p>
          <a:p>
            <a:pPr lvl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pt-BR" altLang="pt-BR" sz="2000" dirty="0"/>
              <a:t>Central de armazenamento de informações.</a:t>
            </a:r>
          </a:p>
          <a:p>
            <a:pPr lvl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pt-BR" altLang="pt-BR" sz="2000" dirty="0"/>
              <a:t>Proporciona uma melhor definição e precisão das respostas.</a:t>
            </a:r>
          </a:p>
          <a:p>
            <a:pPr lvl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</a:pPr>
            <a:r>
              <a:rPr lang="pt-BR" altLang="pt-BR" sz="2000" dirty="0"/>
              <a:t>Coordena o pensamento.</a:t>
            </a:r>
          </a:p>
        </p:txBody>
      </p:sp>
    </p:spTree>
    <p:extLst>
      <p:ext uri="{BB962C8B-B14F-4D97-AF65-F5344CB8AC3E}">
        <p14:creationId xmlns:p14="http://schemas.microsoft.com/office/powerpoint/2010/main" val="2853927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>
            <a:extLst>
              <a:ext uri="{FF2B5EF4-FFF2-40B4-BE49-F238E27FC236}">
                <a16:creationId xmlns:a16="http://schemas.microsoft.com/office/drawing/2014/main" id="{4FDD5994-7911-FE4C-1B11-6A64972F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Telencéfalo </a:t>
            </a:r>
          </a:p>
        </p:txBody>
      </p:sp>
      <p:sp>
        <p:nvSpPr>
          <p:cNvPr id="31747" name="Espaço Reservado para Conteúdo 2">
            <a:extLst>
              <a:ext uri="{FF2B5EF4-FFF2-40B4-BE49-F238E27FC236}">
                <a16:creationId xmlns:a16="http://schemas.microsoft.com/office/drawing/2014/main" id="{5A382F24-830B-5CDB-CB46-595C6F217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b="1" dirty="0"/>
              <a:t>Áreas Motoras e Sensoriais </a:t>
            </a:r>
            <a:r>
              <a:rPr lang="pt-BR" altLang="pt-BR" dirty="0"/>
              <a:t>– representação do corpo</a:t>
            </a:r>
          </a:p>
          <a:p>
            <a:pPr marL="925513" lvl="1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 dirty="0"/>
              <a:t>Áreas Motoras primárias: </a:t>
            </a:r>
            <a:r>
              <a:rPr lang="pt-BR" altLang="pt-BR" dirty="0"/>
              <a:t>conexões com músculos – movimentos</a:t>
            </a:r>
          </a:p>
          <a:p>
            <a:pPr marL="925513" lvl="1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 dirty="0"/>
          </a:p>
          <a:p>
            <a:pPr marL="925513" lvl="1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 dirty="0"/>
              <a:t>Áreas Sensoriais primárias: </a:t>
            </a:r>
            <a:r>
              <a:rPr lang="pt-BR" altLang="pt-BR" dirty="0"/>
              <a:t>sensações</a:t>
            </a:r>
          </a:p>
          <a:p>
            <a:pPr marL="925513" lvl="1" indent="-514350" eaLnBrk="1" hangingPunct="1">
              <a:buFont typeface="Trebuchet MS" panose="020B0703020202090204" pitchFamily="34" charset="0"/>
              <a:buAutoNum type="arabicParenR"/>
            </a:pPr>
            <a:endParaRPr lang="pt-BR" altLang="pt-BR" dirty="0"/>
          </a:p>
          <a:p>
            <a:pPr marL="925513" lvl="1" indent="-514350" eaLnBrk="1" hangingPunct="1">
              <a:buFont typeface="Trebuchet MS" panose="020B0703020202090204" pitchFamily="34" charset="0"/>
              <a:buAutoNum type="arabicParenR"/>
            </a:pPr>
            <a:r>
              <a:rPr lang="pt-BR" altLang="pt-BR" b="1" dirty="0"/>
              <a:t>Áreas Secundárias</a:t>
            </a:r>
            <a:r>
              <a:rPr lang="pt-BR" altLang="pt-BR" dirty="0"/>
              <a:t>: conferem sentido às funções primárias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MATADOR DE IDIOTAS: Cérebro">
            <a:extLst>
              <a:ext uri="{FF2B5EF4-FFF2-40B4-BE49-F238E27FC236}">
                <a16:creationId xmlns:a16="http://schemas.microsoft.com/office/drawing/2014/main" id="{EA279C41-2B80-E443-9F57-B31BBD00D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634"/>
            <a:ext cx="8712968" cy="653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173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areasdocerebro">
            <a:extLst>
              <a:ext uri="{FF2B5EF4-FFF2-40B4-BE49-F238E27FC236}">
                <a16:creationId xmlns:a16="http://schemas.microsoft.com/office/drawing/2014/main" id="{4BB3E833-2E52-D649-B53A-F72A3CA3EA71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1472"/>
            <a:ext cx="8784976" cy="66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1148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6D559AD-406E-994B-978C-0498EC6DA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Córtex Motor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07E1568F-4A93-BF4E-87BB-DBD0D1B95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2060848"/>
            <a:ext cx="7776863" cy="3618309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  <a:spcBef>
                <a:spcPct val="25000"/>
              </a:spcBef>
              <a:spcAft>
                <a:spcPct val="10000"/>
              </a:spcAft>
            </a:pPr>
            <a:r>
              <a:rPr lang="pt-BR" altLang="pt-BR" sz="2000" b="1" dirty="0"/>
              <a:t>Córtex Motor Primário:</a:t>
            </a:r>
            <a:r>
              <a:rPr lang="pt-BR" altLang="pt-BR" sz="2000" dirty="0"/>
              <a:t> conexões com músculos – movimentos ; controle do músculo da fala e das mãos.</a:t>
            </a:r>
          </a:p>
          <a:p>
            <a:pPr>
              <a:lnSpc>
                <a:spcPct val="105000"/>
              </a:lnSpc>
              <a:spcBef>
                <a:spcPct val="25000"/>
              </a:spcBef>
              <a:spcAft>
                <a:spcPct val="10000"/>
              </a:spcAft>
            </a:pPr>
            <a:r>
              <a:rPr lang="pt-BR" altLang="pt-BR" sz="2000" b="1" dirty="0"/>
              <a:t>Córtex </a:t>
            </a:r>
            <a:r>
              <a:rPr lang="pt-BR" altLang="pt-BR" sz="2000" b="1" dirty="0" err="1"/>
              <a:t>Pré-Motor</a:t>
            </a:r>
            <a:r>
              <a:rPr lang="pt-BR" altLang="pt-BR" sz="2000" b="1" dirty="0"/>
              <a:t>:</a:t>
            </a:r>
            <a:r>
              <a:rPr lang="pt-BR" altLang="pt-BR" sz="2000" dirty="0"/>
              <a:t> responsável por movimentos específicos como posicionamento de ombros e braços.   </a:t>
            </a:r>
          </a:p>
          <a:p>
            <a:pPr>
              <a:lnSpc>
                <a:spcPct val="105000"/>
              </a:lnSpc>
              <a:spcBef>
                <a:spcPct val="25000"/>
              </a:spcBef>
              <a:spcAft>
                <a:spcPct val="10000"/>
              </a:spcAft>
            </a:pPr>
            <a:r>
              <a:rPr lang="pt-BR" altLang="pt-BR" sz="2000" b="1" dirty="0"/>
              <a:t>Área Motora Suplementar: </a:t>
            </a:r>
            <a:r>
              <a:rPr lang="pt-BR" altLang="pt-BR" sz="2000" dirty="0"/>
              <a:t>necessitam de estímulos mais intensos para serem ativadas. São responsáveis por movimentos do tipo preensão bilateral das mãos, rotação das olhos, das mãos, do tronco, movimentos posturais. </a:t>
            </a:r>
          </a:p>
        </p:txBody>
      </p:sp>
    </p:spTree>
    <p:extLst>
      <p:ext uri="{BB962C8B-B14F-4D97-AF65-F5344CB8AC3E}">
        <p14:creationId xmlns:p14="http://schemas.microsoft.com/office/powerpoint/2010/main" val="625366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B333F7-51E5-2B47-9779-9EDB0AF8505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506766" y="765953"/>
            <a:ext cx="6377602" cy="818245"/>
          </a:xfrm>
        </p:spPr>
        <p:txBody>
          <a:bodyPr/>
          <a:lstStyle/>
          <a:p>
            <a:pPr>
              <a:defRPr/>
            </a:pPr>
            <a:r>
              <a:rPr lang="pt-BR" dirty="0">
                <a:solidFill>
                  <a:schemeClr val="tx2">
                    <a:satMod val="200000"/>
                  </a:schemeClr>
                </a:solidFill>
              </a:rPr>
              <a:t>Área Motora Primária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C0C72781-638B-264F-B12E-BF2060C32ED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251520" y="1602578"/>
            <a:ext cx="3008222" cy="3652843"/>
          </a:xfrm>
        </p:spPr>
        <p:txBody>
          <a:bodyPr/>
          <a:lstStyle/>
          <a:p>
            <a:pPr eaLnBrk="1" hangingPunct="1"/>
            <a:r>
              <a:rPr lang="pt-BR" altLang="pt-BR" sz="1800" dirty="0"/>
              <a:t>Está localizada no giro </a:t>
            </a:r>
            <a:r>
              <a:rPr lang="pt-BR" altLang="pt-BR" sz="1800" dirty="0" err="1"/>
              <a:t>pré</a:t>
            </a:r>
            <a:r>
              <a:rPr lang="pt-BR" altLang="pt-BR" sz="1800" dirty="0"/>
              <a:t>-central do lobo frontal, anteriormente ao sulco central. Uma vez que os neurônios nesse firo controlam as contrações conscientes e voluntárias.</a:t>
            </a:r>
          </a:p>
          <a:p>
            <a:pPr eaLnBrk="1" hangingPunct="1"/>
            <a:r>
              <a:rPr lang="pt-BR" altLang="pt-BR" sz="1800" dirty="0"/>
              <a:t>Originando-se no giro </a:t>
            </a:r>
            <a:r>
              <a:rPr lang="pt-BR" altLang="pt-BR" sz="1800" dirty="0" err="1"/>
              <a:t>pré</a:t>
            </a:r>
            <a:r>
              <a:rPr lang="pt-BR" altLang="pt-BR" sz="1800" dirty="0"/>
              <a:t>-central existem fibras nervosas motoras denominadas trato piramidal . </a:t>
            </a:r>
          </a:p>
        </p:txBody>
      </p:sp>
      <p:pic>
        <p:nvPicPr>
          <p:cNvPr id="48130" name="Picture 2" descr="Tretas e Letras...: O Cérebro humano">
            <a:extLst>
              <a:ext uri="{FF2B5EF4-FFF2-40B4-BE49-F238E27FC236}">
                <a16:creationId xmlns:a16="http://schemas.microsoft.com/office/drawing/2014/main" id="{5F1732B6-C2BA-954C-9026-08742285F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589" y="2060848"/>
            <a:ext cx="5489411" cy="365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5" descr="cortex">
            <a:extLst>
              <a:ext uri="{FF2B5EF4-FFF2-40B4-BE49-F238E27FC236}">
                <a16:creationId xmlns:a16="http://schemas.microsoft.com/office/drawing/2014/main" id="{7B79853B-2072-8A45-9C38-6F1A9509AD62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4804171" cy="423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Funções do córtex cerebral">
            <a:extLst>
              <a:ext uri="{FF2B5EF4-FFF2-40B4-BE49-F238E27FC236}">
                <a16:creationId xmlns:a16="http://schemas.microsoft.com/office/drawing/2014/main" id="{CB9F9A6F-6947-1045-A1F8-C2D5303C3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2592671"/>
            <a:ext cx="4560168" cy="426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CF72718-7BA7-6640-8193-9DDCF40B75E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pt-BR">
                <a:solidFill>
                  <a:schemeClr val="tx2">
                    <a:satMod val="200000"/>
                  </a:schemeClr>
                </a:solidFill>
              </a:rPr>
              <a:t>Área Pré-Motora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FC29AAB-5FFD-694B-88E5-C3394C0EB02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62756" y="1484785"/>
            <a:ext cx="8218487" cy="1440160"/>
          </a:xfrm>
        </p:spPr>
        <p:txBody>
          <a:bodyPr/>
          <a:lstStyle/>
          <a:p>
            <a:pPr eaLnBrk="1" hangingPunct="1"/>
            <a:r>
              <a:rPr lang="pt-BR" altLang="pt-BR" sz="2000" dirty="0"/>
              <a:t>Localizado logo anteriormente a área motora primária. Os neurônios da área </a:t>
            </a:r>
            <a:r>
              <a:rPr lang="pt-BR" altLang="pt-BR" sz="2000" dirty="0" err="1"/>
              <a:t>pré</a:t>
            </a:r>
            <a:r>
              <a:rPr lang="pt-BR" altLang="pt-BR" sz="2000" dirty="0"/>
              <a:t>-motora determinam a contração de grupos musculares em uma </a:t>
            </a:r>
            <a:r>
              <a:rPr lang="pt-BR" altLang="pt-BR" sz="2000" dirty="0" err="1"/>
              <a:t>seqüência</a:t>
            </a:r>
            <a:r>
              <a:rPr lang="pt-BR" altLang="pt-BR" sz="2000" dirty="0"/>
              <a:t> especifica, produzindo, desta forma, movimentos estereotipados.</a:t>
            </a:r>
          </a:p>
        </p:txBody>
      </p:sp>
      <p:pic>
        <p:nvPicPr>
          <p:cNvPr id="4" name="Picture 6" descr="Corte e Cerebelo e NB - Fisiologia Humana I">
            <a:extLst>
              <a:ext uri="{FF2B5EF4-FFF2-40B4-BE49-F238E27FC236}">
                <a16:creationId xmlns:a16="http://schemas.microsoft.com/office/drawing/2014/main" id="{391EA0A7-E7EB-0E45-8C6F-95609E6D41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8" t="2917" r="12611" b="14792"/>
          <a:stretch/>
        </p:blipFill>
        <p:spPr bwMode="auto">
          <a:xfrm>
            <a:off x="4571999" y="2893076"/>
            <a:ext cx="4596260" cy="379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Grátis: resumo córtex motor e tronco cerebral - Material Claro e Objetivo  em PDF para Estudo Rápido">
            <a:extLst>
              <a:ext uri="{FF2B5EF4-FFF2-40B4-BE49-F238E27FC236}">
                <a16:creationId xmlns:a16="http://schemas.microsoft.com/office/drawing/2014/main" id="{BA7D420B-EF9B-696F-509A-3C0296DE8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0" y="-15822"/>
            <a:ext cx="9144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26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 descr="I:\Viviane\Imagens\cortex motor.jpg">
            <a:extLst>
              <a:ext uri="{FF2B5EF4-FFF2-40B4-BE49-F238E27FC236}">
                <a16:creationId xmlns:a16="http://schemas.microsoft.com/office/drawing/2014/main" id="{49DB513A-E369-A3FE-A6A5-736918279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4675" y="92075"/>
            <a:ext cx="8101013" cy="672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179C5C62-D969-E691-327B-65B99CC3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Encéfalo – Telencéfalo </a:t>
            </a:r>
          </a:p>
        </p:txBody>
      </p:sp>
      <p:sp>
        <p:nvSpPr>
          <p:cNvPr id="34819" name="Espaço Reservado para Conteúdo 2">
            <a:extLst>
              <a:ext uri="{FF2B5EF4-FFF2-40B4-BE49-F238E27FC236}">
                <a16:creationId xmlns:a16="http://schemas.microsoft.com/office/drawing/2014/main" id="{6D330F6D-8FD7-3069-19F0-95B882497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Dominância hemisférica</a:t>
            </a:r>
            <a:r>
              <a:rPr lang="pt-BR" altLang="pt-BR"/>
              <a:t>: 95% - hemisfério esquerdo</a:t>
            </a:r>
          </a:p>
          <a:p>
            <a:pPr lvl="1" eaLnBrk="1" hangingPunct="1"/>
            <a:r>
              <a:rPr lang="pt-BR" altLang="pt-BR"/>
              <a:t>Representação esquemática do corpo – motor e sensorial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 b="1"/>
              <a:t>Lateralização hemisférica</a:t>
            </a:r>
            <a:r>
              <a:rPr lang="pt-BR" altLang="pt-BR"/>
              <a:t>: assimetria funcional</a:t>
            </a:r>
          </a:p>
          <a:p>
            <a:pPr lvl="1" eaLnBrk="1" hangingPunct="1"/>
            <a:endParaRPr lang="pt-BR" altLang="pt-B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Homúnculo de Penfield: suas características e funções">
            <a:extLst>
              <a:ext uri="{FF2B5EF4-FFF2-40B4-BE49-F238E27FC236}">
                <a16:creationId xmlns:a16="http://schemas.microsoft.com/office/drawing/2014/main" id="{EEADC477-03AF-645F-0A95-0172A0C0C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32856"/>
            <a:ext cx="5705930" cy="4612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589C7F4-F968-CE09-9CF0-A9AC2EEAEFDA}"/>
              </a:ext>
            </a:extLst>
          </p:cNvPr>
          <p:cNvSpPr txBox="1"/>
          <p:nvPr/>
        </p:nvSpPr>
        <p:spPr>
          <a:xfrm>
            <a:off x="2915816" y="76470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Homúnculo de </a:t>
            </a:r>
            <a:r>
              <a:rPr lang="pt-BR" dirty="0" err="1"/>
              <a:t>Penfield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830E94-921A-7179-0A50-860335EF93A4}"/>
              </a:ext>
            </a:extLst>
          </p:cNvPr>
          <p:cNvSpPr txBox="1"/>
          <p:nvPr/>
        </p:nvSpPr>
        <p:spPr>
          <a:xfrm>
            <a:off x="1516028" y="1454814"/>
            <a:ext cx="5841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 https://youtu.be/-5bYi9XTln4</a:t>
            </a:r>
            <a:r>
              <a:rPr lang="pt-BR" dirty="0"/>
              <a:t>  :  Vídeo Khan </a:t>
            </a:r>
            <a:r>
              <a:rPr lang="pt-BR" dirty="0" err="1"/>
              <a:t>Academy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52398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5" descr="homunculi">
            <a:extLst>
              <a:ext uri="{FF2B5EF4-FFF2-40B4-BE49-F238E27FC236}">
                <a16:creationId xmlns:a16="http://schemas.microsoft.com/office/drawing/2014/main" id="{E79C16A7-0802-7FC0-6B49-E422A6DD8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3" y="1001713"/>
            <a:ext cx="8890000" cy="538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A8E867B-4C7D-C5A0-58F3-34E5139D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0" t="9977"/>
          <a:stretch/>
        </p:blipFill>
        <p:spPr>
          <a:xfrm>
            <a:off x="179512" y="1844824"/>
            <a:ext cx="6287015" cy="374441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D43A17DD-6306-70A0-3C5B-368053852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527" y="1700808"/>
            <a:ext cx="2662395" cy="460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694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rátis: Áreas de Brodmann - Neuroanatomia mapa mental - Material Claro e  Objetivo em PDF para Estudo Rápido">
            <a:extLst>
              <a:ext uri="{FF2B5EF4-FFF2-40B4-BE49-F238E27FC236}">
                <a16:creationId xmlns:a16="http://schemas.microsoft.com/office/drawing/2014/main" id="{A38624A3-3A57-FE35-A30A-F6F52C0F0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836712"/>
            <a:ext cx="9006747" cy="506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64D286AF-4346-F61C-8456-40CBC3B651D4}"/>
              </a:ext>
            </a:extLst>
          </p:cNvPr>
          <p:cNvSpPr/>
          <p:nvPr/>
        </p:nvSpPr>
        <p:spPr>
          <a:xfrm>
            <a:off x="0" y="836712"/>
            <a:ext cx="1619672" cy="216024"/>
          </a:xfrm>
          <a:prstGeom prst="roundRect">
            <a:avLst/>
          </a:prstGeom>
          <a:solidFill>
            <a:srgbClr val="DEED61"/>
          </a:solidFill>
          <a:ln>
            <a:solidFill>
              <a:srgbClr val="DEED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2274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D545FAF-B87E-B2C4-073A-0AA210A86C04}"/>
              </a:ext>
            </a:extLst>
          </p:cNvPr>
          <p:cNvSpPr txBox="1"/>
          <p:nvPr/>
        </p:nvSpPr>
        <p:spPr>
          <a:xfrm>
            <a:off x="1412776" y="1285947"/>
            <a:ext cx="6318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https://youtu.be/BgoCoGaf5wc?si=6O9DSPfWMIt10OpL</a:t>
            </a: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A0E941-7B79-A239-F024-B59E67C66577}"/>
              </a:ext>
            </a:extLst>
          </p:cNvPr>
          <p:cNvSpPr txBox="1"/>
          <p:nvPr/>
        </p:nvSpPr>
        <p:spPr>
          <a:xfrm>
            <a:off x="2627784" y="836712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Vídeo sobre áreas de </a:t>
            </a:r>
            <a:r>
              <a:rPr lang="pt-BR" dirty="0" err="1"/>
              <a:t>Broadman</a:t>
            </a:r>
            <a:endParaRPr lang="pt-BR" dirty="0"/>
          </a:p>
        </p:txBody>
      </p:sp>
      <p:pic>
        <p:nvPicPr>
          <p:cNvPr id="7170" name="Picture 2" descr="Grátis: Areas de Brodmann - Material Claro e Objetivo em PDF para Estudo  Rápido">
            <a:extLst>
              <a:ext uri="{FF2B5EF4-FFF2-40B4-BE49-F238E27FC236}">
                <a16:creationId xmlns:a16="http://schemas.microsoft.com/office/drawing/2014/main" id="{8B31FDDA-8BCF-6BD1-88A4-191A392C4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388" y="1909704"/>
            <a:ext cx="6461224" cy="493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456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>
            <a:extLst>
              <a:ext uri="{FF2B5EF4-FFF2-40B4-BE49-F238E27FC236}">
                <a16:creationId xmlns:a16="http://schemas.microsoft.com/office/drawing/2014/main" id="{B2C5A401-8016-072D-7173-AF168F13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Funções do hemisfério direito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45E03A-B3C2-B184-CD82-4F4A90EDE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Conhecimento musical  e artístico; </a:t>
            </a: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sz="2800" dirty="0">
              <a:solidFill>
                <a:schemeClr val="tx1"/>
              </a:solidFill>
            </a:endParaRP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Percepção do espaço e de padrões; </a:t>
            </a: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sz="2800" dirty="0">
              <a:solidFill>
                <a:schemeClr val="tx1"/>
              </a:solidFill>
            </a:endParaRP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Reconhecimento de faces e conteúdo emocional de expressões faciais; </a:t>
            </a: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sz="2800" dirty="0">
              <a:solidFill>
                <a:schemeClr val="tx1"/>
              </a:solidFill>
            </a:endParaRP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Conteúdo emocional da linguagem; </a:t>
            </a: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sz="2800" dirty="0">
              <a:solidFill>
                <a:schemeClr val="tx1"/>
              </a:solidFill>
            </a:endParaRPr>
          </a:p>
          <a:p>
            <a:pPr marL="3657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Geração de imagens mentais da visão, audição, tato, paladar e olfato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>
            <a:extLst>
              <a:ext uri="{FF2B5EF4-FFF2-40B4-BE49-F238E27FC236}">
                <a16:creationId xmlns:a16="http://schemas.microsoft.com/office/drawing/2014/main" id="{EEEDEA8F-2C1F-53BB-5A24-53C4784D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Funções do hemisfério esquerdo</a:t>
            </a:r>
          </a:p>
        </p:txBody>
      </p:sp>
      <p:sp>
        <p:nvSpPr>
          <p:cNvPr id="37891" name="Espaço Reservado para Conteúdo 2">
            <a:extLst>
              <a:ext uri="{FF2B5EF4-FFF2-40B4-BE49-F238E27FC236}">
                <a16:creationId xmlns:a16="http://schemas.microsoft.com/office/drawing/2014/main" id="{45B4788D-D686-36C1-B50C-A2CC7A820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Linguagem falada e escrita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Habilidades numéricas e científicas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Capacidade de usar e entender a linguagem dos signos (sinais)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Raciocínio</a:t>
            </a:r>
            <a:r>
              <a:rPr lang="pt-BR" altLang="pt-BR" b="1"/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E288E489-4FCE-A7B3-DD04-1DEBFF776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8400" y="668338"/>
            <a:ext cx="5256213" cy="607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Título 2">
            <a:extLst>
              <a:ext uri="{FF2B5EF4-FFF2-40B4-BE49-F238E27FC236}">
                <a16:creationId xmlns:a16="http://schemas.microsoft.com/office/drawing/2014/main" id="{E7014CBD-E81B-988A-3876-90A6CB00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49275"/>
            <a:ext cx="2735263" cy="1223963"/>
          </a:xfrm>
        </p:spPr>
        <p:txBody>
          <a:bodyPr/>
          <a:lstStyle/>
          <a:p>
            <a:pPr eaLnBrk="1" hangingPunct="1"/>
            <a:r>
              <a:rPr lang="pt-BR" altLang="pt-BR" sz="2400"/>
              <a:t>Funções dos hemisférios cerebrais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76A1B96-E547-8F8C-9BE8-8604B2DBCEE8}"/>
              </a:ext>
            </a:extLst>
          </p:cNvPr>
          <p:cNvSpPr txBox="1"/>
          <p:nvPr/>
        </p:nvSpPr>
        <p:spPr>
          <a:xfrm>
            <a:off x="431540" y="1824248"/>
            <a:ext cx="8280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https://parajovens.unesp.br/a-prosodia-da-fala-o-aspecto-musical-e-magico-que-a-fala-apresenta/#:~:text=Essa%20varia%C3%A7%C3%A3o%20em%20pitch%20(termo,significado%20do%20que%20estamos%20dizendo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77DBE2-F8AD-91D2-31B3-2C438D5F0047}"/>
              </a:ext>
            </a:extLst>
          </p:cNvPr>
          <p:cNvSpPr txBox="1"/>
          <p:nvPr/>
        </p:nvSpPr>
        <p:spPr>
          <a:xfrm>
            <a:off x="2339752" y="1340768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Unesp para Jovens: Prosódia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8B841A-BD13-63B1-A186-5F85C2F354C1}"/>
              </a:ext>
            </a:extLst>
          </p:cNvPr>
          <p:cNvSpPr txBox="1"/>
          <p:nvPr/>
        </p:nvSpPr>
        <p:spPr>
          <a:xfrm>
            <a:off x="719572" y="4295051"/>
            <a:ext cx="77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https://www.youtube.com/watch?v=1QzrJqogbzs</a:t>
            </a:r>
            <a:endParaRPr lang="pt-BR" dirty="0"/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AA5F71-6AE1-E72C-63BA-37B3ED9440D8}"/>
              </a:ext>
            </a:extLst>
          </p:cNvPr>
          <p:cNvSpPr txBox="1"/>
          <p:nvPr/>
        </p:nvSpPr>
        <p:spPr>
          <a:xfrm>
            <a:off x="2123728" y="390070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Psicopedagogia</a:t>
            </a:r>
          </a:p>
        </p:txBody>
      </p:sp>
      <p:pic>
        <p:nvPicPr>
          <p:cNvPr id="66562" name="Picture 2" descr="perguntas-frequentes_0 - Cartórios de Protesto do Distrito Federal">
            <a:extLst>
              <a:ext uri="{FF2B5EF4-FFF2-40B4-BE49-F238E27FC236}">
                <a16:creationId xmlns:a16="http://schemas.microsoft.com/office/drawing/2014/main" id="{BB0279E9-5656-2CE5-B87E-2CB8A259C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3893816"/>
            <a:ext cx="2915816" cy="296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26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7F4041F-DC86-A90F-351D-68C89E8C0797}"/>
              </a:ext>
            </a:extLst>
          </p:cNvPr>
          <p:cNvGraphicFramePr>
            <a:graphicFrameLocks noGrp="1"/>
          </p:cNvGraphicFramePr>
          <p:nvPr/>
        </p:nvGraphicFramePr>
        <p:xfrm>
          <a:off x="323528" y="1124744"/>
          <a:ext cx="8218486" cy="4239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9243">
                  <a:extLst>
                    <a:ext uri="{9D8B030D-6E8A-4147-A177-3AD203B41FA5}">
                      <a16:colId xmlns:a16="http://schemas.microsoft.com/office/drawing/2014/main" val="3535796506"/>
                    </a:ext>
                  </a:extLst>
                </a:gridCol>
                <a:gridCol w="4109243">
                  <a:extLst>
                    <a:ext uri="{9D8B030D-6E8A-4147-A177-3AD203B41FA5}">
                      <a16:colId xmlns:a16="http://schemas.microsoft.com/office/drawing/2014/main" val="1812036423"/>
                    </a:ext>
                  </a:extLst>
                </a:gridCol>
              </a:tblGrid>
              <a:tr h="21363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Área do córtex cerebral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Função principal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extLst>
                  <a:ext uri="{0D108BD9-81ED-4DB2-BD59-A6C34878D82A}">
                    <a16:rowId xmlns:a16="http://schemas.microsoft.com/office/drawing/2014/main" val="2362884005"/>
                  </a:ext>
                </a:extLst>
              </a:tr>
              <a:tr h="854522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Córtex pré-frontal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Planejamento, tomada de decisões e controle de impulsos. É a área que ajuda a pensar antes de agir e avaliar consequências. Muito relacionada à personalidade.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extLst>
                  <a:ext uri="{0D108BD9-81ED-4DB2-BD59-A6C34878D82A}">
                    <a16:rowId xmlns:a16="http://schemas.microsoft.com/office/drawing/2014/main" val="1114248218"/>
                  </a:ext>
                </a:extLst>
              </a:tr>
              <a:tr h="640891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Córtex pré-frontal dorsolateral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Raciocínio lógico, memória de trabalho e resolução de problemas. Muito usado quando resolvemos provas, jogos de estratégia ou matemática.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extLst>
                  <a:ext uri="{0D108BD9-81ED-4DB2-BD59-A6C34878D82A}">
                    <a16:rowId xmlns:a16="http://schemas.microsoft.com/office/drawing/2014/main" val="280736450"/>
                  </a:ext>
                </a:extLst>
              </a:tr>
              <a:tr h="640891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Córtex orbitofrontal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Avaliação de recompensas e punições. Ajuda a decidir se algo “vale a pena” ou não (ex.: resistir ou não a um doce). Lesões podem alterar comportamento social.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extLst>
                  <a:ext uri="{0D108BD9-81ED-4DB2-BD59-A6C34878D82A}">
                    <a16:rowId xmlns:a16="http://schemas.microsoft.com/office/drawing/2014/main" val="809494931"/>
                  </a:ext>
                </a:extLst>
              </a:tr>
              <a:tr h="1178458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Córtex motor primário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Controla os movimentos voluntários do corpo. Cada região controla uma parte do corpo (mãos e rosto ocupam áreas grandes porque precisam de movimentos finos).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extLst>
                  <a:ext uri="{0D108BD9-81ED-4DB2-BD59-A6C34878D82A}">
                    <a16:rowId xmlns:a16="http://schemas.microsoft.com/office/drawing/2014/main" val="3679221277"/>
                  </a:ext>
                </a:extLst>
              </a:tr>
              <a:tr h="640891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Córtex somatossensorial primário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</a:rPr>
                        <a:t>Recebe sensações do corpo: tato, pressão, temperatura e dor. Permite perceber quando tocamos algo quente ou frio.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5" marR="9425" marT="9425" marB="0" anchor="b"/>
                </a:tc>
                <a:extLst>
                  <a:ext uri="{0D108BD9-81ED-4DB2-BD59-A6C34878D82A}">
                    <a16:rowId xmlns:a16="http://schemas.microsoft.com/office/drawing/2014/main" val="1695768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562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DC208D4-44DC-84AC-C5E4-6A2F1D32F79F}"/>
              </a:ext>
            </a:extLst>
          </p:cNvPr>
          <p:cNvGraphicFramePr>
            <a:graphicFrameLocks noGrp="1"/>
          </p:cNvGraphicFramePr>
          <p:nvPr/>
        </p:nvGraphicFramePr>
        <p:xfrm>
          <a:off x="839788" y="1100138"/>
          <a:ext cx="7466060" cy="4657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3030">
                  <a:extLst>
                    <a:ext uri="{9D8B030D-6E8A-4147-A177-3AD203B41FA5}">
                      <a16:colId xmlns:a16="http://schemas.microsoft.com/office/drawing/2014/main" val="25596009"/>
                    </a:ext>
                  </a:extLst>
                </a:gridCol>
                <a:gridCol w="3733030">
                  <a:extLst>
                    <a:ext uri="{9D8B030D-6E8A-4147-A177-3AD203B41FA5}">
                      <a16:colId xmlns:a16="http://schemas.microsoft.com/office/drawing/2014/main" val="3444868068"/>
                    </a:ext>
                  </a:extLst>
                </a:gridCol>
              </a:tblGrid>
              <a:tr h="58221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Córtex visual primário (lobo occipital)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Processa as informações visuais básicas, como formas e luz. Sem ele, mesmo com olhos saudáveis, a pessoa não consegue enxergar.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4022789271"/>
                  </a:ext>
                </a:extLst>
              </a:tr>
              <a:tr h="77628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Área de associação visual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Interpreta o que estamos vendo. Permite reconhecer rostos, objetos e lugares. Alterações podem causar dificuldade de reconhecer pessoas conhecidas (prosopagnosia).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2068885181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Córtex auditivo primário (lobo temporal)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Processa sons que chegam dos ouvidos: intensidade, frequência e localização do som.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3990974727"/>
                  </a:ext>
                </a:extLst>
              </a:tr>
              <a:tr h="58221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Área de Wernicke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Compreensão da linguagem. Lesões fazem a pessoa falar fluentemente, mas com frases sem sentido ou dificuldade de entender o que os outros dizem.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1649513223"/>
                  </a:ext>
                </a:extLst>
              </a:tr>
              <a:tr h="58221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Área de Broca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Produção da fala. Lesões fazem a pessoa entender a linguagem, mas ter dificuldade em formar palavras ou frases.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2743717988"/>
                  </a:ext>
                </a:extLst>
              </a:tr>
              <a:tr h="58221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Córtex cingulado anterior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Participa da regulação das emoções, atenção e tomada de decisões em situações de conflito. Também está relacionado à percepção da dor emocional.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4122170488"/>
                  </a:ext>
                </a:extLst>
              </a:tr>
              <a:tr h="58221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Ínsula (córtex insular)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Percepção das sensações internas do corpo (fome, nojo, dor visceral). Muito associada à empatia e à consciência corporal.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4179493616"/>
                  </a:ext>
                </a:extLst>
              </a:tr>
              <a:tr h="58221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Córtex parietal posterior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Integra informações sensoriais e ajuda na percepção do espaço e do próprio corpo. Lesões podem causar negligência espacial (ignorar um lado do mundo).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62" marR="8562" marT="8562" marB="0" anchor="b"/>
                </a:tc>
                <a:extLst>
                  <a:ext uri="{0D108BD9-81ED-4DB2-BD59-A6C34878D82A}">
                    <a16:rowId xmlns:a16="http://schemas.microsoft.com/office/drawing/2014/main" val="2555250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4292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17 ideias de Snoop | papel de parede do snoopy, fotos do snoopy, snoopy  desenho">
            <a:extLst>
              <a:ext uri="{FF2B5EF4-FFF2-40B4-BE49-F238E27FC236}">
                <a16:creationId xmlns:a16="http://schemas.microsoft.com/office/drawing/2014/main" id="{2F405C77-D758-C6CE-7786-72A13912D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285" y="94409"/>
            <a:ext cx="5003430" cy="666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9312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2SG1MxrqolAwbNEYzmG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WOHWe667l1DmXa9Q4vV7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Gj7o8wwhvRJmIi5vgX3D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ouUOQpugU2klzRq5lOee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eP5g4grmdnRN7oOPYzB3v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WOHWe667l1DmXa9Q4vV7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hizuPJBXq4FCtb7YG2V8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BrQLzfX4vlo5hjRrfP8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sscIo58FkyOdF7qc4YISB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v4KTYn2E8Lz27cN5Qqbf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cQdNxt1SevCJcCemALEX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uVaHGqZt2JMsdtPeuR7gj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sJjwv67mdm7g6wG4SOYA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GXneYn7ciEeK5Jh1b8Vx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BC4P2dKY1n38tro9USlGv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90JZvJksattUWagpjvEK1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lWnixqZihISP7HsG3UBf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dX3fGJT6fN6bg7sKFkYI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706</TotalTime>
  <Words>1267</Words>
  <Application>Microsoft Macintosh PowerPoint</Application>
  <PresentationFormat>Apresentação na tela (4:3)</PresentationFormat>
  <Paragraphs>178</Paragraphs>
  <Slides>54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2" baseType="lpstr">
      <vt:lpstr>Aptos</vt:lpstr>
      <vt:lpstr>Arial</vt:lpstr>
      <vt:lpstr>Calibri</vt:lpstr>
      <vt:lpstr>Georgia</vt:lpstr>
      <vt:lpstr>Times New Roman</vt:lpstr>
      <vt:lpstr>Trebuchet MS</vt:lpstr>
      <vt:lpstr>Wingdings 2</vt:lpstr>
      <vt:lpstr>Urbano</vt:lpstr>
      <vt:lpstr>Encéfalo</vt:lpstr>
      <vt:lpstr>Apresentação do PowerPoint</vt:lpstr>
      <vt:lpstr>Encéfalo</vt:lpstr>
      <vt:lpstr>Relações anatômicas</vt:lpstr>
      <vt:lpstr>Apresentação do PowerPoint</vt:lpstr>
      <vt:lpstr>Classificação - SNC</vt:lpstr>
      <vt:lpstr> Encéfalo</vt:lpstr>
      <vt:lpstr>Encéfalo</vt:lpstr>
      <vt:lpstr>Apresentação do PowerPoint</vt:lpstr>
      <vt:lpstr>Fissura longitudinal do cérebro </vt:lpstr>
      <vt:lpstr>Fissura longitudinal do cérebro </vt:lpstr>
      <vt:lpstr>Apresentação do PowerPoint</vt:lpstr>
      <vt:lpstr>Apresentação do PowerPoint</vt:lpstr>
      <vt:lpstr>Encéfalo</vt:lpstr>
      <vt:lpstr>Apresentação do PowerPoint</vt:lpstr>
      <vt:lpstr>Apresentação do PowerPoint</vt:lpstr>
      <vt:lpstr>Apresentação do PowerPoint</vt:lpstr>
      <vt:lpstr>Encéfalo</vt:lpstr>
      <vt:lpstr>Apresentação do PowerPoint</vt:lpstr>
      <vt:lpstr>Apresentação do PowerPoint</vt:lpstr>
      <vt:lpstr>Encéfalo – Lobo Frontal</vt:lpstr>
      <vt:lpstr>Apresentação do PowerPoint</vt:lpstr>
      <vt:lpstr>Encéfalo – Lobo Parietal</vt:lpstr>
      <vt:lpstr>Encéfalo – Lobo Temporal</vt:lpstr>
      <vt:lpstr>Encéfalo – Lobo Occipital</vt:lpstr>
      <vt:lpstr>Apresentação do PowerPoint</vt:lpstr>
      <vt:lpstr>Apresentação do PowerPoint</vt:lpstr>
      <vt:lpstr>Encéfalo - Telencéfalo</vt:lpstr>
      <vt:lpstr>Encéfalo – Telencéfalo </vt:lpstr>
      <vt:lpstr>Apresentação do PowerPoint</vt:lpstr>
      <vt:lpstr>Camadas do córtex cerebral</vt:lpstr>
      <vt:lpstr>Níveis funcionais do SNC</vt:lpstr>
      <vt:lpstr>Encéfalo – Telencéfalo </vt:lpstr>
      <vt:lpstr>Apresentação do PowerPoint</vt:lpstr>
      <vt:lpstr>Apresentação do PowerPoint</vt:lpstr>
      <vt:lpstr>Córtex Motor</vt:lpstr>
      <vt:lpstr>Área Motora Primária</vt:lpstr>
      <vt:lpstr>Apresentação do PowerPoint</vt:lpstr>
      <vt:lpstr>Área Pré-Motora</vt:lpstr>
      <vt:lpstr>Apresentação do PowerPoint</vt:lpstr>
      <vt:lpstr>Apresentação do PowerPoint</vt:lpstr>
      <vt:lpstr>Encéfalo – Telencéfalo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Funções do hemisfério direito</vt:lpstr>
      <vt:lpstr>Funções do hemisfério esquerdo</vt:lpstr>
      <vt:lpstr>Funções dos hemisférios cerebrais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Encéfalo e Medula Espinhal</dc:title>
  <dc:creator>Viviane</dc:creator>
  <cp:lastModifiedBy>Laiza Barros</cp:lastModifiedBy>
  <cp:revision>35</cp:revision>
  <dcterms:created xsi:type="dcterms:W3CDTF">2011-09-20T19:47:11Z</dcterms:created>
  <dcterms:modified xsi:type="dcterms:W3CDTF">2026-03-05T17:58:09Z</dcterms:modified>
</cp:coreProperties>
</file>