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63" r:id="rId3"/>
    <p:sldId id="261" r:id="rId4"/>
    <p:sldId id="262" r:id="rId5"/>
    <p:sldId id="264" r:id="rId6"/>
    <p:sldId id="265" r:id="rId7"/>
    <p:sldId id="267" r:id="rId8"/>
    <p:sldId id="270" r:id="rId9"/>
    <p:sldId id="304" r:id="rId10"/>
    <p:sldId id="305" r:id="rId11"/>
    <p:sldId id="306" r:id="rId12"/>
    <p:sldId id="300" r:id="rId13"/>
    <p:sldId id="268" r:id="rId14"/>
    <p:sldId id="269" r:id="rId15"/>
    <p:sldId id="308" r:id="rId16"/>
    <p:sldId id="301" r:id="rId17"/>
    <p:sldId id="302" r:id="rId18"/>
    <p:sldId id="303" r:id="rId19"/>
    <p:sldId id="271" r:id="rId20"/>
    <p:sldId id="260" r:id="rId21"/>
    <p:sldId id="259" r:id="rId22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648"/>
  </p:normalViewPr>
  <p:slideViewPr>
    <p:cSldViewPr snapToGrid="0">
      <p:cViewPr varScale="1">
        <p:scale>
          <a:sx n="90" d="100"/>
          <a:sy n="90" d="100"/>
        </p:scale>
        <p:origin x="23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3F547A-0BD2-D643-A98C-18966A0B2808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C030B-35EA-2B41-84B3-67BE45D8A9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389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19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B34913-093D-4ADD-B7FF-C0C32042831C}" type="slidenum">
              <a:rPr lang="pt-BR" altLang="pt-BR" smtClean="0"/>
              <a:pPr>
                <a:spcBef>
                  <a:spcPct val="0"/>
                </a:spcBef>
              </a:pPr>
              <a:t>2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0414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A579089-8000-4FD4-86B0-53DF4B9EA4D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lide de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77F34E-894D-46DF-B53F-F6F69846C9C2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B98056-F26B-4785-90E0-8B70DAE80A4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703933-D0BF-421B-B8BB-B8C530A0269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C00008-29C0-4406-8D17-7F14BFBB567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çã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53CD39C-EB71-4C8E-88E1-7A22B72131DD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841806-6D49-444C-A5A8-78A5C27977D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140112-95AD-4774-A483-CE1768BA14AF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A14073-1BC8-43A9-9870-40F695FE333F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229EAB9-E43A-432C-9E30-631BB92952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D93253-C21F-46C9-B0CE-CA758723EA3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698A67-2FA3-4FFA-999B-9F7EAD1A444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CCB9-8A5A-49F7-A414-CD430E45A86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50FC-AB39-45A5-85BD-22D886962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89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CCB9-8A5A-49F7-A414-CD430E45A86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50FC-AB39-45A5-85BD-22D886962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58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www.google.com/search?q=plexos+coroides&amp;oq=o+que+%C3%A9+liquor&amp;gs_lcrp=EgZjaHJvbWUqBwgFEAAYgAQyCQgAEEUYORiABDIHCAEQABiABDIHCAIQABiABDIHCAMQABiABDIHCAQQABiABDIHCAUQABiABDIHCAYQABiABDIHCAcQABiABDIHCAgQABiABDIHCAkQABiABNIBCDYwMDdqMGo3qAIAsAIA&amp;sourceid=chrome&amp;ie=UTF-8&amp;ved=2ahUKEwjRg4by4_KSAxWgH7kGHT_pGQgQgK4QegYIAQgAEAU" TargetMode="Externa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utterstock.com/pt/video/clip-3635794969-ventricular-system-brain-3d-animation-ventricles-cavities" TargetMode="External"/><Relationship Id="rId2" Type="http://schemas.openxmlformats.org/officeDocument/2006/relationships/hyperlink" Target="https://www.shutterstock.com/pt/video/clip-3425749539-ventricular-system-brain-3d-animation-ventricles-cavities?dd_referrer=https%3A%2F%2Fwww.google.com%2F" TargetMode="Externa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5" descr="Forma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 algn="ctr">
              <a:buNone/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MENINGES E VENTRÍCULOS CEREBRAIS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ctr">
              <a:buNone/>
            </a:pPr>
            <a:r>
              <a:rPr lang="pt-BR" sz="2400" dirty="0">
                <a:solidFill>
                  <a:schemeClr val="dk1"/>
                </a:solidFill>
                <a:latin typeface="Calibri"/>
              </a:rPr>
              <a:t>Profa. Dra. </a:t>
            </a:r>
            <a:r>
              <a:rPr lang="pt-BR" sz="2400">
                <a:solidFill>
                  <a:schemeClr val="dk1"/>
                </a:solidFill>
                <a:latin typeface="Calibri"/>
              </a:rPr>
              <a:t>Laiza Barros</a:t>
            </a:r>
          </a:p>
          <a:p>
            <a:pPr indent="0" algn="ctr">
              <a:buNone/>
            </a:pPr>
            <a:endParaRPr lang="pt-BR" sz="2400" dirty="0">
              <a:solidFill>
                <a:schemeClr val="dk1"/>
              </a:solidFill>
              <a:latin typeface="Calibri"/>
            </a:endParaRPr>
          </a:p>
          <a:p>
            <a:pPr indent="0" algn="ctr">
              <a:buNone/>
            </a:pPr>
            <a:r>
              <a:rPr lang="pt-BR" sz="2400" dirty="0" err="1">
                <a:solidFill>
                  <a:schemeClr val="dk1"/>
                </a:solidFill>
                <a:latin typeface="Calibri"/>
              </a:rPr>
              <a:t>Neuroanatomofisiologia</a:t>
            </a:r>
            <a:r>
              <a:rPr lang="pt-BR" sz="2400" dirty="0">
                <a:solidFill>
                  <a:schemeClr val="dk1"/>
                </a:solidFill>
                <a:latin typeface="Calibri"/>
              </a:rPr>
              <a:t> Humano</a:t>
            </a:r>
            <a:endParaRPr lang="pt-BR" sz="2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524000" y="0"/>
            <a:ext cx="9144000" cy="928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052" name="CaixaDeTexto 6"/>
          <p:cNvSpPr txBox="1">
            <a:spLocks noChangeArrowheads="1"/>
          </p:cNvSpPr>
          <p:nvPr/>
        </p:nvSpPr>
        <p:spPr bwMode="auto">
          <a:xfrm>
            <a:off x="1881189" y="1"/>
            <a:ext cx="8358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4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Sistema Nervoso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524000" y="1071563"/>
            <a:ext cx="8929688" cy="481670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3200" b="1" dirty="0">
                <a:cs typeface="Tahoma" pitchFamily="34" charset="0"/>
              </a:rPr>
              <a:t> Meninges</a:t>
            </a:r>
          </a:p>
          <a:p>
            <a:pPr marL="342900" indent="-342900" algn="just">
              <a:defRPr/>
            </a:pPr>
            <a:endParaRPr lang="pt-BR" sz="3200" dirty="0">
              <a:cs typeface="Tahoma" pitchFamily="34" charset="0"/>
            </a:endParaRPr>
          </a:p>
          <a:p>
            <a:pPr marL="800100" lvl="1" indent="-342900" algn="just">
              <a:buFont typeface="Wingdings" pitchFamily="2" charset="2"/>
              <a:buChar char="§"/>
              <a:defRPr/>
            </a:pPr>
            <a:r>
              <a:rPr lang="pt-BR" dirty="0">
                <a:cs typeface="Tahoma" pitchFamily="34" charset="0"/>
              </a:rPr>
              <a:t>São três delicadas membranas que revestem e protegem o sistema nervoso central (SNC).</a:t>
            </a:r>
          </a:p>
          <a:p>
            <a:pPr marL="1714500" lvl="3" indent="-342900" algn="just">
              <a:buFont typeface="Courier New" pitchFamily="49" charset="0"/>
              <a:buChar char="o"/>
              <a:defRPr/>
            </a:pPr>
            <a:r>
              <a:rPr lang="pt-BR" dirty="0" err="1">
                <a:cs typeface="Tahoma" pitchFamily="34" charset="0"/>
              </a:rPr>
              <a:t>Dura-máter</a:t>
            </a:r>
            <a:r>
              <a:rPr lang="pt-BR" dirty="0">
                <a:cs typeface="Tahoma" pitchFamily="34" charset="0"/>
              </a:rPr>
              <a:t> </a:t>
            </a:r>
          </a:p>
          <a:p>
            <a:pPr marL="1714500" lvl="3" indent="-342900" algn="just">
              <a:buFont typeface="Courier New" pitchFamily="49" charset="0"/>
              <a:buChar char="o"/>
              <a:defRPr/>
            </a:pPr>
            <a:r>
              <a:rPr lang="pt-BR" dirty="0">
                <a:cs typeface="Tahoma" pitchFamily="34" charset="0"/>
              </a:rPr>
              <a:t>Aracnóide </a:t>
            </a:r>
          </a:p>
          <a:p>
            <a:pPr marL="1714500" lvl="3" indent="-342900" algn="just">
              <a:buFont typeface="Courier New" pitchFamily="49" charset="0"/>
              <a:buChar char="o"/>
              <a:defRPr/>
            </a:pPr>
            <a:r>
              <a:rPr lang="pt-BR" dirty="0" err="1">
                <a:cs typeface="Tahoma" pitchFamily="34" charset="0"/>
              </a:rPr>
              <a:t>Pia-máter</a:t>
            </a:r>
            <a:endParaRPr lang="pt-BR" dirty="0">
              <a:cs typeface="Tahoma" pitchFamily="34" charset="0"/>
            </a:endParaRPr>
          </a:p>
          <a:p>
            <a:pPr marL="800100" lvl="1" indent="-342900" algn="just">
              <a:buFont typeface="Wingdings" pitchFamily="2" charset="2"/>
              <a:buChar char="§"/>
              <a:defRPr/>
            </a:pPr>
            <a:endParaRPr lang="pt-BR" sz="500" b="1" dirty="0">
              <a:cs typeface="Tahoma" pitchFamily="34" charset="0"/>
            </a:endParaRPr>
          </a:p>
          <a:p>
            <a:pPr marL="1257300" lvl="2" indent="-342900" algn="just">
              <a:defRPr/>
            </a:pPr>
            <a:endParaRPr lang="pt-BR" dirty="0">
              <a:cs typeface="Tahoma" pitchFamily="34" charset="0"/>
            </a:endParaRPr>
          </a:p>
          <a:p>
            <a:pPr marL="342900" indent="-342900" algn="just">
              <a:buFontTx/>
              <a:buAutoNum type="arabicParenR"/>
              <a:defRPr/>
            </a:pPr>
            <a:endParaRPr lang="pt-BR" sz="8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>
              <a:defRPr/>
            </a:pPr>
            <a:r>
              <a:rPr lang="pt-BR" dirty="0">
                <a:cs typeface="Tahoma" pitchFamily="34" charset="0"/>
              </a:rPr>
              <a:t>	</a:t>
            </a:r>
          </a:p>
          <a:p>
            <a:pPr marL="342900" indent="-342900" algn="just">
              <a:defRPr/>
            </a:pPr>
            <a:r>
              <a:rPr lang="pt-BR" sz="1400" dirty="0">
                <a:cs typeface="Tahoma" pitchFamily="34" charset="0"/>
              </a:rPr>
              <a:t>	</a:t>
            </a:r>
            <a:endParaRPr lang="pt-BR" sz="1400" dirty="0">
              <a:solidFill>
                <a:schemeClr val="tx2">
                  <a:lumMod val="50000"/>
                </a:schemeClr>
              </a:solidFill>
              <a:cs typeface="Tahoma" pitchFamily="34" charset="0"/>
            </a:endParaRPr>
          </a:p>
          <a:p>
            <a:pPr marL="342900" indent="-342900" algn="just">
              <a:defRPr/>
            </a:pPr>
            <a:endParaRPr lang="pt-BR" dirty="0">
              <a:cs typeface="Tahoma" pitchFamily="34" charset="0"/>
            </a:endParaRPr>
          </a:p>
          <a:p>
            <a:pPr marL="342900" indent="-342900" algn="just">
              <a:defRPr/>
            </a:pPr>
            <a:endParaRPr lang="pt-BR" dirty="0">
              <a:cs typeface="Tahoma" pitchFamily="34" charset="0"/>
            </a:endParaRPr>
          </a:p>
          <a:p>
            <a:pPr marL="800100" lvl="1" indent="-342900" algn="just">
              <a:defRPr/>
            </a:pPr>
            <a:endParaRPr lang="pt-BR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dirty="0">
              <a:cs typeface="Tahoma" pitchFamily="34" charset="0"/>
            </a:endParaRPr>
          </a:p>
        </p:txBody>
      </p:sp>
      <p:sp>
        <p:nvSpPr>
          <p:cNvPr id="40965" name="CaixaDeTexto 7"/>
          <p:cNvSpPr txBox="1">
            <a:spLocks noChangeArrowheads="1"/>
          </p:cNvSpPr>
          <p:nvPr/>
        </p:nvSpPr>
        <p:spPr bwMode="auto">
          <a:xfrm>
            <a:off x="4524376" y="5643564"/>
            <a:ext cx="1071563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pic>
        <p:nvPicPr>
          <p:cNvPr id="40966" name="Imagem 7" descr="medula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571876"/>
            <a:ext cx="4286250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7" name="Imagem 9" descr="meninge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4" y="2714626"/>
            <a:ext cx="4643437" cy="360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aixaDeTexto 12"/>
          <p:cNvSpPr txBox="1"/>
          <p:nvPr/>
        </p:nvSpPr>
        <p:spPr>
          <a:xfrm>
            <a:off x="2809875" y="6072189"/>
            <a:ext cx="1785938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dirty="0"/>
              <a:t>Medula espinhal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7739064" y="6215064"/>
            <a:ext cx="1785937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dirty="0"/>
              <a:t>Encéfalo</a:t>
            </a:r>
          </a:p>
        </p:txBody>
      </p:sp>
    </p:spTree>
    <p:extLst>
      <p:ext uri="{BB962C8B-B14F-4D97-AF65-F5344CB8AC3E}">
        <p14:creationId xmlns:p14="http://schemas.microsoft.com/office/powerpoint/2010/main" val="162633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345" y="1004553"/>
            <a:ext cx="9627194" cy="5396248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1159099" y="231820"/>
            <a:ext cx="2292439" cy="37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Meninges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646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159099" y="231820"/>
            <a:ext cx="2292439" cy="37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Meninges</a:t>
            </a:r>
            <a:endParaRPr lang="en-US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05" y="862884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42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159099" y="231820"/>
            <a:ext cx="2292439" cy="37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Meninges: Dura </a:t>
            </a:r>
            <a:r>
              <a:rPr lang="pt-BR" dirty="0" err="1"/>
              <a:t>máter</a:t>
            </a:r>
            <a:endParaRPr lang="en-US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64" y="1455312"/>
            <a:ext cx="5701048" cy="427578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851" y="1455312"/>
            <a:ext cx="5761149" cy="432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9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309871" y="515155"/>
            <a:ext cx="6838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Meninges: aracnoide  e pia </a:t>
            </a:r>
            <a:r>
              <a:rPr lang="pt-BR" dirty="0" err="1"/>
              <a:t>mater</a:t>
            </a:r>
            <a:endParaRPr lang="en-US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93" y="1356172"/>
            <a:ext cx="6652672" cy="499311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483" y="1974357"/>
            <a:ext cx="5198517" cy="375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27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524000" y="0"/>
            <a:ext cx="9144000" cy="928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" name="CaixaDeTexto 6"/>
          <p:cNvSpPr txBox="1">
            <a:spLocks noChangeArrowheads="1"/>
          </p:cNvSpPr>
          <p:nvPr/>
        </p:nvSpPr>
        <p:spPr bwMode="auto">
          <a:xfrm>
            <a:off x="1881189" y="1"/>
            <a:ext cx="8358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4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Sistema Nervoso</a:t>
            </a:r>
          </a:p>
        </p:txBody>
      </p:sp>
      <p:sp>
        <p:nvSpPr>
          <p:cNvPr id="43013" name="Retângulo 1"/>
          <p:cNvSpPr>
            <a:spLocks noChangeArrowheads="1"/>
          </p:cNvSpPr>
          <p:nvPr/>
        </p:nvSpPr>
        <p:spPr bwMode="auto">
          <a:xfrm>
            <a:off x="2033588" y="1179514"/>
            <a:ext cx="70846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algn="just" eaLnBrk="1" hangingPunct="1">
              <a:spcBef>
                <a:spcPct val="0"/>
              </a:spcBef>
              <a:buNone/>
            </a:pPr>
            <a:r>
              <a:rPr lang="pt-BR" altLang="pt-BR" sz="2000" b="1" dirty="0">
                <a:latin typeface="Tahoma" panose="020B0604030504040204" pitchFamily="34" charset="0"/>
                <a:cs typeface="Tahoma" panose="020B0604030504040204" pitchFamily="34" charset="0"/>
              </a:rPr>
              <a:t>Líquido cefalorraquidiano ou </a:t>
            </a:r>
            <a:r>
              <a:rPr lang="pt-BR" altLang="pt-BR" sz="2000" b="1" dirty="0" err="1">
                <a:latin typeface="Tahoma" panose="020B0604030504040204" pitchFamily="34" charset="0"/>
                <a:cs typeface="Tahoma" panose="020B0604030504040204" pitchFamily="34" charset="0"/>
              </a:rPr>
              <a:t>Líquor</a:t>
            </a:r>
            <a:endParaRPr lang="pt-BR" altLang="pt-BR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724" y="1830450"/>
            <a:ext cx="4316637" cy="471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083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212" y="0"/>
            <a:ext cx="8522773" cy="6672634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167426" y="296214"/>
            <a:ext cx="3142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Espaço </a:t>
            </a:r>
            <a:r>
              <a:rPr lang="pt-BR" sz="2000" dirty="0" err="1"/>
              <a:t>subaracnóide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54333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45791-F915-6B41-8681-2A4B0CD5F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F3CBE53-199C-F232-98C5-5E387FBDE9BF}"/>
              </a:ext>
            </a:extLst>
          </p:cNvPr>
          <p:cNvSpPr/>
          <p:nvPr/>
        </p:nvSpPr>
        <p:spPr>
          <a:xfrm>
            <a:off x="1524000" y="0"/>
            <a:ext cx="9144000" cy="928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" name="CaixaDeTexto 6">
            <a:extLst>
              <a:ext uri="{FF2B5EF4-FFF2-40B4-BE49-F238E27FC236}">
                <a16:creationId xmlns:a16="http://schemas.microsoft.com/office/drawing/2014/main" id="{6A8BDAE5-0211-7DAA-FC1A-029CBE618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9" y="1"/>
            <a:ext cx="8358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4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Sistema Nervoso</a:t>
            </a:r>
          </a:p>
        </p:txBody>
      </p:sp>
      <p:sp>
        <p:nvSpPr>
          <p:cNvPr id="43013" name="Retângulo 1">
            <a:extLst>
              <a:ext uri="{FF2B5EF4-FFF2-40B4-BE49-F238E27FC236}">
                <a16:creationId xmlns:a16="http://schemas.microsoft.com/office/drawing/2014/main" id="{0B56594F-C363-5220-961B-CA0AC3051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8" y="1179514"/>
            <a:ext cx="7084654" cy="335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algn="just" eaLnBrk="1" hangingPunct="1">
              <a:spcBef>
                <a:spcPct val="0"/>
              </a:spcBef>
              <a:buNone/>
            </a:pPr>
            <a:r>
              <a:rPr lang="pt-BR" altLang="pt-BR" sz="2000" b="1" dirty="0">
                <a:latin typeface="Tahoma" panose="020B0604030504040204" pitchFamily="34" charset="0"/>
                <a:cs typeface="Tahoma" panose="020B0604030504040204" pitchFamily="34" charset="0"/>
              </a:rPr>
              <a:t>Líquido cefalorraquidiano ou </a:t>
            </a:r>
            <a:r>
              <a:rPr lang="pt-BR" altLang="pt-BR" sz="2000" b="1" dirty="0" err="1">
                <a:latin typeface="Tahoma" panose="020B0604030504040204" pitchFamily="34" charset="0"/>
                <a:cs typeface="Tahoma" panose="020B0604030504040204" pitchFamily="34" charset="0"/>
              </a:rPr>
              <a:t>Líquor</a:t>
            </a:r>
            <a:endParaRPr lang="pt-BR" altLang="pt-BR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 eaLnBrk="1" hangingPunct="1">
              <a:spcBef>
                <a:spcPct val="0"/>
              </a:spcBef>
              <a:buNone/>
            </a:pPr>
            <a:endParaRPr lang="pt-BR" altLang="pt-BR" sz="24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 eaLnBrk="1" hangingPunct="1">
              <a:spcBef>
                <a:spcPct val="0"/>
              </a:spcBef>
              <a:buNone/>
            </a:pPr>
            <a:r>
              <a:rPr lang="pt-BR" sz="2400" dirty="0"/>
              <a:t>É um fluido incolor e aquoso que circula nos ventrículos cerebrais e no espaço subaracnóideo, banhando o cérebro e a medula espinhal</a:t>
            </a:r>
            <a:r>
              <a:rPr lang="pt-BR" sz="2400" b="0" i="0" dirty="0">
                <a:effectLst/>
                <a:latin typeface="Google Sans"/>
              </a:rPr>
              <a:t>. </a:t>
            </a:r>
          </a:p>
          <a:p>
            <a:pPr marL="0" indent="0" algn="just" eaLnBrk="1" hangingPunct="1">
              <a:spcBef>
                <a:spcPct val="0"/>
              </a:spcBef>
              <a:buNone/>
            </a:pPr>
            <a:endParaRPr lang="pt-BR" sz="2400" dirty="0">
              <a:latin typeface="Google Sans"/>
            </a:endParaRPr>
          </a:p>
          <a:p>
            <a:pPr marL="0" indent="0" algn="just" eaLnBrk="1" hangingPunct="1">
              <a:spcBef>
                <a:spcPct val="0"/>
              </a:spcBef>
              <a:buNone/>
            </a:pPr>
            <a:r>
              <a:rPr lang="pt-BR" sz="2400" b="0" i="0" dirty="0">
                <a:effectLst/>
                <a:latin typeface="Google Sans"/>
              </a:rPr>
              <a:t>Produzido pelos </a:t>
            </a:r>
            <a:r>
              <a:rPr lang="pt-BR" sz="2400" b="0" i="0" dirty="0">
                <a:effectLst/>
                <a:latin typeface="Google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plexos coroides</a:t>
            </a:r>
            <a:r>
              <a:rPr lang="pt-BR" sz="2400" b="0" i="0" dirty="0">
                <a:effectLst/>
                <a:latin typeface="Google Sans"/>
              </a:rPr>
              <a:t>, ele atua como amortecedor de impactos, protege o sistema nervoso, fornece nutrientes e remove resíduos.</a:t>
            </a:r>
            <a:endParaRPr lang="pt-BR" altLang="pt-BR" sz="24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5" descr="liquor">
            <a:extLst>
              <a:ext uri="{FF2B5EF4-FFF2-40B4-BE49-F238E27FC236}">
                <a16:creationId xmlns:a16="http://schemas.microsoft.com/office/drawing/2014/main" id="{194F9A8E-2622-2765-3C6A-93CA391BC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0" t="6982" r="16307" b="14275"/>
          <a:stretch>
            <a:fillRect/>
          </a:stretch>
        </p:blipFill>
        <p:spPr bwMode="auto">
          <a:xfrm>
            <a:off x="7837320" y="728057"/>
            <a:ext cx="4354680" cy="6129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9380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3B8C-BE7B-E9A5-58BD-1BBA07DCD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0C63691-BBA6-79C0-6274-D66C9B11F0DB}"/>
              </a:ext>
            </a:extLst>
          </p:cNvPr>
          <p:cNvSpPr/>
          <p:nvPr/>
        </p:nvSpPr>
        <p:spPr>
          <a:xfrm>
            <a:off x="1524000" y="0"/>
            <a:ext cx="9144000" cy="928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" name="CaixaDeTexto 6">
            <a:extLst>
              <a:ext uri="{FF2B5EF4-FFF2-40B4-BE49-F238E27FC236}">
                <a16:creationId xmlns:a16="http://schemas.microsoft.com/office/drawing/2014/main" id="{9FA80073-6D0A-9B00-ACE3-E018A17A6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9" y="1"/>
            <a:ext cx="8358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4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Sistema Nervoso</a:t>
            </a:r>
          </a:p>
        </p:txBody>
      </p:sp>
      <p:sp>
        <p:nvSpPr>
          <p:cNvPr id="43013" name="Retângulo 1">
            <a:extLst>
              <a:ext uri="{FF2B5EF4-FFF2-40B4-BE49-F238E27FC236}">
                <a16:creationId xmlns:a16="http://schemas.microsoft.com/office/drawing/2014/main" id="{0663FA59-4EE5-F581-5B7A-9E6A8B78D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8" y="1179514"/>
            <a:ext cx="7084654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algn="just" eaLnBrk="1" hangingPunct="1">
              <a:spcBef>
                <a:spcPct val="0"/>
              </a:spcBef>
              <a:buNone/>
            </a:pPr>
            <a:r>
              <a:rPr lang="pt-BR" altLang="pt-BR" sz="2000" b="1" dirty="0">
                <a:latin typeface="Tahoma" panose="020B0604030504040204" pitchFamily="34" charset="0"/>
                <a:cs typeface="Tahoma" panose="020B0604030504040204" pitchFamily="34" charset="0"/>
              </a:rPr>
              <a:t>Líquido cefalorraquidiano ou </a:t>
            </a:r>
            <a:r>
              <a:rPr lang="pt-BR" altLang="pt-BR" sz="2000" b="1" dirty="0" err="1">
                <a:latin typeface="Tahoma" panose="020B0604030504040204" pitchFamily="34" charset="0"/>
                <a:cs typeface="Tahoma" panose="020B0604030504040204" pitchFamily="34" charset="0"/>
              </a:rPr>
              <a:t>Líquor</a:t>
            </a:r>
            <a:endParaRPr lang="pt-BR" altLang="pt-BR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 eaLnBrk="1" hangingPunct="1">
              <a:spcBef>
                <a:spcPct val="0"/>
              </a:spcBef>
              <a:buNone/>
            </a:pPr>
            <a:endParaRPr lang="pt-BR" altLang="pt-BR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 eaLnBrk="1" hangingPunct="1">
              <a:spcBef>
                <a:spcPct val="0"/>
              </a:spcBef>
              <a:buNone/>
            </a:pPr>
            <a:endParaRPr lang="pt-BR" altLang="pt-BR" sz="24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 eaLnBrk="1" hangingPunct="1">
              <a:spcBef>
                <a:spcPct val="0"/>
              </a:spcBef>
              <a:buNone/>
            </a:pPr>
            <a:endParaRPr lang="pt-BR" altLang="pt-BR" sz="24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E6929E-C4F9-C6BA-D91B-959A864FB9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72" t="31177" r="44462" b="33472"/>
          <a:stretch/>
        </p:blipFill>
        <p:spPr>
          <a:xfrm>
            <a:off x="447947" y="1902789"/>
            <a:ext cx="7341562" cy="3575642"/>
          </a:xfrm>
          <a:prstGeom prst="rect">
            <a:avLst/>
          </a:prstGeom>
        </p:spPr>
      </p:pic>
      <p:pic>
        <p:nvPicPr>
          <p:cNvPr id="3102" name="Picture 30" descr="Líquido cefalorraquidiano: história, técnicas de coleta, indicações,  contraindicações e complicações | Newslab">
            <a:extLst>
              <a:ext uri="{FF2B5EF4-FFF2-40B4-BE49-F238E27FC236}">
                <a16:creationId xmlns:a16="http://schemas.microsoft.com/office/drawing/2014/main" id="{367B59E0-EAE3-D522-A0C5-F4268CA9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662" y="1902789"/>
            <a:ext cx="3925951" cy="2940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1ABBF59B-C8D7-EE02-1BC8-EDD01BA040C2}"/>
              </a:ext>
            </a:extLst>
          </p:cNvPr>
          <p:cNvSpPr txBox="1"/>
          <p:nvPr/>
        </p:nvSpPr>
        <p:spPr>
          <a:xfrm>
            <a:off x="8536948" y="4843463"/>
            <a:ext cx="3025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https://</a:t>
            </a:r>
            <a:r>
              <a:rPr lang="pt-BR" sz="800" dirty="0" err="1"/>
              <a:t>newslab.com.br</a:t>
            </a:r>
            <a:r>
              <a:rPr lang="pt-BR" sz="800" dirty="0"/>
              <a:t>/liquido-cefalorraquidiano-historia-tecnicas-de-coleta-indicacoes-contraindicacoes-e-complicacoes/</a:t>
            </a:r>
          </a:p>
        </p:txBody>
      </p:sp>
    </p:spTree>
    <p:extLst>
      <p:ext uri="{BB962C8B-B14F-4D97-AF65-F5344CB8AC3E}">
        <p14:creationId xmlns:p14="http://schemas.microsoft.com/office/powerpoint/2010/main" val="1751750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O que são exames complementares em neurologia? [saiba tudo]">
            <a:extLst>
              <a:ext uri="{FF2B5EF4-FFF2-40B4-BE49-F238E27FC236}">
                <a16:creationId xmlns:a16="http://schemas.microsoft.com/office/drawing/2014/main" id="{BBA6C126-04A2-6E29-EFD6-9DDA870E6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468647"/>
            <a:ext cx="8874125" cy="592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149931F-1493-2A98-7C04-C8CBAB1E9F69}"/>
              </a:ext>
            </a:extLst>
          </p:cNvPr>
          <p:cNvSpPr txBox="1"/>
          <p:nvPr/>
        </p:nvSpPr>
        <p:spPr>
          <a:xfrm>
            <a:off x="3375422" y="6422807"/>
            <a:ext cx="60936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https://</a:t>
            </a:r>
            <a:r>
              <a:rPr lang="pt-BR" sz="800" dirty="0" err="1"/>
              <a:t>eigierdiagnosticos.com.br</a:t>
            </a:r>
            <a:r>
              <a:rPr lang="pt-BR" sz="800" dirty="0"/>
              <a:t>/blog/exames-complementares-neurologia/</a:t>
            </a:r>
          </a:p>
        </p:txBody>
      </p:sp>
    </p:spTree>
    <p:extLst>
      <p:ext uri="{BB962C8B-B14F-4D97-AF65-F5344CB8AC3E}">
        <p14:creationId xmlns:p14="http://schemas.microsoft.com/office/powerpoint/2010/main" val="2831356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CB4CE4B-1D73-FE49-7BE5-87F6F5998D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75" t="29814" r="19105" b="5293"/>
          <a:stretch/>
        </p:blipFill>
        <p:spPr>
          <a:xfrm>
            <a:off x="869781" y="0"/>
            <a:ext cx="9945858" cy="635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9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97A16A7-C52A-DA11-1566-FB7B096A5D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75" t="29814" r="19105" b="5293"/>
          <a:stretch/>
        </p:blipFill>
        <p:spPr>
          <a:xfrm>
            <a:off x="390248" y="1577925"/>
            <a:ext cx="5544888" cy="3540463"/>
          </a:xfrm>
          <a:prstGeom prst="rect">
            <a:avLst/>
          </a:prstGeom>
        </p:spPr>
      </p:pic>
      <p:pic>
        <p:nvPicPr>
          <p:cNvPr id="4" name="Picture 7" descr="ventriculos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81932" y="1630547"/>
            <a:ext cx="6000786" cy="354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5598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100" y="479631"/>
            <a:ext cx="8275443" cy="568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04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ABC2346-2904-779D-2511-A624704A576D}"/>
              </a:ext>
            </a:extLst>
          </p:cNvPr>
          <p:cNvSpPr txBox="1"/>
          <p:nvPr/>
        </p:nvSpPr>
        <p:spPr>
          <a:xfrm>
            <a:off x="528637" y="2010073"/>
            <a:ext cx="104013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https://www.shutterstock.com/pt/video/clip-3425749539-ventricular-system-brain-3d-animation-ventricles-cavities?dd_referrer=https%3A%2F%2Fwww.google.com%2F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>
                <a:hlinkClick r:id="rId3"/>
              </a:rPr>
              <a:t>https://www.shutterstock.com/pt/video/clip-3635794969-ventricular-system-brain-3d-animation-ventricles-cavities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88E30B-2B88-3706-6182-9670B2A99BE2}"/>
              </a:ext>
            </a:extLst>
          </p:cNvPr>
          <p:cNvSpPr txBox="1"/>
          <p:nvPr/>
        </p:nvSpPr>
        <p:spPr>
          <a:xfrm>
            <a:off x="3652837" y="842962"/>
            <a:ext cx="488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Vídeos com </a:t>
            </a:r>
            <a:r>
              <a:rPr lang="pt-BR" dirty="0" err="1"/>
              <a:t>ímagem</a:t>
            </a:r>
            <a:r>
              <a:rPr lang="pt-BR" dirty="0"/>
              <a:t> 3D dos ventrículos</a:t>
            </a:r>
          </a:p>
        </p:txBody>
      </p:sp>
    </p:spTree>
    <p:extLst>
      <p:ext uri="{BB962C8B-B14F-4D97-AF65-F5344CB8AC3E}">
        <p14:creationId xmlns:p14="http://schemas.microsoft.com/office/powerpoint/2010/main" val="3667553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5" descr="http://www.nlm.nih.gov/medlineplus/spanish/ency/images/ency/fullsize/12724.jpg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00825" y="3429000"/>
            <a:ext cx="3810000" cy="30480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4035" name="Picture 7" descr="ventriculos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5595"/>
            <a:ext cx="5353050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6" name="Picture 9" descr="men_0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972" y="2088986"/>
            <a:ext cx="6560004" cy="4638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819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eupatimagem-UNICAMP">
            <a:extLst>
              <a:ext uri="{FF2B5EF4-FFF2-40B4-BE49-F238E27FC236}">
                <a16:creationId xmlns:a16="http://schemas.microsoft.com/office/drawing/2014/main" id="{0C3DFBA1-74D9-07D3-E8CA-557F6DF0C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0" y="69850"/>
            <a:ext cx="10350500" cy="671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675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eupatimagem-UNICAMP">
            <a:extLst>
              <a:ext uri="{FF2B5EF4-FFF2-40B4-BE49-F238E27FC236}">
                <a16:creationId xmlns:a16="http://schemas.microsoft.com/office/drawing/2014/main" id="{E5E2F417-720F-48E3-2787-3B7ED15B8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28587"/>
            <a:ext cx="10447337" cy="603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714D369-BBFF-6D7B-51A9-12AF2D9D9AA3}"/>
              </a:ext>
            </a:extLst>
          </p:cNvPr>
          <p:cNvSpPr txBox="1"/>
          <p:nvPr/>
        </p:nvSpPr>
        <p:spPr>
          <a:xfrm>
            <a:off x="2371895" y="6237906"/>
            <a:ext cx="609361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/>
              <a:t>https://</a:t>
            </a:r>
            <a:r>
              <a:rPr lang="pt-BR" sz="900" dirty="0" err="1"/>
              <a:t>anatpat.unicamp.br</a:t>
            </a:r>
            <a:r>
              <a:rPr lang="pt-BR" sz="900" dirty="0"/>
              <a:t>/bineucerebrocoronal8.html</a:t>
            </a:r>
          </a:p>
        </p:txBody>
      </p:sp>
    </p:spTree>
    <p:extLst>
      <p:ext uri="{BB962C8B-B14F-4D97-AF65-F5344CB8AC3E}">
        <p14:creationId xmlns:p14="http://schemas.microsoft.com/office/powerpoint/2010/main" val="3081162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778" y="742498"/>
            <a:ext cx="4572805" cy="5133621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645" y="1243749"/>
            <a:ext cx="6122952" cy="361158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8757633" y="4855334"/>
            <a:ext cx="22151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Fonte: Unicamp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81824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E2E832E-4327-582F-645B-4A60122DF4BC}"/>
              </a:ext>
            </a:extLst>
          </p:cNvPr>
          <p:cNvSpPr txBox="1"/>
          <p:nvPr/>
        </p:nvSpPr>
        <p:spPr>
          <a:xfrm>
            <a:off x="5629274" y="871539"/>
            <a:ext cx="480060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Helvetica" pitchFamily="2" charset="0"/>
              </a:rPr>
              <a:t>“Os homens devem saber que </a:t>
            </a:r>
            <a:r>
              <a:rPr lang="pt-BR" dirty="0">
                <a:latin typeface="Helvetica" pitchFamily="2" charset="0"/>
              </a:rPr>
              <a:t>do </a:t>
            </a:r>
            <a:r>
              <a:rPr lang="pt-BR" b="1" dirty="0" err="1">
                <a:latin typeface="Helvetica" pitchFamily="2" charset="0"/>
              </a:rPr>
              <a:t>cérebro</a:t>
            </a:r>
            <a:r>
              <a:rPr lang="pt-BR" sz="1800" dirty="0">
                <a:effectLst/>
                <a:latin typeface="Helvetica" pitchFamily="2" charset="0"/>
              </a:rPr>
              <a:t>, e apenas do </a:t>
            </a:r>
            <a:r>
              <a:rPr lang="pt-BR" sz="1800" dirty="0" err="1">
                <a:effectLst/>
                <a:latin typeface="Helvetica" pitchFamily="2" charset="0"/>
              </a:rPr>
              <a:t>cérebro</a:t>
            </a:r>
            <a:r>
              <a:rPr lang="pt-BR" sz="1800" dirty="0">
                <a:effectLst/>
                <a:latin typeface="Helvetica" pitchFamily="2" charset="0"/>
              </a:rPr>
              <a:t>, nascem nossos prazeres, alegrias, risadas e brincadeiras, assim como nossas tristezas, dores, </a:t>
            </a:r>
            <a:r>
              <a:rPr lang="pt-BR" sz="1800" dirty="0" err="1">
                <a:effectLst/>
                <a:latin typeface="Helvetica" pitchFamily="2" charset="0"/>
              </a:rPr>
              <a:t>mágoas</a:t>
            </a:r>
            <a:r>
              <a:rPr lang="pt-BR" sz="1800" dirty="0">
                <a:effectLst/>
                <a:latin typeface="Helvetica" pitchFamily="2" charset="0"/>
              </a:rPr>
              <a:t> e temores. E </a:t>
            </a:r>
            <a:r>
              <a:rPr lang="pt-BR" sz="1800" dirty="0" err="1">
                <a:effectLst/>
                <a:latin typeface="Helvetica" pitchFamily="2" charset="0"/>
              </a:rPr>
              <a:t>então</a:t>
            </a:r>
            <a:r>
              <a:rPr lang="pt-BR" sz="1800" dirty="0">
                <a:effectLst/>
                <a:latin typeface="Helvetica" pitchFamily="2" charset="0"/>
              </a:rPr>
              <a:t>, de maneira especial, adquirimos sabedoria e conhecimento, e vemos e ouvimos para saber o que é justo e o que </a:t>
            </a:r>
            <a:r>
              <a:rPr lang="pt-BR" sz="1800" dirty="0" err="1">
                <a:effectLst/>
                <a:latin typeface="Helvetica" pitchFamily="2" charset="0"/>
              </a:rPr>
              <a:t>não</a:t>
            </a:r>
            <a:r>
              <a:rPr lang="pt-BR" sz="1800" dirty="0">
                <a:effectLst/>
                <a:latin typeface="Helvetica" pitchFamily="2" charset="0"/>
              </a:rPr>
              <a:t> é, o que é bom e o que é ruim, o que é doce e o que é sem sabor... E pelo mesmo </a:t>
            </a:r>
            <a:r>
              <a:rPr lang="pt-BR" sz="1800" dirty="0" err="1">
                <a:effectLst/>
                <a:latin typeface="Helvetica" pitchFamily="2" charset="0"/>
              </a:rPr>
              <a:t>órgão</a:t>
            </a:r>
            <a:r>
              <a:rPr lang="pt-BR" sz="1800" dirty="0">
                <a:effectLst/>
                <a:latin typeface="Helvetica" pitchFamily="2" charset="0"/>
              </a:rPr>
              <a:t> tornamo-nos loucos e delirantes, e sentimos medo, e o terror nos assola... Todas essas coisas </a:t>
            </a:r>
            <a:r>
              <a:rPr lang="pt-BR" sz="1800" dirty="0" err="1">
                <a:effectLst/>
                <a:latin typeface="Helvetica" pitchFamily="2" charset="0"/>
              </a:rPr>
              <a:t>provêm</a:t>
            </a:r>
            <a:r>
              <a:rPr lang="pt-BR" sz="1800" dirty="0">
                <a:effectLst/>
                <a:latin typeface="Helvetica" pitchFamily="2" charset="0"/>
              </a:rPr>
              <a:t> do </a:t>
            </a:r>
            <a:r>
              <a:rPr lang="pt-BR" sz="1800" dirty="0" err="1">
                <a:effectLst/>
                <a:latin typeface="Helvetica" pitchFamily="2" charset="0"/>
              </a:rPr>
              <a:t>cérebro</a:t>
            </a:r>
            <a:r>
              <a:rPr lang="pt-BR" sz="1800" dirty="0">
                <a:effectLst/>
                <a:latin typeface="Helvetica" pitchFamily="2" charset="0"/>
              </a:rPr>
              <a:t> quando este </a:t>
            </a:r>
            <a:r>
              <a:rPr lang="pt-BR" sz="1800" dirty="0" err="1">
                <a:effectLst/>
                <a:latin typeface="Helvetica" pitchFamily="2" charset="0"/>
              </a:rPr>
              <a:t>não</a:t>
            </a:r>
            <a:r>
              <a:rPr lang="pt-BR" sz="1800" dirty="0">
                <a:effectLst/>
                <a:latin typeface="Helvetica" pitchFamily="2" charset="0"/>
              </a:rPr>
              <a:t> está sadio... </a:t>
            </a:r>
          </a:p>
          <a:p>
            <a:pPr algn="just"/>
            <a:r>
              <a:rPr lang="pt-BR" sz="1800" b="1" dirty="0">
                <a:effectLst/>
                <a:latin typeface="Helvetica" pitchFamily="2" charset="0"/>
              </a:rPr>
              <a:t>Dessa maneira, sou da </a:t>
            </a:r>
            <a:r>
              <a:rPr lang="pt-BR" sz="1800" b="1" dirty="0" err="1">
                <a:effectLst/>
                <a:latin typeface="Helvetica" pitchFamily="2" charset="0"/>
              </a:rPr>
              <a:t>opinião</a:t>
            </a:r>
            <a:r>
              <a:rPr lang="pt-BR" sz="1800" b="1" dirty="0">
                <a:effectLst/>
                <a:latin typeface="Helvetica" pitchFamily="2" charset="0"/>
              </a:rPr>
              <a:t> de que o </a:t>
            </a:r>
            <a:r>
              <a:rPr lang="pt-BR" sz="1800" b="1" dirty="0" err="1">
                <a:effectLst/>
                <a:latin typeface="Helvetica" pitchFamily="2" charset="0"/>
              </a:rPr>
              <a:t>cérebro</a:t>
            </a:r>
            <a:r>
              <a:rPr lang="pt-BR" sz="1800" b="1" dirty="0">
                <a:effectLst/>
                <a:latin typeface="Helvetica" pitchFamily="2" charset="0"/>
              </a:rPr>
              <a:t> exerce um grande poder sobre o homem</a:t>
            </a:r>
            <a:r>
              <a:rPr lang="pt-BR" sz="1800" dirty="0">
                <a:effectLst/>
                <a:latin typeface="Helvetica" pitchFamily="2" charset="0"/>
              </a:rPr>
              <a:t>.” </a:t>
            </a:r>
          </a:p>
          <a:p>
            <a:pPr algn="just"/>
            <a:endParaRPr lang="pt-BR" sz="1800" dirty="0">
              <a:effectLst/>
              <a:latin typeface="Helvetica" pitchFamily="2" charset="0"/>
            </a:endParaRPr>
          </a:p>
          <a:p>
            <a:pPr algn="r"/>
            <a:r>
              <a:rPr lang="pt-BR" sz="1800" i="1" dirty="0">
                <a:effectLst/>
                <a:latin typeface="Helvetica" pitchFamily="2" charset="0"/>
              </a:rPr>
              <a:t>(</a:t>
            </a:r>
            <a:r>
              <a:rPr lang="pt-BR" sz="1800" i="1" dirty="0" err="1">
                <a:effectLst/>
                <a:latin typeface="Helvetica" pitchFamily="2" charset="0"/>
              </a:rPr>
              <a:t>Hipócrates</a:t>
            </a:r>
            <a:r>
              <a:rPr lang="pt-BR" sz="1800" i="1" dirty="0">
                <a:effectLst/>
                <a:latin typeface="Helvetica" pitchFamily="2" charset="0"/>
              </a:rPr>
              <a:t>, Da </a:t>
            </a:r>
            <a:r>
              <a:rPr lang="pt-BR" sz="1800" i="1" dirty="0" err="1">
                <a:effectLst/>
                <a:latin typeface="Helvetica" pitchFamily="2" charset="0"/>
              </a:rPr>
              <a:t>Doença</a:t>
            </a:r>
            <a:r>
              <a:rPr lang="pt-BR" sz="1800" i="1" dirty="0">
                <a:effectLst/>
                <a:latin typeface="Helvetica" pitchFamily="2" charset="0"/>
              </a:rPr>
              <a:t> Sagrada, </a:t>
            </a:r>
            <a:r>
              <a:rPr lang="pt-BR" sz="1800" i="1" dirty="0" err="1">
                <a:effectLst/>
                <a:latin typeface="Helvetica" pitchFamily="2" charset="0"/>
              </a:rPr>
              <a:t>século</a:t>
            </a:r>
            <a:r>
              <a:rPr lang="pt-BR" sz="1800" i="1" dirty="0">
                <a:effectLst/>
                <a:latin typeface="Helvetica" pitchFamily="2" charset="0"/>
              </a:rPr>
              <a:t> IV a.C.) </a:t>
            </a:r>
            <a:endParaRPr lang="pt-BR" i="1" dirty="0"/>
          </a:p>
          <a:p>
            <a:pPr algn="just"/>
            <a:endParaRPr lang="pt-BR" dirty="0"/>
          </a:p>
        </p:txBody>
      </p:sp>
      <p:pic>
        <p:nvPicPr>
          <p:cNvPr id="1026" name="Picture 2" descr="Hippocrates: 2,8 mil imagens, fotos e ilustrações stock livres de direitos  | Shutterstock">
            <a:extLst>
              <a:ext uri="{FF2B5EF4-FFF2-40B4-BE49-F238E27FC236}">
                <a16:creationId xmlns:a16="http://schemas.microsoft.com/office/drawing/2014/main" id="{6D692A82-634D-769E-B5F4-66677B3C1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57213"/>
            <a:ext cx="4371315" cy="585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121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4" descr="Uma imagem contendo 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ermelho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Novo Modelo de Slides do IPOG - Versão 2021</Template>
  <TotalTime>67</TotalTime>
  <Words>355</Words>
  <Application>Microsoft Macintosh PowerPoint</Application>
  <PresentationFormat>Widescreen</PresentationFormat>
  <Paragraphs>53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33" baseType="lpstr">
      <vt:lpstr>Aptos</vt:lpstr>
      <vt:lpstr>Arial</vt:lpstr>
      <vt:lpstr>Calibri</vt:lpstr>
      <vt:lpstr>Calibri Light</vt:lpstr>
      <vt:lpstr>Courier New</vt:lpstr>
      <vt:lpstr>Google Sans</vt:lpstr>
      <vt:lpstr>Helvetica</vt:lpstr>
      <vt:lpstr>Symbol</vt:lpstr>
      <vt:lpstr>Tahoma</vt:lpstr>
      <vt:lpstr>Times New Roman</vt:lpstr>
      <vt:lpstr>Wingdings</vt:lpstr>
      <vt:lpstr>Tema do Office</vt:lpstr>
      <vt:lpstr>MENINGES E VENTRÍCULOS CEREBRAIS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VIVIANE MARIA DE CASTRO GUIMARAES VIEIRA</dc:creator>
  <dc:description/>
  <cp:lastModifiedBy>Laiza Barros</cp:lastModifiedBy>
  <cp:revision>8</cp:revision>
  <dcterms:created xsi:type="dcterms:W3CDTF">2025-07-25T15:54:00Z</dcterms:created>
  <dcterms:modified xsi:type="dcterms:W3CDTF">2026-02-24T19:26:29Z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