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57" r:id="rId4"/>
    <p:sldId id="258" r:id="rId5"/>
    <p:sldId id="262" r:id="rId6"/>
    <p:sldId id="260" r:id="rId7"/>
    <p:sldId id="265" r:id="rId8"/>
    <p:sldId id="263" r:id="rId9"/>
    <p:sldId id="264" r:id="rId10"/>
    <p:sldId id="266" r:id="rId11"/>
    <p:sldId id="259" r:id="rId12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 varScale="1">
        <p:scale>
          <a:sx n="90" d="100"/>
          <a:sy n="90" d="100"/>
        </p:scale>
        <p:origin x="2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A579089-8000-4FD4-86B0-53DF4B9EA4D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77F34E-894D-46DF-B53F-F6F69846C9C2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B98056-F26B-4785-90E0-8B70DAE80A4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703933-D0BF-421B-B8BB-B8C530A0269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C00008-29C0-4406-8D17-7F14BFBB567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3CD39C-EB71-4C8E-88E1-7A22B72131DD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841806-6D49-444C-A5A8-78A5C27977D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140112-95AD-4774-A483-CE1768BA14AF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A14073-1BC8-43A9-9870-40F695FE333F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29EAB9-E43A-432C-9E30-631BB92952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D93253-C21F-46C9-B0CE-CA758723EA3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698A67-2FA3-4FFA-999B-9F7EAD1A444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Dentista londrino decifra o código de Leonardo Da Vinci oculto no 'Homem  Vitruviano' após 500 anos">
            <a:extLst>
              <a:ext uri="{FF2B5EF4-FFF2-40B4-BE49-F238E27FC236}">
                <a16:creationId xmlns:a16="http://schemas.microsoft.com/office/drawing/2014/main" id="{F6698E3B-6F68-0C83-993B-FFA7720B2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46" b="10141"/>
          <a:stretch>
            <a:fillRect/>
          </a:stretch>
        </p:blipFill>
        <p:spPr bwMode="auto">
          <a:xfrm>
            <a:off x="6096010" y="10"/>
            <a:ext cx="6095999" cy="6857990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16789" y="4880099"/>
            <a:ext cx="6931319" cy="752217"/>
          </a:xfrm>
          <a:prstGeom prst="rect">
            <a:avLst/>
          </a:prstGeom>
        </p:spPr>
        <p:txBody>
          <a:bodyPr lIns="91440" tIns="45720" rIns="91440" bIns="45720" numCol="1" spcCol="0" anchor="b">
            <a:normAutofit/>
          </a:bodyPr>
          <a:lstStyle/>
          <a:p>
            <a:pPr indent="0">
              <a:buNone/>
            </a:pPr>
            <a:r>
              <a:rPr lang="pt-BR" sz="3600" b="0" u="none" strike="noStrike" dirty="0">
                <a:effectLst/>
                <a:uFillTx/>
                <a:latin typeface="Calibri Light"/>
              </a:rPr>
              <a:t>INTRODUÇÃO à ANATOMIA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599809" y="5845630"/>
            <a:ext cx="6931329" cy="965674"/>
          </a:xfrm>
          <a:prstGeom prst="rect">
            <a:avLst/>
          </a:prstGeom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spcAft>
                <a:spcPts val="600"/>
              </a:spcAft>
              <a:buNone/>
            </a:pPr>
            <a:endParaRPr lang="pt-BR" sz="14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  <a:p>
            <a:pPr indent="0">
              <a:spcAft>
                <a:spcPts val="600"/>
              </a:spcAft>
              <a:buNone/>
            </a:pPr>
            <a:r>
              <a:rPr lang="pt-BR" sz="14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Profa</a:t>
            </a:r>
            <a:r>
              <a:rPr lang="pt-BR" sz="14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 Dra. Laiza Barros </a:t>
            </a:r>
          </a:p>
          <a:p>
            <a:pPr indent="0">
              <a:spcAft>
                <a:spcPts val="600"/>
              </a:spcAft>
              <a:buNone/>
            </a:pPr>
            <a:r>
              <a:rPr lang="pt-BR" sz="14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PSICOLOGIA</a:t>
            </a:r>
          </a:p>
        </p:txBody>
      </p:sp>
      <p:pic>
        <p:nvPicPr>
          <p:cNvPr id="63" name="Imagem 5" descr="Forma&#10;&#10;Descrição gerada automaticamente com confiança média"/>
          <p:cNvPicPr/>
          <p:nvPr/>
        </p:nvPicPr>
        <p:blipFill>
          <a:blip r:embed="rId3"/>
          <a:srcRect l="10009" r="22720" b="-1"/>
          <a:stretch>
            <a:fillRect/>
          </a:stretch>
        </p:blipFill>
        <p:spPr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6078AF9-AF78-83FA-5916-E8C7B0F94383}"/>
              </a:ext>
            </a:extLst>
          </p:cNvPr>
          <p:cNvSpPr txBox="1"/>
          <p:nvPr/>
        </p:nvSpPr>
        <p:spPr>
          <a:xfrm>
            <a:off x="1034142" y="895350"/>
            <a:ext cx="450940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A </a:t>
            </a:r>
            <a:r>
              <a:rPr lang="pt-BR" sz="2400" b="0" i="1" dirty="0">
                <a:solidFill>
                  <a:srgbClr val="0A0A0A"/>
                </a:solidFill>
                <a:effectLst/>
                <a:latin typeface="Google Sans"/>
              </a:rPr>
              <a:t>Nomina </a:t>
            </a:r>
            <a:r>
              <a:rPr lang="pt-BR" sz="2400" b="0" i="1" dirty="0" err="1">
                <a:solidFill>
                  <a:srgbClr val="0A0A0A"/>
                </a:solidFill>
                <a:effectLst/>
                <a:latin typeface="Google Sans"/>
              </a:rPr>
              <a:t>Anatomica</a:t>
            </a:r>
            <a:r>
              <a:rPr lang="pt-BR" sz="2400" b="0" i="0" dirty="0">
                <a:solidFill>
                  <a:srgbClr val="0A0A0A"/>
                </a:solidFill>
                <a:effectLst/>
                <a:latin typeface="Google Sans"/>
              </a:rPr>
              <a:t> (NA) </a:t>
            </a:r>
            <a:r>
              <a:rPr lang="pt-BR" sz="2400" dirty="0"/>
              <a:t>foi o padrão internacional de nomenclatura anatômica humana de 1895 até 1998</a:t>
            </a:r>
            <a:r>
              <a:rPr lang="pt-BR" sz="2400" b="0" i="0" dirty="0">
                <a:solidFill>
                  <a:srgbClr val="0A0A0A"/>
                </a:solidFill>
                <a:effectLst/>
                <a:latin typeface="Google Sans"/>
              </a:rPr>
              <a:t>, quando foi substituída pela Terminologia Anatômica. </a:t>
            </a:r>
          </a:p>
          <a:p>
            <a:r>
              <a:rPr lang="pt-BR" sz="2400" b="0" i="0" dirty="0">
                <a:solidFill>
                  <a:srgbClr val="0A0A0A"/>
                </a:solidFill>
                <a:effectLst/>
                <a:latin typeface="Google Sans"/>
              </a:rPr>
              <a:t>Desenvolvida para unificar e padronizar termos técnicos, eliminou epônimos (nomes de pesquisadores) em favor de descrições baseadas na forma, localização ou função das estruturas, facilitando a comunicação científica.</a:t>
            </a:r>
            <a:endParaRPr lang="pt-BR" sz="2400" dirty="0"/>
          </a:p>
        </p:txBody>
      </p:sp>
      <p:pic>
        <p:nvPicPr>
          <p:cNvPr id="10242" name="Picture 2" descr="A Lição de Anatomia do Dr. Tulp – Rembrandt – Historia das Artes">
            <a:extLst>
              <a:ext uri="{FF2B5EF4-FFF2-40B4-BE49-F238E27FC236}">
                <a16:creationId xmlns:a16="http://schemas.microsoft.com/office/drawing/2014/main" id="{B8AF5A68-EA1A-8D48-ED58-56096C1A9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713" y="895350"/>
            <a:ext cx="6135686" cy="412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272C03-FB46-1F01-C03A-64BE5D7B9BE3}"/>
              </a:ext>
            </a:extLst>
          </p:cNvPr>
          <p:cNvSpPr txBox="1"/>
          <p:nvPr/>
        </p:nvSpPr>
        <p:spPr>
          <a:xfrm>
            <a:off x="6373018" y="5018531"/>
            <a:ext cx="4791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Lição de anatomia do </a:t>
            </a:r>
            <a:r>
              <a:rPr lang="pt-BR" dirty="0" err="1"/>
              <a:t>Dr</a:t>
            </a:r>
            <a:r>
              <a:rPr lang="pt-BR" dirty="0"/>
              <a:t> </a:t>
            </a:r>
            <a:r>
              <a:rPr lang="pt-BR" dirty="0" err="1"/>
              <a:t>Tulp</a:t>
            </a:r>
            <a:endParaRPr lang="pt-BR" dirty="0"/>
          </a:p>
          <a:p>
            <a:r>
              <a:rPr lang="pt-BR" dirty="0"/>
              <a:t>Rembrandt (1632)</a:t>
            </a:r>
          </a:p>
        </p:txBody>
      </p:sp>
    </p:spTree>
    <p:extLst>
      <p:ext uri="{BB962C8B-B14F-4D97-AF65-F5344CB8AC3E}">
        <p14:creationId xmlns:p14="http://schemas.microsoft.com/office/powerpoint/2010/main" val="238070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📍 POSIÇÃO ANATÔMICA — muito além de uma pose! Você achava que era só um  padrão visual dos livros de anatomia? 😮 Então se liga: ⠀ 🧍‍♀️ A posição  anatômica é a">
            <a:extLst>
              <a:ext uri="{FF2B5EF4-FFF2-40B4-BE49-F238E27FC236}">
                <a16:creationId xmlns:a16="http://schemas.microsoft.com/office/drawing/2014/main" id="{4357479B-0D6E-868B-11C8-B2954F254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588" y="0"/>
            <a:ext cx="710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rátis: Planos anatômicos - Material Claro e Objetivo em PDF para Estudo  Rápido">
            <a:extLst>
              <a:ext uri="{FF2B5EF4-FFF2-40B4-BE49-F238E27FC236}">
                <a16:creationId xmlns:a16="http://schemas.microsoft.com/office/drawing/2014/main" id="{3FD9AF60-B84D-D745-78FA-B5949573E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0" y="1249363"/>
            <a:ext cx="8128000" cy="524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DBCFB1E-CBB9-A8C6-3C59-D5B2209F4271}"/>
              </a:ext>
            </a:extLst>
          </p:cNvPr>
          <p:cNvSpPr txBox="1"/>
          <p:nvPr/>
        </p:nvSpPr>
        <p:spPr>
          <a:xfrm>
            <a:off x="667543" y="363537"/>
            <a:ext cx="3300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Planos de Corte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Grátis: Planos e Eixos Anatômicos - Material Claro e Objetivo em PDF para  Estudo Rápido">
            <a:extLst>
              <a:ext uri="{FF2B5EF4-FFF2-40B4-BE49-F238E27FC236}">
                <a16:creationId xmlns:a16="http://schemas.microsoft.com/office/drawing/2014/main" id="{057DF9BC-1C66-04F4-6586-AF0B0D304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298100"/>
            <a:ext cx="8853488" cy="626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587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osição Anatômica e as Direções do Corpo Humano - Treino Correto">
            <a:extLst>
              <a:ext uri="{FF2B5EF4-FFF2-40B4-BE49-F238E27FC236}">
                <a16:creationId xmlns:a16="http://schemas.microsoft.com/office/drawing/2014/main" id="{6EDDEAF5-BAC2-9248-A6F4-97EEE6DBB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7150"/>
            <a:ext cx="7620000" cy="674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17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Grátis: Anatomia clínica Abdome - Material Claro e Objetivo em PDF para  Estudo Rápido">
            <a:extLst>
              <a:ext uri="{FF2B5EF4-FFF2-40B4-BE49-F238E27FC236}">
                <a16:creationId xmlns:a16="http://schemas.microsoft.com/office/drawing/2014/main" id="{EE77ECC1-C4E6-A68E-1F4C-BFF8E4C1E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75" y="0"/>
            <a:ext cx="7918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0476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3DE567-F52F-3302-6127-9DE623903F3B}"/>
              </a:ext>
            </a:extLst>
          </p:cNvPr>
          <p:cNvSpPr txBox="1"/>
          <p:nvPr/>
        </p:nvSpPr>
        <p:spPr>
          <a:xfrm>
            <a:off x="1012371" y="579375"/>
            <a:ext cx="378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Variação Anatômica</a:t>
            </a:r>
          </a:p>
        </p:txBody>
      </p:sp>
      <p:pic>
        <p:nvPicPr>
          <p:cNvPr id="3" name="Picture 4" descr="Cardiac Transplantation in a Patient With Situs Inversus Totalis and  Extracardiac Fontan | JACC: Case Reports">
            <a:extLst>
              <a:ext uri="{FF2B5EF4-FFF2-40B4-BE49-F238E27FC236}">
                <a16:creationId xmlns:a16="http://schemas.microsoft.com/office/drawing/2014/main" id="{024D8CC0-02E5-7240-1C80-D5986DD45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130" y="1277329"/>
            <a:ext cx="6779419" cy="430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C6D8996-31CF-7C86-F4DD-D608938E1716}"/>
              </a:ext>
            </a:extLst>
          </p:cNvPr>
          <p:cNvSpPr txBox="1"/>
          <p:nvPr/>
        </p:nvSpPr>
        <p:spPr>
          <a:xfrm>
            <a:off x="2777897" y="5386073"/>
            <a:ext cx="2214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Situs</a:t>
            </a:r>
            <a:r>
              <a:rPr lang="pt-BR" dirty="0"/>
              <a:t> </a:t>
            </a:r>
            <a:r>
              <a:rPr lang="pt-BR" dirty="0" err="1"/>
              <a:t>inversus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0907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565FF18-082E-8272-AC73-82896E154105}"/>
              </a:ext>
            </a:extLst>
          </p:cNvPr>
          <p:cNvSpPr txBox="1"/>
          <p:nvPr/>
        </p:nvSpPr>
        <p:spPr>
          <a:xfrm>
            <a:off x="957262" y="777034"/>
            <a:ext cx="2443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Anomalia </a:t>
            </a:r>
          </a:p>
        </p:txBody>
      </p:sp>
      <p:pic>
        <p:nvPicPr>
          <p:cNvPr id="8194" name="Picture 2" descr="Lábio leporino: implantes dentários podem ser necessários">
            <a:extLst>
              <a:ext uri="{FF2B5EF4-FFF2-40B4-BE49-F238E27FC236}">
                <a16:creationId xmlns:a16="http://schemas.microsoft.com/office/drawing/2014/main" id="{2F1424EA-D1FE-8302-7334-2CC376A6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870" y="1647589"/>
            <a:ext cx="3857851" cy="256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Pectus (deformidades da parede torácica): Sintomas, Causas e Tratamentos">
            <a:extLst>
              <a:ext uri="{FF2B5EF4-FFF2-40B4-BE49-F238E27FC236}">
                <a16:creationId xmlns:a16="http://schemas.microsoft.com/office/drawing/2014/main" id="{86E5A3F5-B72B-0836-FFC3-6571BD86A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867" y="2059493"/>
            <a:ext cx="3148906" cy="341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D2C3956-6752-0F2B-F5D7-8BE6C913BD9B}"/>
              </a:ext>
            </a:extLst>
          </p:cNvPr>
          <p:cNvSpPr txBox="1"/>
          <p:nvPr/>
        </p:nvSpPr>
        <p:spPr>
          <a:xfrm>
            <a:off x="1853870" y="4386263"/>
            <a:ext cx="2289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Fissura </a:t>
            </a:r>
            <a:r>
              <a:rPr lang="pt-BR" dirty="0" err="1"/>
              <a:t>labiopalatina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B3889C-8F5B-D05C-9BB9-50E9D9F5DC58}"/>
              </a:ext>
            </a:extLst>
          </p:cNvPr>
          <p:cNvSpPr txBox="1"/>
          <p:nvPr/>
        </p:nvSpPr>
        <p:spPr>
          <a:xfrm>
            <a:off x="6096000" y="5475255"/>
            <a:ext cx="45624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Alteração do esterno </a:t>
            </a:r>
          </a:p>
          <a:p>
            <a:r>
              <a:rPr lang="pt-BR" sz="900" dirty="0"/>
              <a:t>https://</a:t>
            </a:r>
            <a:r>
              <a:rPr lang="pt-BR" sz="900" dirty="0" err="1"/>
              <a:t>www.einstein.br</a:t>
            </a:r>
            <a:r>
              <a:rPr lang="pt-BR" sz="900" dirty="0"/>
              <a:t>/</a:t>
            </a:r>
            <a:r>
              <a:rPr lang="pt-BR" sz="900" dirty="0" err="1"/>
              <a:t>n</a:t>
            </a:r>
            <a:r>
              <a:rPr lang="pt-BR" sz="900" dirty="0"/>
              <a:t>/</a:t>
            </a:r>
            <a:r>
              <a:rPr lang="pt-BR" sz="900" dirty="0" err="1"/>
              <a:t>glossario</a:t>
            </a:r>
            <a:r>
              <a:rPr lang="pt-BR" sz="900" dirty="0"/>
              <a:t>-</a:t>
            </a:r>
            <a:r>
              <a:rPr lang="pt-BR" sz="900" dirty="0" err="1"/>
              <a:t>de-saude</a:t>
            </a:r>
            <a:r>
              <a:rPr lang="pt-BR" sz="900" dirty="0"/>
              <a:t>/</a:t>
            </a:r>
            <a:r>
              <a:rPr lang="pt-BR" sz="900" dirty="0" err="1"/>
              <a:t>pectus</a:t>
            </a:r>
            <a:r>
              <a:rPr lang="pt-BR" sz="900" dirty="0"/>
              <a:t>-deformidades-da-parede-</a:t>
            </a:r>
            <a:r>
              <a:rPr lang="pt-BR" sz="900" dirty="0" err="1"/>
              <a:t>toracica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2604618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Turma - Uma aula de anatomia com o Dr. Franjinha! Os Quadrões não são  lindos demais? | Facebook">
            <a:extLst>
              <a:ext uri="{FF2B5EF4-FFF2-40B4-BE49-F238E27FC236}">
                <a16:creationId xmlns:a16="http://schemas.microsoft.com/office/drawing/2014/main" id="{41CC083D-1C03-74CD-CDD4-6E2CCBFCC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899" y="416779"/>
            <a:ext cx="7790046" cy="5183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F6F7696-44FD-789A-EB22-4D152388FDA7}"/>
              </a:ext>
            </a:extLst>
          </p:cNvPr>
          <p:cNvSpPr txBox="1"/>
          <p:nvPr/>
        </p:nvSpPr>
        <p:spPr>
          <a:xfrm>
            <a:off x="2210424" y="5600700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Lição de Anatomia do </a:t>
            </a:r>
            <a:r>
              <a:rPr lang="pt-BR" dirty="0" err="1"/>
              <a:t>Dr</a:t>
            </a:r>
            <a:r>
              <a:rPr lang="pt-BR" dirty="0"/>
              <a:t> Franjinha</a:t>
            </a:r>
          </a:p>
          <a:p>
            <a:r>
              <a:rPr lang="pt-BR" dirty="0"/>
              <a:t>Maurício de Sousa .História em </a:t>
            </a:r>
            <a:r>
              <a:rPr lang="pt-BR" dirty="0" err="1"/>
              <a:t>Quadrões</a:t>
            </a:r>
            <a:r>
              <a:rPr lang="pt-BR" dirty="0"/>
              <a:t> (1998) </a:t>
            </a:r>
          </a:p>
        </p:txBody>
      </p:sp>
    </p:spTree>
    <p:extLst>
      <p:ext uri="{BB962C8B-B14F-4D97-AF65-F5344CB8AC3E}">
        <p14:creationId xmlns:p14="http://schemas.microsoft.com/office/powerpoint/2010/main" val="2855162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4" descr="Uma imagem contendo 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ermelho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Novo Modelo de Slides do IPOG - Versão 2021</Template>
  <TotalTime>870</TotalTime>
  <Words>121</Words>
  <Application>Microsoft Macintosh PowerPoint</Application>
  <PresentationFormat>Widescreen</PresentationFormat>
  <Paragraphs>17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Google Sans</vt:lpstr>
      <vt:lpstr>Symbol</vt:lpstr>
      <vt:lpstr>Times New Roman</vt:lpstr>
      <vt:lpstr>Wingdings</vt:lpstr>
      <vt:lpstr>Tema do Office</vt:lpstr>
      <vt:lpstr>INTRODUÇÃO à ANATOMIA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VIVIANE MARIA DE CASTRO GUIMARAES VIEIRA</dc:creator>
  <dc:description/>
  <cp:lastModifiedBy>Laiza Barros</cp:lastModifiedBy>
  <cp:revision>9</cp:revision>
  <dcterms:created xsi:type="dcterms:W3CDTF">2025-07-25T15:54:00Z</dcterms:created>
  <dcterms:modified xsi:type="dcterms:W3CDTF">2026-02-11T13:13:33Z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