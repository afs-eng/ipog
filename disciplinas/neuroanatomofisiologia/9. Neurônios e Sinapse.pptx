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45"/>
  </p:notesMasterIdLst>
  <p:sldIdLst>
    <p:sldId id="299" r:id="rId2"/>
    <p:sldId id="297" r:id="rId3"/>
    <p:sldId id="292" r:id="rId4"/>
    <p:sldId id="267" r:id="rId5"/>
    <p:sldId id="257" r:id="rId6"/>
    <p:sldId id="266" r:id="rId7"/>
    <p:sldId id="262" r:id="rId8"/>
    <p:sldId id="263" r:id="rId9"/>
    <p:sldId id="298" r:id="rId10"/>
    <p:sldId id="293" r:id="rId11"/>
    <p:sldId id="264" r:id="rId12"/>
    <p:sldId id="290" r:id="rId13"/>
    <p:sldId id="258" r:id="rId14"/>
    <p:sldId id="281" r:id="rId15"/>
    <p:sldId id="269" r:id="rId16"/>
    <p:sldId id="268" r:id="rId17"/>
    <p:sldId id="304" r:id="rId18"/>
    <p:sldId id="301" r:id="rId19"/>
    <p:sldId id="302" r:id="rId20"/>
    <p:sldId id="303" r:id="rId21"/>
    <p:sldId id="276" r:id="rId22"/>
    <p:sldId id="306" r:id="rId23"/>
    <p:sldId id="270" r:id="rId24"/>
    <p:sldId id="261" r:id="rId25"/>
    <p:sldId id="310" r:id="rId26"/>
    <p:sldId id="283" r:id="rId27"/>
    <p:sldId id="284" r:id="rId28"/>
    <p:sldId id="285" r:id="rId29"/>
    <p:sldId id="307" r:id="rId30"/>
    <p:sldId id="308" r:id="rId31"/>
    <p:sldId id="309" r:id="rId32"/>
    <p:sldId id="311" r:id="rId33"/>
    <p:sldId id="312" r:id="rId34"/>
    <p:sldId id="313" r:id="rId35"/>
    <p:sldId id="314" r:id="rId36"/>
    <p:sldId id="315" r:id="rId37"/>
    <p:sldId id="316" r:id="rId38"/>
    <p:sldId id="273" r:id="rId39"/>
    <p:sldId id="317" r:id="rId40"/>
    <p:sldId id="272" r:id="rId41"/>
    <p:sldId id="275" r:id="rId42"/>
    <p:sldId id="278" r:id="rId43"/>
    <p:sldId id="279" r:id="rId44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41"/>
    <p:restoredTop sz="94648"/>
  </p:normalViewPr>
  <p:slideViewPr>
    <p:cSldViewPr>
      <p:cViewPr varScale="1">
        <p:scale>
          <a:sx n="89" d="100"/>
          <a:sy n="89" d="100"/>
        </p:scale>
        <p:origin x="184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4A153-2BBF-8A4A-8388-C02F92084025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1144D-6A3E-4D4A-8340-98C4AEE8A2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03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865612A9-CD4A-97E1-2D91-FB44795EC4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50BBDC1-19EB-634E-8686-E65F57B708E9}" type="slidenum">
              <a:rPr lang="en-US" altLang="en-US" smtClean="0">
                <a:latin typeface="Times" pitchFamily="2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en-US">
              <a:latin typeface="Times" pitchFamily="2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E4143675-696F-0925-403B-106682DB1D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197C728-4F94-5F02-2ED1-AEEBCE63B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144D-6A3E-4D4A-8340-98C4AEE8A231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869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3980BA1-A23B-A4D6-7B00-C0989348F107}"/>
              </a:ext>
            </a:extLst>
          </p:cNvPr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BCA0F80-E24D-EE3A-7C83-5EB6A3BA206E}"/>
              </a:ext>
            </a:extLst>
          </p:cNvPr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F5400BC-2CDE-AFA1-CE86-2622BBB7E3AF}"/>
              </a:ext>
            </a:extLst>
          </p:cNvPr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5" name="Espaço Reservado para Data 27">
            <a:extLst>
              <a:ext uri="{FF2B5EF4-FFF2-40B4-BE49-F238E27FC236}">
                <a16:creationId xmlns:a16="http://schemas.microsoft.com/office/drawing/2014/main" id="{277D376D-37E9-A898-1992-CAF4E4EB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C788EDD1-8E1E-7740-9F42-2B9E55400F35}" type="datetimeFigureOut">
              <a:rPr lang="pt-BR"/>
              <a:pPr>
                <a:defRPr/>
              </a:pPr>
              <a:t>19/03/2026</a:t>
            </a:fld>
            <a:endParaRPr lang="pt-BR"/>
          </a:p>
        </p:txBody>
      </p:sp>
      <p:sp>
        <p:nvSpPr>
          <p:cNvPr id="6" name="Espaço Reservado para Rodapé 16">
            <a:extLst>
              <a:ext uri="{FF2B5EF4-FFF2-40B4-BE49-F238E27FC236}">
                <a16:creationId xmlns:a16="http://schemas.microsoft.com/office/drawing/2014/main" id="{FC44D82B-65F9-52EF-6388-110AF4A4E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8">
            <a:extLst>
              <a:ext uri="{FF2B5EF4-FFF2-40B4-BE49-F238E27FC236}">
                <a16:creationId xmlns:a16="http://schemas.microsoft.com/office/drawing/2014/main" id="{B6707526-9EC6-2CFC-D2DE-B5F57A5A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C0DD0A-48D5-3848-AC2C-D314808F6A1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24709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99715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Espaço Reservado para Número de Slide 22">
            <a:extLst>
              <a:ext uri="{FF2B5EF4-FFF2-40B4-BE49-F238E27FC236}">
                <a16:creationId xmlns:a16="http://schemas.microsoft.com/office/drawing/2014/main" id="{369FAC63-56F8-8499-D6DE-1B3968335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616ACE-49D5-264B-B35D-F249B80AAD6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37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62723C9-3DB3-9564-4C1C-71957D8CDE63}"/>
              </a:ext>
            </a:extLst>
          </p:cNvPr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3AD92F-614E-EF26-AAB9-C1DFFEB79CEA}"/>
              </a:ext>
            </a:extLst>
          </p:cNvPr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FE0F18-4F7E-04AE-6BBB-85C8AF18158D}"/>
              </a:ext>
            </a:extLst>
          </p:cNvPr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7" name="Espaço Reservado para Data 11">
            <a:extLst>
              <a:ext uri="{FF2B5EF4-FFF2-40B4-BE49-F238E27FC236}">
                <a16:creationId xmlns:a16="http://schemas.microsoft.com/office/drawing/2014/main" id="{C2562C28-398E-F7E2-3220-D671BBA1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54C68935-867D-3042-A00F-B923AE09E90A}" type="datetimeFigureOut">
              <a:rPr lang="pt-BR"/>
              <a:pPr>
                <a:defRPr/>
              </a:pPr>
              <a:t>19/03/2026</a:t>
            </a:fld>
            <a:endParaRPr lang="pt-BR"/>
          </a:p>
        </p:txBody>
      </p:sp>
      <p:sp>
        <p:nvSpPr>
          <p:cNvPr id="8" name="Espaço Reservado para Número de Slide 12">
            <a:extLst>
              <a:ext uri="{FF2B5EF4-FFF2-40B4-BE49-F238E27FC236}">
                <a16:creationId xmlns:a16="http://schemas.microsoft.com/office/drawing/2014/main" id="{6D38902A-8D2F-A7F6-B7F1-EB9B77082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3B7A0E9F-1CE1-5847-9556-772DB1A7BB0E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9" name="Espaço Reservado para Rodapé 13">
            <a:extLst>
              <a:ext uri="{FF2B5EF4-FFF2-40B4-BE49-F238E27FC236}">
                <a16:creationId xmlns:a16="http://schemas.microsoft.com/office/drawing/2014/main" id="{1539AAFA-87D4-4D26-FE65-5A818748360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49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Espaço Reservado para Data 7">
            <a:extLst>
              <a:ext uri="{FF2B5EF4-FFF2-40B4-BE49-F238E27FC236}">
                <a16:creationId xmlns:a16="http://schemas.microsoft.com/office/drawing/2014/main" id="{84FBD2F8-BBEC-29ED-9C30-3135B81F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7AB6E24-64B8-2E4F-BF21-9D51A61FB71D}" type="datetimeFigureOut">
              <a:rPr lang="pt-BR"/>
              <a:pPr>
                <a:defRPr/>
              </a:pPr>
              <a:t>19/03/2026</a:t>
            </a:fld>
            <a:endParaRPr lang="pt-BR"/>
          </a:p>
        </p:txBody>
      </p:sp>
      <p:sp>
        <p:nvSpPr>
          <p:cNvPr id="4" name="Espaço Reservado para Número de Slide 9">
            <a:extLst>
              <a:ext uri="{FF2B5EF4-FFF2-40B4-BE49-F238E27FC236}">
                <a16:creationId xmlns:a16="http://schemas.microsoft.com/office/drawing/2014/main" id="{AF831387-F8A7-17A1-1067-7C04E9FB93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D6B4FBD-8181-D545-AFEE-6E101FAFC4D7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5" name="Espaço Reservado para Rodapé 11">
            <a:extLst>
              <a:ext uri="{FF2B5EF4-FFF2-40B4-BE49-F238E27FC236}">
                <a16:creationId xmlns:a16="http://schemas.microsoft.com/office/drawing/2014/main" id="{5D05C214-78F2-B534-F3B9-9D6E0076DF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13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3" name="Espaço Reservado para Data 9">
            <a:extLst>
              <a:ext uri="{FF2B5EF4-FFF2-40B4-BE49-F238E27FC236}">
                <a16:creationId xmlns:a16="http://schemas.microsoft.com/office/drawing/2014/main" id="{842C00CB-A783-C2D9-97BC-8FEDE868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261FB70E-D7D9-274B-A7A3-0586C5502D3B}" type="datetimeFigureOut">
              <a:rPr lang="pt-BR"/>
              <a:pPr>
                <a:defRPr/>
              </a:pPr>
              <a:t>19/03/2026</a:t>
            </a:fld>
            <a:endParaRPr lang="pt-BR"/>
          </a:p>
        </p:txBody>
      </p:sp>
      <p:sp>
        <p:nvSpPr>
          <p:cNvPr id="4" name="Espaço Reservado para Número de Slide 11">
            <a:extLst>
              <a:ext uri="{FF2B5EF4-FFF2-40B4-BE49-F238E27FC236}">
                <a16:creationId xmlns:a16="http://schemas.microsoft.com/office/drawing/2014/main" id="{F4319915-6E52-3A9D-AF30-88BB18DB72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D4A696-1BD9-6B41-B3F5-A80C6C559B03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5" name="Espaço Reservado para Rodapé 13">
            <a:extLst>
              <a:ext uri="{FF2B5EF4-FFF2-40B4-BE49-F238E27FC236}">
                <a16:creationId xmlns:a16="http://schemas.microsoft.com/office/drawing/2014/main" id="{23D35E97-DF20-5065-AAA7-95C98C9B3A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3" name="Espaço Reservado para Número de Slide 22">
            <a:extLst>
              <a:ext uri="{FF2B5EF4-FFF2-40B4-BE49-F238E27FC236}">
                <a16:creationId xmlns:a16="http://schemas.microsoft.com/office/drawing/2014/main" id="{3EEC8DA2-DFFD-C777-F972-88A05DCB3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9BF7BA-9068-1D4F-9A79-555D72756B4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36743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940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4">
            <a:extLst>
              <a:ext uri="{FF2B5EF4-FFF2-40B4-BE49-F238E27FC236}">
                <a16:creationId xmlns:a16="http://schemas.microsoft.com/office/drawing/2014/main" id="{7D06C3EF-B068-D790-FBAA-50A3559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3506500-1354-C14D-8B78-22E54D72C8A5}" type="datetimeFigureOut">
              <a:rPr lang="pt-BR"/>
              <a:pPr>
                <a:defRPr/>
              </a:pPr>
              <a:t>19/03/2026</a:t>
            </a:fld>
            <a:endParaRPr lang="pt-BR"/>
          </a:p>
        </p:txBody>
      </p:sp>
      <p:sp>
        <p:nvSpPr>
          <p:cNvPr id="5" name="Espaço Reservado para Rodapé 5">
            <a:extLst>
              <a:ext uri="{FF2B5EF4-FFF2-40B4-BE49-F238E27FC236}">
                <a16:creationId xmlns:a16="http://schemas.microsoft.com/office/drawing/2014/main" id="{0FAB0D9F-43CB-4CB5-6E18-89196340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6">
            <a:extLst>
              <a:ext uri="{FF2B5EF4-FFF2-40B4-BE49-F238E27FC236}">
                <a16:creationId xmlns:a16="http://schemas.microsoft.com/office/drawing/2014/main" id="{25A28807-4291-F014-5256-2FD6D2C2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E8E21E-651F-5045-90ED-F1B92359C96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18980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CED45D4-1044-A05F-E0E1-0D5D1B3529B2}"/>
              </a:ext>
            </a:extLst>
          </p:cNvPr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E8B5756-B018-3B36-E3F3-FE8CC0EB8138}"/>
              </a:ext>
            </a:extLst>
          </p:cNvPr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BDD210E-DF9B-0390-3448-BC8335817F92}"/>
              </a:ext>
            </a:extLst>
          </p:cNvPr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E9FC165-1C79-25AE-589D-D791BF651AF9}"/>
              </a:ext>
            </a:extLst>
          </p:cNvPr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>
            <a:extLst>
              <a:ext uri="{FF2B5EF4-FFF2-40B4-BE49-F238E27FC236}">
                <a16:creationId xmlns:a16="http://schemas.microsoft.com/office/drawing/2014/main" id="{E8257BDC-40C1-62B0-1FF4-E31ECF92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AE15C7C-4BD2-D54C-BF8F-A3962146B7CB}" type="datetimeFigureOut">
              <a:rPr lang="pt-BR"/>
              <a:pPr>
                <a:defRPr/>
              </a:pPr>
              <a:t>19/03/2026</a:t>
            </a:fld>
            <a:endParaRPr lang="pt-BR"/>
          </a:p>
        </p:txBody>
      </p:sp>
      <p:sp>
        <p:nvSpPr>
          <p:cNvPr id="10" name="Espaço Reservado para Número de Slide 12">
            <a:extLst>
              <a:ext uri="{FF2B5EF4-FFF2-40B4-BE49-F238E27FC236}">
                <a16:creationId xmlns:a16="http://schemas.microsoft.com/office/drawing/2014/main" id="{4631160E-B95A-26FA-3C5C-ED1B2A507A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/>
          <a:lstStyle>
            <a:lvl1pPr>
              <a:defRPr sz="2800"/>
            </a:lvl1pPr>
          </a:lstStyle>
          <a:p>
            <a:fld id="{10BCEF50-C50E-2C4C-BA55-156350777DD1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11" name="Espaço Reservado para Rodapé 13">
            <a:extLst>
              <a:ext uri="{FF2B5EF4-FFF2-40B4-BE49-F238E27FC236}">
                <a16:creationId xmlns:a16="http://schemas.microsoft.com/office/drawing/2014/main" id="{18C917EC-69C4-9FD2-05B9-F9443CF6CD9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997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D23AB6-743B-655D-CDFF-94937B51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5C1EE8DF-46A8-E043-BB88-DE0EC462AC60}" type="datetimeFigureOut">
              <a:rPr lang="pt-BR"/>
              <a:pPr>
                <a:defRPr/>
              </a:pPr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46B2B0-6DCD-E737-D500-80DBF9CB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D4348F-317C-124A-D4FB-CCEE861A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7C62FC-AF1F-EB41-B396-F0FF6696A80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4599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6CAC950-1223-8B10-20FC-DC3776B0C47C}"/>
              </a:ext>
            </a:extLst>
          </p:cNvPr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269A91-0F85-04F6-6A08-19C3C7D0CED2}"/>
              </a:ext>
            </a:extLst>
          </p:cNvPr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16B285A-6A18-DE3D-11A6-3F322C2482E2}"/>
              </a:ext>
            </a:extLst>
          </p:cNvPr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F415CEDC-FD71-5CDA-D730-4FB081A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F5328769-D223-D044-9D9D-17D95E540850}" type="datetimeFigureOut">
              <a:rPr lang="pt-BR"/>
              <a:pPr>
                <a:defRPr/>
              </a:pPr>
              <a:t>19/03/2026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CF4A4AD0-8926-4111-81E7-9AFB5552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38672B1D-7A44-59E8-6C86-C1B6AF8E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fld id="{AE840838-31FD-024D-B8D4-F6FA20FC5BC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66260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3ACF536-2A22-D219-EDF6-E1C9B9C7A3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3117792-663C-1679-8EA4-BE90C8390E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BEAF8EF-433D-D3FB-2C25-0FACD0A5B2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BEF4C-BB2E-AD4C-A0EC-8B17BBEEA7A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52105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6EFFB8-4843-BAA3-32A3-6F2950DC2C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997EFB-5F54-3B2F-6D56-4E80A65A43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8DF603-63C3-D27E-8024-DB1A69244C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4BD65-252D-DD40-8962-57A81832314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43428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21">
            <a:extLst>
              <a:ext uri="{FF2B5EF4-FFF2-40B4-BE49-F238E27FC236}">
                <a16:creationId xmlns:a16="http://schemas.microsoft.com/office/drawing/2014/main" id="{59162F0C-14A4-D45D-E643-65960DCC1FC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  <a:endParaRPr lang="en-US" altLang="pt-BR"/>
          </a:p>
        </p:txBody>
      </p:sp>
      <p:sp>
        <p:nvSpPr>
          <p:cNvPr id="1027" name="Espaço Reservado para Texto 12">
            <a:extLst>
              <a:ext uri="{FF2B5EF4-FFF2-40B4-BE49-F238E27FC236}">
                <a16:creationId xmlns:a16="http://schemas.microsoft.com/office/drawing/2014/main" id="{0EFDAE43-AB12-36F2-D882-1F9E8B1778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28040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61C760E-EE44-F999-1C25-4EF6CEAFE521}"/>
              </a:ext>
            </a:extLst>
          </p:cNvPr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51B2D0A-8DC5-0AEB-240C-680C5B51F625}"/>
              </a:ext>
            </a:extLst>
          </p:cNvPr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0DE1E0E-B2F1-94EC-BD74-2B6CA05888DA}"/>
              </a:ext>
            </a:extLst>
          </p:cNvPr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Espaço Reservado para Número de Slide 22">
            <a:extLst>
              <a:ext uri="{FF2B5EF4-FFF2-40B4-BE49-F238E27FC236}">
                <a16:creationId xmlns:a16="http://schemas.microsoft.com/office/drawing/2014/main" id="{D2DCE06A-99CB-0693-A76A-7F863E15C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1400" b="1">
                <a:solidFill>
                  <a:srgbClr val="FFFFFF"/>
                </a:solidFill>
                <a:latin typeface="Tw Cen MT" panose="020B0602020104020603" pitchFamily="34" charset="77"/>
              </a:defRPr>
            </a:lvl1pPr>
          </a:lstStyle>
          <a:p>
            <a:fld id="{745BCD3D-BDBB-334F-A11E-3BD737B647CC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17" r:id="rId2"/>
    <p:sldLayoutId id="2147483820" r:id="rId3"/>
    <p:sldLayoutId id="2147483821" r:id="rId4"/>
    <p:sldLayoutId id="2147483822" r:id="rId5"/>
    <p:sldLayoutId id="2147483818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9" r:id="rId12"/>
    <p:sldLayoutId id="214748383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2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D2DA7A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FADA7A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l.icb.usp.br/index.php/9-14-tecido-nervoso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ol.icb.usp.br/index.php/9-13-tecido-nervoso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Oligodendr%C3%B3citos&amp;oq=c%C3%A9lulas+da+glia&amp;gs_lcrp=EgZjaHJvbWUqBwgDEAAYgAQyCQgAEEUYORiABDIMCAEQABgUGIcCGIAEMgcIAhAAGIAEMgcIAxAAGIAEMgcIBBAAGIAEMgcIBRAAGIAEMgcIBhAAGIAEMgcIBxAAGIAEMgcICBAAGO8FMgcICRAAGO8F0gEINjI4N2owajeoAgCwAgA&amp;sourceid=chrome&amp;ie=UTF-8&amp;ved=2ahUKEwjt3O2AgqyTAxUSDrkGHeHOJzQQgK4QegYIAAgBEAM" TargetMode="External"/><Relationship Id="rId2" Type="http://schemas.openxmlformats.org/officeDocument/2006/relationships/hyperlink" Target="https://www.google.com/search?q=Astr%C3%B3citos&amp;oq=c%C3%A9lulas+da+glia&amp;gs_lcrp=EgZjaHJvbWUqBwgDEAAYgAQyCQgAEEUYORiABDIMCAEQABgUGIcCGIAEMgcIAhAAGIAEMgcIAxAAGIAEMgcIBBAAGIAEMgcIBRAAGIAEMgcIBhAAGIAEMgcIBxAAGIAEMgcICBAAGO8FMgcICRAAGO8F0gEINjI4N2owajeoAgCwAgA&amp;sourceid=chrome&amp;ie=UTF-8&amp;ved=2ahUKEwjt3O2AgqyTAxUSDrkGHeHOJzQQgK4QegYIAAgBEA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search?q=C%C3%A9lulas+Ependim%C3%A1rias&amp;oq=c%C3%A9lulas+da+glia&amp;gs_lcrp=EgZjaHJvbWUqBwgDEAAYgAQyCQgAEEUYORiABDIMCAEQABgUGIcCGIAEMgcIAhAAGIAEMgcIAxAAGIAEMgcIBBAAGIAEMgcIBRAAGIAEMgcIBhAAGIAEMgcIBxAAGIAEMgcICBAAGO8FMgcICRAAGO8F0gEINjI4N2owajeoAgCwAgA&amp;sourceid=chrome&amp;ie=UTF-8&amp;ved=2ahUKEwjt3O2AgqyTAxUSDrkGHeHOJzQQgK4QegYIAAgBEAk" TargetMode="External"/><Relationship Id="rId5" Type="http://schemas.openxmlformats.org/officeDocument/2006/relationships/hyperlink" Target="https://www.google.com/search?q=Micr%C3%B3glia&amp;oq=c%C3%A9lulas+da+glia&amp;gs_lcrp=EgZjaHJvbWUqBwgDEAAYgAQyCQgAEEUYORiABDIMCAEQABgUGIcCGIAEMgcIAhAAGIAEMgcIAxAAGIAEMgcIBBAAGIAEMgcIBRAAGIAEMgcIBhAAGIAEMgcIBxAAGIAEMgcICBAAGO8FMgcICRAAGO8F0gEINjI4N2owajeoAgCwAgA&amp;sourceid=chrome&amp;ie=UTF-8&amp;ved=2ahUKEwjt3O2AgqyTAxUSDrkGHeHOJzQQgK4QegYIAAgBEAc" TargetMode="External"/><Relationship Id="rId4" Type="http://schemas.openxmlformats.org/officeDocument/2006/relationships/hyperlink" Target="https://www.google.com/search?q=C%C3%A9lulas+de+Schwann&amp;oq=c%C3%A9lulas+da+glia&amp;gs_lcrp=EgZjaHJvbWUqBwgDEAAYgAQyCQgAEEUYORiABDIMCAEQABgUGIcCGIAEMgcIAhAAGIAEMgcIAxAAGIAEMgcIBBAAGIAEMgcIBRAAGIAEMgcIBhAAGIAEMgcIBxAAGIAEMgcICBAAGO8FMgcICRAAGO8F0gEINjI4N2owajeoAgCwAgA&amp;sourceid=chrome&amp;ie=UTF-8&amp;ved=2ahUKEwjt3O2AgqyTAxUSDrkGHeHOJzQQgK4QegYIAAgBEAU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hyperlink" Target="https://www.kenhub.com/pt/library/fisiologia-pt/neurotransmissores?gad_source=1&amp;gad_campaignid=23456968687&amp;gbraid=0AAAAADtP8paRl-loqvHaaHYoFHreThA_H&amp;gclid=Cj0KCQjwve7NBhC-ARIsALZy9HXPrqE4rWqK0Gm3h1v-ae36b1jS9z668iWg13CvBLxyx9D0XAMEClMaAreCEALw_wcB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Sinapses: Partes, Funções e Tipos de sinapses - Psicoativo ⋆ Universo da  Psicologia">
            <a:extLst>
              <a:ext uri="{FF2B5EF4-FFF2-40B4-BE49-F238E27FC236}">
                <a16:creationId xmlns:a16="http://schemas.microsoft.com/office/drawing/2014/main" id="{F1B4523D-AB8E-1C9C-E560-0E61171EF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-1191025" y="0"/>
            <a:ext cx="11526051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4AEF3AB-8DDF-2F02-6FF0-661CA5A30C7E}"/>
              </a:ext>
            </a:extLst>
          </p:cNvPr>
          <p:cNvSpPr txBox="1"/>
          <p:nvPr/>
        </p:nvSpPr>
        <p:spPr>
          <a:xfrm>
            <a:off x="3563888" y="5373216"/>
            <a:ext cx="698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</a:rPr>
              <a:t>Neurônios e Sinapse</a:t>
            </a:r>
          </a:p>
        </p:txBody>
      </p:sp>
    </p:spTree>
    <p:extLst>
      <p:ext uri="{BB962C8B-B14F-4D97-AF65-F5344CB8AC3E}">
        <p14:creationId xmlns:p14="http://schemas.microsoft.com/office/powerpoint/2010/main" val="416279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434 0.24861" pathEditMode="relative" ptsTypes="AA">
                                      <p:cBhvr>
                                        <p:cTn id="6" dur="30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7577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44434 0.24861 L -0.11825 0.24861" pathEditMode="relative" ptsTypes="AA">
                                      <p:cBhvr>
                                        <p:cTn id="11" dur="30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11825 0.24861 L 0.09669 0.05741" pathEditMode="relative" ptsTypes="AA">
                                      <p:cBhvr>
                                        <p:cTn id="14" dur="30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9669 0.05741 L 0.44434 -0.21022" pathEditMode="relative" ptsTypes="AA">
                                      <p:cBhvr>
                                        <p:cTn id="17" dur="30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44434 -0.21022 L 0.44434 -0.24861" pathEditMode="relative" ptsTypes="AA">
                                      <p:cBhvr>
                                        <p:cTn id="20" dur="30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00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44434 -0.24861 L 0 0" pathEditMode="relative" ptsTypes="AA">
                                      <p:cBhvr>
                                        <p:cTn id="23" dur="30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25" dur="30000" fill="hold"/>
                                        <p:tgtEl>
                                          <p:spTgt spid="75778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500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28" dur="5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>
            <a:extLst>
              <a:ext uri="{FF2B5EF4-FFF2-40B4-BE49-F238E27FC236}">
                <a16:creationId xmlns:a16="http://schemas.microsoft.com/office/drawing/2014/main" id="{469CE61E-89AF-970F-367F-7A2E4ABDD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1855" y="1168636"/>
            <a:ext cx="423047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C40B641-17A1-CFA7-1AE3-64D799AB98F0}"/>
              </a:ext>
            </a:extLst>
          </p:cNvPr>
          <p:cNvSpPr txBox="1"/>
          <p:nvPr/>
        </p:nvSpPr>
        <p:spPr>
          <a:xfrm>
            <a:off x="2483768" y="260648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Histologia do tecido Nervoso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0C7395-5CF5-681E-2B81-A9ABC41E8C6A}"/>
              </a:ext>
            </a:extLst>
          </p:cNvPr>
          <p:cNvSpPr txBox="1"/>
          <p:nvPr/>
        </p:nvSpPr>
        <p:spPr>
          <a:xfrm>
            <a:off x="143508" y="468071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3"/>
              </a:rPr>
              <a:t>https://mol.icb.usp.br/index.php/9-14-tecido-nervoso/</a:t>
            </a:r>
            <a:endParaRPr lang="pt-BR" sz="1200" dirty="0"/>
          </a:p>
          <a:p>
            <a:endParaRPr lang="pt-BR" sz="1200" dirty="0"/>
          </a:p>
          <a:p>
            <a:r>
              <a:rPr lang="pt-BR" sz="1200" dirty="0"/>
              <a:t>MICRÓGLIA</a:t>
            </a:r>
          </a:p>
        </p:txBody>
      </p:sp>
      <p:pic>
        <p:nvPicPr>
          <p:cNvPr id="73732" name="Picture 4">
            <a:extLst>
              <a:ext uri="{FF2B5EF4-FFF2-40B4-BE49-F238E27FC236}">
                <a16:creationId xmlns:a16="http://schemas.microsoft.com/office/drawing/2014/main" id="{2AD16D45-2A08-CC27-37A1-2B7463A5D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95785" y="1115132"/>
            <a:ext cx="3784600" cy="340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C8B5560-2705-CB6C-9CF9-36E5BDFABE56}"/>
              </a:ext>
            </a:extLst>
          </p:cNvPr>
          <p:cNvSpPr txBox="1"/>
          <p:nvPr/>
        </p:nvSpPr>
        <p:spPr>
          <a:xfrm>
            <a:off x="4778829" y="468071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https://</a:t>
            </a:r>
            <a:r>
              <a:rPr lang="pt-BR" sz="1200" dirty="0" err="1"/>
              <a:t>www.infoescola.com</a:t>
            </a:r>
            <a:r>
              <a:rPr lang="pt-BR" sz="1200" dirty="0"/>
              <a:t>/biologia/tecido-nervoso/</a:t>
            </a:r>
          </a:p>
        </p:txBody>
      </p:sp>
    </p:spTree>
    <p:extLst>
      <p:ext uri="{BB962C8B-B14F-4D97-AF65-F5344CB8AC3E}">
        <p14:creationId xmlns:p14="http://schemas.microsoft.com/office/powerpoint/2010/main" val="364624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B3FD4D-6D7D-C142-50BD-EB49F7921E4D}"/>
              </a:ext>
            </a:extLst>
          </p:cNvPr>
          <p:cNvSpPr txBox="1"/>
          <p:nvPr/>
        </p:nvSpPr>
        <p:spPr>
          <a:xfrm>
            <a:off x="2627784" y="8367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Histologia do tecido Nervoso</a:t>
            </a:r>
          </a:p>
        </p:txBody>
      </p:sp>
      <p:pic>
        <p:nvPicPr>
          <p:cNvPr id="72706" name="Picture 2">
            <a:extLst>
              <a:ext uri="{FF2B5EF4-FFF2-40B4-BE49-F238E27FC236}">
                <a16:creationId xmlns:a16="http://schemas.microsoft.com/office/drawing/2014/main" id="{C1C23C28-1674-644B-D0B3-DDE366DA0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6419" y="1340768"/>
            <a:ext cx="4410490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699FBBC-89AA-B522-4256-4CFF16AF81EF}"/>
              </a:ext>
            </a:extLst>
          </p:cNvPr>
          <p:cNvSpPr txBox="1"/>
          <p:nvPr/>
        </p:nvSpPr>
        <p:spPr>
          <a:xfrm>
            <a:off x="127230" y="4904371"/>
            <a:ext cx="3940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3"/>
              </a:rPr>
              <a:t>https://mol.icb.usp.br/index.php/9-13-tecido-nervoso/</a:t>
            </a:r>
            <a:endParaRPr lang="pt-BR" sz="1200" dirty="0"/>
          </a:p>
          <a:p>
            <a:endParaRPr lang="pt-BR" sz="1200" dirty="0"/>
          </a:p>
          <a:p>
            <a:r>
              <a:rPr lang="pt-BR" sz="1200" dirty="0"/>
              <a:t>OLIGODENDRÓCITO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9F6724-BC46-8739-EB28-98AD60DA1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1988" y="1268760"/>
            <a:ext cx="4101016" cy="35283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8316CC2-1245-EB44-AC87-8510C2CEDCFC}"/>
              </a:ext>
            </a:extLst>
          </p:cNvPr>
          <p:cNvSpPr txBox="1"/>
          <p:nvPr/>
        </p:nvSpPr>
        <p:spPr>
          <a:xfrm>
            <a:off x="4681988" y="4942909"/>
            <a:ext cx="3940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3"/>
              </a:rPr>
              <a:t>https://mol.icb.usp.br/index.php/9-13-tecido-nervoso/</a:t>
            </a:r>
            <a:endParaRPr lang="pt-BR" sz="1200" dirty="0"/>
          </a:p>
          <a:p>
            <a:endParaRPr lang="pt-BR" sz="1200" dirty="0"/>
          </a:p>
          <a:p>
            <a:r>
              <a:rPr lang="pt-BR" sz="1200" dirty="0"/>
              <a:t>ASTRÓCITO</a:t>
            </a:r>
          </a:p>
        </p:txBody>
      </p:sp>
    </p:spTree>
    <p:extLst>
      <p:ext uri="{BB962C8B-B14F-4D97-AF65-F5344CB8AC3E}">
        <p14:creationId xmlns:p14="http://schemas.microsoft.com/office/powerpoint/2010/main" val="3581763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>
            <a:extLst>
              <a:ext uri="{FF2B5EF4-FFF2-40B4-BE49-F238E27FC236}">
                <a16:creationId xmlns:a16="http://schemas.microsoft.com/office/drawing/2014/main" id="{57BF25D1-B828-B3E0-8710-EEFAD80E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Neurônio </a:t>
            </a:r>
          </a:p>
        </p:txBody>
      </p:sp>
      <p:pic>
        <p:nvPicPr>
          <p:cNvPr id="14339" name="Imagem 2" descr="neuron3.bmp">
            <a:extLst>
              <a:ext uri="{FF2B5EF4-FFF2-40B4-BE49-F238E27FC236}">
                <a16:creationId xmlns:a16="http://schemas.microsoft.com/office/drawing/2014/main" id="{72C7E608-A620-64ED-39EF-05476979B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788" y="1916112"/>
            <a:ext cx="4638675" cy="3823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Imagem 3" descr="neuron2.jpg">
            <a:extLst>
              <a:ext uri="{FF2B5EF4-FFF2-40B4-BE49-F238E27FC236}">
                <a16:creationId xmlns:a16="http://schemas.microsoft.com/office/drawing/2014/main" id="{0123A094-CD3A-9151-C2BA-7177080CC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60032" y="1772816"/>
            <a:ext cx="3966344" cy="396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>
            <a:extLst>
              <a:ext uri="{FF2B5EF4-FFF2-40B4-BE49-F238E27FC236}">
                <a16:creationId xmlns:a16="http://schemas.microsoft.com/office/drawing/2014/main" id="{0A33012A-E7E8-3240-68BC-AC153B39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pt-BR" altLang="pt-BR"/>
              <a:t>Neurônios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A2DFD8-04A3-BB3A-5EB2-436616C32A4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280400" cy="4997450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/>
              <a:t>Unidade funcional básica: mais de 100 bilhões de neurônios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endParaRPr lang="pt-BR" dirty="0"/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/>
              <a:t>Estruturas: corpo celular, dendritos, axônio, botões terminais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endParaRPr lang="pt-BR" dirty="0"/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/>
              <a:t>Função: 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/>
              <a:t>Motor: controle de órgão efetores – fibras motoras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/>
              <a:t>Sensorial: estímulos sensoriais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/>
              <a:t>Interneurônio</a:t>
            </a:r>
            <a:r>
              <a:rPr lang="pt-BR" dirty="0"/>
              <a:t> (associação): conexão entre neurônios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3">
            <a:extLst>
              <a:ext uri="{FF2B5EF4-FFF2-40B4-BE49-F238E27FC236}">
                <a16:creationId xmlns:a16="http://schemas.microsoft.com/office/drawing/2014/main" id="{552DFF6F-A6F5-A641-945B-10674DB2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Partes do neurônio</a:t>
            </a:r>
          </a:p>
        </p:txBody>
      </p:sp>
      <p:pic>
        <p:nvPicPr>
          <p:cNvPr id="13315" name="Picture 4" descr="C:\Documents and Settings\renata\Meus documentos\Minhas imagens\neurônio.bmp">
            <a:extLst>
              <a:ext uri="{FF2B5EF4-FFF2-40B4-BE49-F238E27FC236}">
                <a16:creationId xmlns:a16="http://schemas.microsoft.com/office/drawing/2014/main" id="{66F490A3-613D-7660-6BA8-04B3C3C6A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7413" y="1916113"/>
            <a:ext cx="7500937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B863F1E-302A-0592-FA41-201C28DE9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altLang="pt-BR" sz="4800" b="1"/>
              <a:t>ANATOMIA FISIOLÓGICA DA SINAPSE</a:t>
            </a:r>
            <a:r>
              <a:rPr lang="pt-BR" altLang="pt-BR" sz="4000"/>
              <a:t> </a:t>
            </a:r>
          </a:p>
        </p:txBody>
      </p:sp>
      <p:sp>
        <p:nvSpPr>
          <p:cNvPr id="14338" name="Rectangle 7">
            <a:extLst>
              <a:ext uri="{FF2B5EF4-FFF2-40B4-BE49-F238E27FC236}">
                <a16:creationId xmlns:a16="http://schemas.microsoft.com/office/drawing/2014/main" id="{0E86A57D-8CF3-4EA6-8CD7-10E3D61E722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546600" cy="4924425"/>
          </a:xfrm>
        </p:spPr>
        <p:txBody>
          <a:bodyPr/>
          <a:lstStyle/>
          <a:p>
            <a:r>
              <a:rPr lang="pt-BR" altLang="pt-BR" b="1">
                <a:solidFill>
                  <a:srgbClr val="9933FF"/>
                </a:solidFill>
              </a:rPr>
              <a:t>SOMA:</a:t>
            </a:r>
            <a:r>
              <a:rPr lang="pt-BR" altLang="pt-BR"/>
              <a:t> Corpo principal do neurônio;</a:t>
            </a:r>
          </a:p>
          <a:p>
            <a:r>
              <a:rPr lang="pt-BR" altLang="pt-BR" b="1">
                <a:solidFill>
                  <a:srgbClr val="9933FF"/>
                </a:solidFill>
              </a:rPr>
              <a:t>AXÔNIO:</a:t>
            </a:r>
            <a:r>
              <a:rPr lang="pt-BR" altLang="pt-BR"/>
              <a:t> Se estende do soma para o nervo periférico que abandona a medula espinhal;</a:t>
            </a:r>
          </a:p>
          <a:p>
            <a:r>
              <a:rPr lang="pt-BR" altLang="pt-BR" b="1">
                <a:solidFill>
                  <a:srgbClr val="9933FF"/>
                </a:solidFill>
              </a:rPr>
              <a:t>DENDRITOS:</a:t>
            </a:r>
            <a:r>
              <a:rPr lang="pt-BR" altLang="pt-BR"/>
              <a:t> Projeções ramificadas do soma que se estendem por até 1mm nas áreas circundantes da medula espinhal; </a:t>
            </a:r>
          </a:p>
        </p:txBody>
      </p:sp>
      <p:pic>
        <p:nvPicPr>
          <p:cNvPr id="14339" name="Picture 4" descr="sn6">
            <a:extLst>
              <a:ext uri="{FF2B5EF4-FFF2-40B4-BE49-F238E27FC236}">
                <a16:creationId xmlns:a16="http://schemas.microsoft.com/office/drawing/2014/main" id="{34CA4077-831E-0882-B5A1-C80C01B396E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64163" y="1773238"/>
            <a:ext cx="2952750" cy="41036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340" name="Text Box 8">
            <a:extLst>
              <a:ext uri="{FF2B5EF4-FFF2-40B4-BE49-F238E27FC236}">
                <a16:creationId xmlns:a16="http://schemas.microsoft.com/office/drawing/2014/main" id="{F9E80F0C-F9C9-66CF-612C-BBA89097A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5876925"/>
            <a:ext cx="30241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pt-BR" altLang="pt-BR" sz="2000" b="1">
                <a:latin typeface="Arial" panose="020B0604020202020204" pitchFamily="34" charset="0"/>
              </a:rPr>
              <a:t>NEURÔNIO MOTOR TÍPICO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708B372B-2069-0E85-91ED-01508BE8E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5400" b="1"/>
              <a:t>TIPOS DE NEURÔNIOS</a:t>
            </a:r>
          </a:p>
        </p:txBody>
      </p:sp>
      <p:pic>
        <p:nvPicPr>
          <p:cNvPr id="15362" name="Picture 4" descr="figura8">
            <a:extLst>
              <a:ext uri="{FF2B5EF4-FFF2-40B4-BE49-F238E27FC236}">
                <a16:creationId xmlns:a16="http://schemas.microsoft.com/office/drawing/2014/main" id="{F9954F91-F39A-780B-109D-D35FD0F0422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lum bright="-6000" contras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113" y="1844675"/>
            <a:ext cx="3024187" cy="43926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3" name="Picture 6" descr="Nervos8">
            <a:extLst>
              <a:ext uri="{FF2B5EF4-FFF2-40B4-BE49-F238E27FC236}">
                <a16:creationId xmlns:a16="http://schemas.microsoft.com/office/drawing/2014/main" id="{4551CC87-350D-9190-779D-7C7BE875951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00563" y="1916113"/>
            <a:ext cx="4038600" cy="43354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81B0CD3-67DA-7FD2-73FD-3EB80DF565BE}"/>
              </a:ext>
            </a:extLst>
          </p:cNvPr>
          <p:cNvSpPr txBox="1"/>
          <p:nvPr/>
        </p:nvSpPr>
        <p:spPr bwMode="auto"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0" hangingPunct="0">
              <a:spcAft>
                <a:spcPts val="600"/>
              </a:spcAft>
            </a:pPr>
            <a:r>
              <a:rPr lang="en-US" sz="44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Células do tecido nervoso</a:t>
            </a:r>
          </a:p>
        </p:txBody>
      </p:sp>
      <p:pic>
        <p:nvPicPr>
          <p:cNvPr id="74754" name="Picture 2">
            <a:extLst>
              <a:ext uri="{FF2B5EF4-FFF2-40B4-BE49-F238E27FC236}">
                <a16:creationId xmlns:a16="http://schemas.microsoft.com/office/drawing/2014/main" id="{AA1F9B75-5A99-0A85-F269-1E66BE679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2648" y="1556792"/>
            <a:ext cx="8279832" cy="4997152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7031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D3DAC6B-2705-6D9F-613D-E15982FC3001}"/>
              </a:ext>
            </a:extLst>
          </p:cNvPr>
          <p:cNvSpPr txBox="1"/>
          <p:nvPr/>
        </p:nvSpPr>
        <p:spPr>
          <a:xfrm>
            <a:off x="71500" y="798959"/>
            <a:ext cx="9001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Principais Células da Glia e Suas Funções:</a:t>
            </a:r>
          </a:p>
          <a:p>
            <a:pPr algn="just"/>
            <a:endParaRPr lang="pt-BR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A0A0A"/>
                </a:solidFill>
                <a:effectLst/>
                <a:latin typeface="Google Sans"/>
                <a:hlinkClick r:id="rId2"/>
              </a:rPr>
              <a:t>Astrócitos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As mais numerosas, têm forma estrelada. Formam a barreira hematoencefálica, regulam o ambiente extracelular, fornecem nutrientes (como lactato) e removem neurotransmissores.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A0A0A"/>
                </a:solidFill>
                <a:effectLst/>
                <a:latin typeface="Google Sans"/>
                <a:hlinkClick r:id="rId3"/>
              </a:rPr>
              <a:t>Oligodendrócitos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Produzem a bainha de mielina no Sistema Nervoso Central (SNC), acelerando a condução de impulsos elétricos nos axônios.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A0A0A"/>
                </a:solidFill>
                <a:effectLst/>
                <a:latin typeface="Google Sans"/>
                <a:hlinkClick r:id="rId4"/>
              </a:rPr>
              <a:t>Células de Schwann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Produzem a bainha de mielina no Sistema Nervoso Periférico (SNP), atuando na regeneração de nervos periféricos.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A0A0A"/>
                </a:solidFill>
                <a:effectLst/>
                <a:latin typeface="Google Sans"/>
                <a:hlinkClick r:id="rId5"/>
              </a:rPr>
              <a:t>Micróglia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Agem como macrófagos, realizando a defesa imunitária, fagocitando detritos celulares e patógenos, além de participar na "poda" de sinapses.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A0A0A"/>
                </a:solidFill>
                <a:effectLst/>
                <a:latin typeface="Google Sans"/>
                <a:hlinkClick r:id="rId6"/>
              </a:rPr>
              <a:t>Células Ependimárias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Revestem os ventrículos cerebrais e o canal central da medula, auxiliando na produção e circulação do líquido cefalorraquidiano (LCR).</a:t>
            </a:r>
          </a:p>
          <a:p>
            <a:pPr algn="just"/>
            <a:endParaRPr lang="pt-BR" b="0" i="0" dirty="0">
              <a:solidFill>
                <a:srgbClr val="0A0A0A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461687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>
            <a:extLst>
              <a:ext uri="{FF2B5EF4-FFF2-40B4-BE49-F238E27FC236}">
                <a16:creationId xmlns:a16="http://schemas.microsoft.com/office/drawing/2014/main" id="{6AC8AF10-0820-5000-48A0-3A56B6AE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pt-BR" altLang="pt-BR"/>
              <a:t>Fibras nervosas</a:t>
            </a:r>
          </a:p>
        </p:txBody>
      </p:sp>
      <p:sp>
        <p:nvSpPr>
          <p:cNvPr id="15363" name="Espaço Reservado para Conteúdo 2">
            <a:extLst>
              <a:ext uri="{FF2B5EF4-FFF2-40B4-BE49-F238E27FC236}">
                <a16:creationId xmlns:a16="http://schemas.microsoft.com/office/drawing/2014/main" id="{240C39D5-5E0C-5E8F-E810-D417249C042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280400" cy="4997450"/>
          </a:xfrm>
        </p:spPr>
        <p:txBody>
          <a:bodyPr/>
          <a:lstStyle/>
          <a:p>
            <a:pPr eaLnBrk="1" hangingPunct="1"/>
            <a:r>
              <a:rPr lang="pt-BR" altLang="pt-BR"/>
              <a:t>Mielina: estrutura que envolve o axônio. Constituída por lipídios e proteínas. Função de “isolante” que aumenta a resistência ao fluxo iônico através da membrana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/>
              <a:t>Mielina: SNC – oligodendrócito</a:t>
            </a:r>
          </a:p>
          <a:p>
            <a:pPr eaLnBrk="1" hangingPunct="1"/>
            <a:r>
              <a:rPr lang="pt-BR" altLang="pt-BR"/>
              <a:t>Mielina: SNP – células de Schwann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D9AE522F-E3E8-B923-9AE7-C9C9FE8F8BEE}"/>
              </a:ext>
            </a:extLst>
          </p:cNvPr>
          <p:cNvSpPr txBox="1">
            <a:spLocks/>
          </p:cNvSpPr>
          <p:nvPr/>
        </p:nvSpPr>
        <p:spPr>
          <a:xfrm>
            <a:off x="612775" y="1600200"/>
            <a:ext cx="8280400" cy="4997450"/>
          </a:xfrm>
          <a:prstGeom prst="rect">
            <a:avLst/>
          </a:prstGeom>
        </p:spPr>
        <p:txBody>
          <a:bodyPr/>
          <a:lstStyle>
            <a:lvl1pPr marL="319088" indent="-319088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2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2DA7A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ADA7A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altLang="pt-BR"/>
              <a:t>Mielínicas</a:t>
            </a:r>
          </a:p>
          <a:p>
            <a:pPr lvl="1" eaLnBrk="1" hangingPunct="1"/>
            <a:r>
              <a:rPr lang="pt-BR" altLang="pt-BR"/>
              <a:t>Possuem bainha de mielina</a:t>
            </a:r>
          </a:p>
          <a:p>
            <a:pPr lvl="1" eaLnBrk="1" hangingPunct="1"/>
            <a:r>
              <a:rPr lang="pt-BR" altLang="pt-BR"/>
              <a:t>Fibras de maior diâmetro</a:t>
            </a:r>
          </a:p>
          <a:p>
            <a:pPr lvl="1" eaLnBrk="1" hangingPunct="1"/>
            <a:r>
              <a:rPr lang="pt-BR" altLang="pt-BR"/>
              <a:t>Condução rápida do impulso (100 m/s) - saltatória</a:t>
            </a:r>
          </a:p>
          <a:p>
            <a:pPr lvl="1" eaLnBrk="1" hangingPunct="1"/>
            <a:endParaRPr lang="pt-BR" altLang="pt-BR"/>
          </a:p>
          <a:p>
            <a:pPr eaLnBrk="1" hangingPunct="1"/>
            <a:r>
              <a:rPr lang="pt-BR" altLang="pt-BR"/>
              <a:t>Amielínicas: </a:t>
            </a:r>
          </a:p>
          <a:p>
            <a:pPr lvl="1" eaLnBrk="1" hangingPunct="1"/>
            <a:r>
              <a:rPr lang="pt-BR" altLang="pt-BR"/>
              <a:t>Não possuem bainha de mielina</a:t>
            </a:r>
          </a:p>
          <a:p>
            <a:pPr lvl="1" eaLnBrk="1" hangingPunct="1"/>
            <a:r>
              <a:rPr lang="pt-BR" altLang="pt-BR"/>
              <a:t>Fibras de menor diâmetro</a:t>
            </a:r>
          </a:p>
          <a:p>
            <a:pPr lvl="1" eaLnBrk="1" hangingPunct="1"/>
            <a:r>
              <a:rPr lang="pt-BR" altLang="pt-BR"/>
              <a:t>Condução lenta do impulso (0,5 m/s)</a:t>
            </a:r>
            <a:endParaRPr lang="pt-BR" altLang="pt-BR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73B8BB1-42CF-9606-7A4A-DEE9AF29827E}"/>
              </a:ext>
            </a:extLst>
          </p:cNvPr>
          <p:cNvSpPr txBox="1">
            <a:spLocks/>
          </p:cNvSpPr>
          <p:nvPr/>
        </p:nvSpPr>
        <p:spPr>
          <a:xfrm>
            <a:off x="612775" y="228600"/>
            <a:ext cx="8153400" cy="990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9pPr>
          </a:lstStyle>
          <a:p>
            <a:pPr eaLnBrk="1" hangingPunct="1"/>
            <a:r>
              <a:rPr lang="pt-BR" altLang="pt-BR"/>
              <a:t>Tipos de fibras nervosas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428353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Documents and Settings\renata\Meus documentos\Minhas imagens\neuronio2.bmp">
            <a:extLst>
              <a:ext uri="{FF2B5EF4-FFF2-40B4-BE49-F238E27FC236}">
                <a16:creationId xmlns:a16="http://schemas.microsoft.com/office/drawing/2014/main" id="{941A27A0-42A8-B8BE-600E-F6E3836CA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0294" b="4329"/>
          <a:stretch>
            <a:fillRect/>
          </a:stretch>
        </p:blipFill>
        <p:spPr bwMode="auto">
          <a:xfrm>
            <a:off x="323850" y="404813"/>
            <a:ext cx="4392613" cy="57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2" descr="C:\Documents and Settings\renata\Meus documentos\Minhas imagens\saltatoria.bmp">
            <a:extLst>
              <a:ext uri="{FF2B5EF4-FFF2-40B4-BE49-F238E27FC236}">
                <a16:creationId xmlns:a16="http://schemas.microsoft.com/office/drawing/2014/main" id="{70418BB9-E9F0-E93E-D8E6-48D5AD9B2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9113" y="2997200"/>
            <a:ext cx="5724525" cy="325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B2F0DB0E-C8B4-E099-D049-081E1933E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5400" b="1"/>
              <a:t>SINAPSES DO SNC</a:t>
            </a:r>
          </a:p>
        </p:txBody>
      </p:sp>
      <p:pic>
        <p:nvPicPr>
          <p:cNvPr id="6146" name="Picture 3">
            <a:extLst>
              <a:ext uri="{FF2B5EF4-FFF2-40B4-BE49-F238E27FC236}">
                <a16:creationId xmlns:a16="http://schemas.microsoft.com/office/drawing/2014/main" id="{ABF8A9A9-A80C-BD84-9D47-4635DC1AAE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624" y="1545415"/>
            <a:ext cx="6696744" cy="4966752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>
            <a:extLst>
              <a:ext uri="{FF2B5EF4-FFF2-40B4-BE49-F238E27FC236}">
                <a16:creationId xmlns:a16="http://schemas.microsoft.com/office/drawing/2014/main" id="{C4F89021-6802-3D10-7F79-E8A00E85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pt-BR" altLang="pt-BR"/>
              <a:t>Estruturas da sinapse</a:t>
            </a:r>
          </a:p>
        </p:txBody>
      </p:sp>
      <p:sp>
        <p:nvSpPr>
          <p:cNvPr id="19459" name="Espaço Reservado para Conteúdo 2">
            <a:extLst>
              <a:ext uri="{FF2B5EF4-FFF2-40B4-BE49-F238E27FC236}">
                <a16:creationId xmlns:a16="http://schemas.microsoft.com/office/drawing/2014/main" id="{47E2C065-D46F-8CAA-C151-997C41D98B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280400" cy="4997450"/>
          </a:xfrm>
        </p:spPr>
        <p:txBody>
          <a:bodyPr/>
          <a:lstStyle/>
          <a:p>
            <a:pPr eaLnBrk="1" hangingPunct="1"/>
            <a:r>
              <a:rPr lang="pt-BR" altLang="pt-BR"/>
              <a:t>Terminal pré-sináptico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/>
              <a:t>Fenda sináptica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/>
              <a:t>Terminal pós-sináptico</a:t>
            </a:r>
          </a:p>
        </p:txBody>
      </p:sp>
    </p:spTree>
    <p:extLst>
      <p:ext uri="{BB962C8B-B14F-4D97-AF65-F5344CB8AC3E}">
        <p14:creationId xmlns:p14="http://schemas.microsoft.com/office/powerpoint/2010/main" val="358001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>
            <a:extLst>
              <a:ext uri="{FF2B5EF4-FFF2-40B4-BE49-F238E27FC236}">
                <a16:creationId xmlns:a16="http://schemas.microsoft.com/office/drawing/2014/main" id="{86F62A85-911D-D021-01B5-369B3C6E0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pt-BR" altLang="pt-BR"/>
              <a:t>Sinapse </a:t>
            </a:r>
          </a:p>
        </p:txBody>
      </p:sp>
      <p:sp>
        <p:nvSpPr>
          <p:cNvPr id="18435" name="Espaço Reservado para Conteúdo 2">
            <a:extLst>
              <a:ext uri="{FF2B5EF4-FFF2-40B4-BE49-F238E27FC236}">
                <a16:creationId xmlns:a16="http://schemas.microsoft.com/office/drawing/2014/main" id="{E7D3ACAF-179B-0E22-ACB1-B412CB11D54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280400" cy="4997450"/>
          </a:xfrm>
        </p:spPr>
        <p:txBody>
          <a:bodyPr/>
          <a:lstStyle/>
          <a:p>
            <a:pPr eaLnBrk="1" hangingPunct="1"/>
            <a:r>
              <a:rPr lang="pt-BR" altLang="pt-BR" dirty="0"/>
              <a:t>Ponto de junção entre o neurônio e a célula-alvo.</a:t>
            </a:r>
          </a:p>
          <a:p>
            <a:pPr eaLnBrk="1" hangingPunct="1"/>
            <a:endParaRPr lang="pt-BR" altLang="pt-BR" dirty="0"/>
          </a:p>
          <a:p>
            <a:pPr eaLnBrk="1" hangingPunct="1"/>
            <a:r>
              <a:rPr lang="pt-BR" altLang="pt-BR" dirty="0"/>
              <a:t>Tipos de sinapse:</a:t>
            </a:r>
          </a:p>
          <a:p>
            <a:pPr lvl="1" eaLnBrk="1" hangingPunct="1"/>
            <a:r>
              <a:rPr lang="pt-BR" altLang="pt-BR" dirty="0"/>
              <a:t>Química: secreção de neurotransmissor</a:t>
            </a:r>
          </a:p>
          <a:p>
            <a:pPr lvl="1" eaLnBrk="1" hangingPunct="1"/>
            <a:endParaRPr lang="pt-BR" altLang="pt-BR" dirty="0"/>
          </a:p>
          <a:p>
            <a:pPr lvl="1" eaLnBrk="1" hangingPunct="1"/>
            <a:r>
              <a:rPr lang="pt-BR" altLang="pt-BR" dirty="0"/>
              <a:t>Elétrica: passagem de sinal elétrico por junções comunicantes (</a:t>
            </a:r>
            <a:r>
              <a:rPr lang="pt-BR" altLang="pt-BR" i="1" dirty="0"/>
              <a:t>gap </a:t>
            </a:r>
            <a:r>
              <a:rPr lang="pt-BR" altLang="pt-BR" i="1" dirty="0" err="1"/>
              <a:t>junctions</a:t>
            </a:r>
            <a:r>
              <a:rPr lang="pt-BR" altLang="pt-BR" dirty="0"/>
              <a:t>) – músculos cardíaco e liso</a:t>
            </a:r>
          </a:p>
        </p:txBody>
      </p:sp>
    </p:spTree>
    <p:extLst>
      <p:ext uri="{BB962C8B-B14F-4D97-AF65-F5344CB8AC3E}">
        <p14:creationId xmlns:p14="http://schemas.microsoft.com/office/powerpoint/2010/main" val="2380173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721569C6-50C9-119C-1601-CC8AA9C63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r>
              <a:rPr lang="pt-BR" altLang="pt-BR" sz="5400" b="1"/>
              <a:t>SINAPSE ELÉTRICA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85DB8A2-1D8B-358D-F4AF-B3EB94C42C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980728"/>
            <a:ext cx="8229600" cy="5213697"/>
          </a:xfrm>
        </p:spPr>
        <p:txBody>
          <a:bodyPr rtlCol="0">
            <a:normAutofit fontScale="92500" lnSpcReduction="1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b="1" dirty="0"/>
              <a:t>   Apenas poucas junções abertas foram encontradas no </a:t>
            </a:r>
            <a:r>
              <a:rPr lang="pt-BR" altLang="pt-BR" b="1" dirty="0">
                <a:solidFill>
                  <a:schemeClr val="bg1"/>
                </a:solidFill>
              </a:rPr>
              <a:t>SNC. 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b="1" dirty="0"/>
              <a:t>               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b="1" dirty="0"/>
              <a:t> </a:t>
            </a:r>
            <a:r>
              <a:rPr lang="pt-BR" altLang="pt-BR" b="1" dirty="0">
                <a:solidFill>
                  <a:srgbClr val="9933FF"/>
                </a:solidFill>
              </a:rPr>
              <a:t>SINAPSES ELÉTRICAS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b="1" dirty="0"/>
              <a:t>Canais diretos que conduzem eletricidade de uma célula para a próxima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pt-BR" altLang="pt-BR" b="1" dirty="0"/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b="1" dirty="0"/>
              <a:t>Constituídos por pequenas estruturas tubulares, junções abertas ou comunicantes 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pt-BR" altLang="pt-BR" b="1" dirty="0"/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b="1" dirty="0"/>
              <a:t>Passagem de íons de uma célula à outra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b="1" dirty="0"/>
              <a:t> 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b="1" dirty="0"/>
              <a:t>Potencial de ação é transmitido de uma fibra muscular lisa (músculo visceral)  para outra ou de uma célula cardíaca para a próxima 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defRPr/>
            </a:pPr>
            <a:endParaRPr lang="pt-BR" altLang="pt-BR" dirty="0"/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pt-BR" altLang="pt-BR" dirty="0"/>
          </a:p>
        </p:txBody>
      </p:sp>
      <p:sp>
        <p:nvSpPr>
          <p:cNvPr id="11267" name="AutoShape 5">
            <a:extLst>
              <a:ext uri="{FF2B5EF4-FFF2-40B4-BE49-F238E27FC236}">
                <a16:creationId xmlns:a16="http://schemas.microsoft.com/office/drawing/2014/main" id="{BBBDFAE3-DA61-3281-E9AA-E66DEBA0C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068638"/>
            <a:ext cx="142875" cy="360362"/>
          </a:xfrm>
          <a:prstGeom prst="downArrow">
            <a:avLst>
              <a:gd name="adj1" fmla="val 50000"/>
              <a:gd name="adj2" fmla="val 63055"/>
            </a:avLst>
          </a:prstGeom>
          <a:solidFill>
            <a:srgbClr val="993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pt-BR" sz="1800">
              <a:latin typeface="Arial" panose="020B0604020202020204" pitchFamily="34" charset="0"/>
            </a:endParaRPr>
          </a:p>
        </p:txBody>
      </p:sp>
      <p:sp>
        <p:nvSpPr>
          <p:cNvPr id="11268" name="AutoShape 6">
            <a:extLst>
              <a:ext uri="{FF2B5EF4-FFF2-40B4-BE49-F238E27FC236}">
                <a16:creationId xmlns:a16="http://schemas.microsoft.com/office/drawing/2014/main" id="{A1F2C995-138B-5051-BA07-82C29E2EE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869160"/>
            <a:ext cx="142875" cy="360362"/>
          </a:xfrm>
          <a:prstGeom prst="downArrow">
            <a:avLst>
              <a:gd name="adj1" fmla="val 50000"/>
              <a:gd name="adj2" fmla="val 63055"/>
            </a:avLst>
          </a:prstGeom>
          <a:solidFill>
            <a:srgbClr val="993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pt-BR" sz="1800">
              <a:latin typeface="Arial" panose="020B0604020202020204" pitchFamily="34" charset="0"/>
            </a:endParaRPr>
          </a:p>
        </p:txBody>
      </p:sp>
      <p:sp>
        <p:nvSpPr>
          <p:cNvPr id="11269" name="AutoShape 7">
            <a:extLst>
              <a:ext uri="{FF2B5EF4-FFF2-40B4-BE49-F238E27FC236}">
                <a16:creationId xmlns:a16="http://schemas.microsoft.com/office/drawing/2014/main" id="{1ACD0599-B041-86CC-9850-813F2D8B9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005064"/>
            <a:ext cx="142875" cy="360362"/>
          </a:xfrm>
          <a:prstGeom prst="downArrow">
            <a:avLst>
              <a:gd name="adj1" fmla="val 50000"/>
              <a:gd name="adj2" fmla="val 63055"/>
            </a:avLst>
          </a:prstGeom>
          <a:solidFill>
            <a:srgbClr val="993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pt-BR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328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>
            <a:extLst>
              <a:ext uri="{FF2B5EF4-FFF2-40B4-BE49-F238E27FC236}">
                <a16:creationId xmlns:a16="http://schemas.microsoft.com/office/drawing/2014/main" id="{9C3FBA16-A346-D059-DB97-4F07D18F08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r>
              <a:rPr lang="pt-BR" altLang="pt-BR" sz="5400" b="1"/>
              <a:t>SINAPSE QUÍMICA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C131219-6AD1-2395-1CDE-4CCCC6CA5B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4175" y="1860550"/>
            <a:ext cx="8229600" cy="4997450"/>
          </a:xfrm>
        </p:spPr>
        <p:txBody>
          <a:bodyPr rtlCol="0">
            <a:normAutofit lnSpcReduction="1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sz="2600" b="1" dirty="0"/>
              <a:t>    Representam a maioria das sinapses utilizadas para a transmissão de sinais, no SNC, no ser humano 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sz="2600" b="1" dirty="0"/>
              <a:t>                         </a:t>
            </a:r>
            <a:r>
              <a:rPr lang="pt-BR" altLang="pt-BR" b="1" dirty="0">
                <a:solidFill>
                  <a:srgbClr val="9933FF"/>
                </a:solidFill>
              </a:rPr>
              <a:t>SINAPSE QUÍMICA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sz="2600" b="1" dirty="0"/>
              <a:t>Primeiro o neurônio secreta, na junção, uma substância química chamada NEUROTRANSMISSOR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sz="2600" b="1" dirty="0"/>
              <a:t> 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sz="2600" b="1" dirty="0"/>
              <a:t>Estes neurotransmissores atuam sobre proteínas receptoras localizadas na membrana do neurônio seguinte para o excitar, inibir, ou modificar sua sensibilidade de alguma maneira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sz="2600" b="1" dirty="0"/>
              <a:t> 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pt-BR" altLang="pt-BR" sz="2600" b="1" dirty="0"/>
              <a:t>Principais neurotransmissores: acetilcolina, norepinefrina, histamina, ácido gama-</a:t>
            </a:r>
            <a:r>
              <a:rPr lang="pt-BR" altLang="pt-BR" sz="2600" b="1" dirty="0" err="1"/>
              <a:t>aminobutírico</a:t>
            </a:r>
            <a:r>
              <a:rPr lang="pt-BR" altLang="pt-BR" sz="2600" b="1" dirty="0"/>
              <a:t>(GABA) e glutamato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pt-BR" altLang="pt-BR" sz="2600" dirty="0"/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pt-BR" altLang="pt-BR" sz="2600" dirty="0"/>
          </a:p>
        </p:txBody>
      </p:sp>
      <p:sp>
        <p:nvSpPr>
          <p:cNvPr id="8195" name="AutoShape 9">
            <a:extLst>
              <a:ext uri="{FF2B5EF4-FFF2-40B4-BE49-F238E27FC236}">
                <a16:creationId xmlns:a16="http://schemas.microsoft.com/office/drawing/2014/main" id="{95BC82DD-A1E9-800E-4123-68DC06F98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3572694"/>
            <a:ext cx="142875" cy="360362"/>
          </a:xfrm>
          <a:prstGeom prst="downArrow">
            <a:avLst>
              <a:gd name="adj1" fmla="val 50000"/>
              <a:gd name="adj2" fmla="val 63055"/>
            </a:avLst>
          </a:prstGeom>
          <a:solidFill>
            <a:srgbClr val="993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pt-BR" sz="1800">
              <a:latin typeface="Arial" panose="020B0604020202020204" pitchFamily="34" charset="0"/>
            </a:endParaRPr>
          </a:p>
        </p:txBody>
      </p:sp>
      <p:sp>
        <p:nvSpPr>
          <p:cNvPr id="8196" name="AutoShape 10">
            <a:extLst>
              <a:ext uri="{FF2B5EF4-FFF2-40B4-BE49-F238E27FC236}">
                <a16:creationId xmlns:a16="http://schemas.microsoft.com/office/drawing/2014/main" id="{BA2404E3-8089-5424-DB67-688F79F75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5085184"/>
            <a:ext cx="142875" cy="360363"/>
          </a:xfrm>
          <a:prstGeom prst="downArrow">
            <a:avLst>
              <a:gd name="adj1" fmla="val 50000"/>
              <a:gd name="adj2" fmla="val 63056"/>
            </a:avLst>
          </a:prstGeom>
          <a:solidFill>
            <a:srgbClr val="993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pt-BR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E5B2532F-1C08-2318-7146-FBC12E716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5400" b="1"/>
              <a:t>SINAPSE QUÍMICA</a:t>
            </a:r>
          </a:p>
        </p:txBody>
      </p:sp>
      <p:pic>
        <p:nvPicPr>
          <p:cNvPr id="9219" name="Picture 11" descr="opening-short[1]">
            <a:extLst>
              <a:ext uri="{FF2B5EF4-FFF2-40B4-BE49-F238E27FC236}">
                <a16:creationId xmlns:a16="http://schemas.microsoft.com/office/drawing/2014/main" id="{6924D1E3-8D15-F893-FE94-33DA633D1454}"/>
              </a:ext>
            </a:extLst>
          </p:cNvPr>
          <p:cNvPicPr>
            <a:picLocks noGrp="1" noChangeAspect="1" noChangeArrowheads="1" noCrop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98777" y="1772816"/>
            <a:ext cx="2031650" cy="1656184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F0518FC-705C-0712-4C5C-5DF906C2D3D4}"/>
              </a:ext>
            </a:extLst>
          </p:cNvPr>
          <p:cNvSpPr txBox="1"/>
          <p:nvPr/>
        </p:nvSpPr>
        <p:spPr>
          <a:xfrm>
            <a:off x="1187624" y="3771535"/>
            <a:ext cx="72831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Sugestão de Vídeo para entender sinapse química e elétrica: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65DC51D2-387D-30E6-D2C6-2F50427E3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5400" b="1"/>
              <a:t>SINAPSE QUÍMICA</a:t>
            </a:r>
          </a:p>
        </p:txBody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A9FDEF7B-6E85-551F-C2DB-B70DD3B20AA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pt-BR" altLang="pt-BR" sz="2200" b="1"/>
              <a:t>    </a:t>
            </a:r>
            <a:endParaRPr lang="pt-BR" altLang="pt-BR" sz="2200"/>
          </a:p>
          <a:p>
            <a:pPr algn="ctr">
              <a:lnSpc>
                <a:spcPct val="80000"/>
              </a:lnSpc>
              <a:buFontTx/>
              <a:buNone/>
            </a:pPr>
            <a:endParaRPr lang="pt-BR" altLang="pt-BR" sz="2200"/>
          </a:p>
        </p:txBody>
      </p:sp>
      <p:pic>
        <p:nvPicPr>
          <p:cNvPr id="10243" name="Picture 5">
            <a:extLst>
              <a:ext uri="{FF2B5EF4-FFF2-40B4-BE49-F238E27FC236}">
                <a16:creationId xmlns:a16="http://schemas.microsoft.com/office/drawing/2014/main" id="{BA422CD6-5D31-1D30-CA9F-5BDBB69765A2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lum bright="-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88" y="1700213"/>
            <a:ext cx="7489825" cy="4537075"/>
          </a:xfr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D6D1331E-CE19-B43A-0D45-8AC6CACAE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362950" cy="1641475"/>
          </a:xfrm>
        </p:spPr>
        <p:txBody>
          <a:bodyPr/>
          <a:lstStyle/>
          <a:p>
            <a:r>
              <a:rPr lang="pt-BR" altLang="pt-BR" b="1"/>
              <a:t>ESTRUTURA BÁSICA DAS TERMINAÇÕES PRÉ -SINÁPTICAS</a:t>
            </a:r>
          </a:p>
        </p:txBody>
      </p:sp>
      <p:pic>
        <p:nvPicPr>
          <p:cNvPr id="19458" name="Picture 3" descr="Figura%204">
            <a:extLst>
              <a:ext uri="{FF2B5EF4-FFF2-40B4-BE49-F238E27FC236}">
                <a16:creationId xmlns:a16="http://schemas.microsoft.com/office/drawing/2014/main" id="{ADA21D4D-7A97-2A00-2EA5-9A2AD8A1040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2205038"/>
            <a:ext cx="6624638" cy="254793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459" name="Picture 4" descr="Figura%205">
            <a:extLst>
              <a:ext uri="{FF2B5EF4-FFF2-40B4-BE49-F238E27FC236}">
                <a16:creationId xmlns:a16="http://schemas.microsoft.com/office/drawing/2014/main" id="{EDA15EE5-2DD8-D941-473C-BDC9A2441AF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lum bright="-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4941888"/>
            <a:ext cx="6553200" cy="15128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17943F32-74A1-052C-6B99-12367E0FE9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b="1"/>
              <a:t>CONDUÇÃO “EM MÃO ÚNICA” NAS SINAPSES QUÍMICAS</a:t>
            </a:r>
          </a:p>
        </p:txBody>
      </p:sp>
      <p:pic>
        <p:nvPicPr>
          <p:cNvPr id="13314" name="Picture 4" descr="sistem11">
            <a:extLst>
              <a:ext uri="{FF2B5EF4-FFF2-40B4-BE49-F238E27FC236}">
                <a16:creationId xmlns:a16="http://schemas.microsoft.com/office/drawing/2014/main" id="{F2B06E94-54F4-959F-8632-75B576F3F2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4800" y="3997300"/>
            <a:ext cx="5994400" cy="26035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315" name="Text Box 6">
            <a:extLst>
              <a:ext uri="{FF2B5EF4-FFF2-40B4-BE49-F238E27FC236}">
                <a16:creationId xmlns:a16="http://schemas.microsoft.com/office/drawing/2014/main" id="{702E437E-AF20-CFDB-7CC4-E48F800DA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773238"/>
            <a:ext cx="856932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pt-BR" altLang="pt-BR" b="1" dirty="0">
                <a:latin typeface="Arial" panose="020B0604020202020204" pitchFamily="34" charset="0"/>
              </a:rPr>
              <a:t>NEURÔNIO PRÉ-SINÁPTICO </a:t>
            </a: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pt-BR" altLang="pt-BR" b="1" dirty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pt-BR" altLang="pt-BR" b="1" dirty="0">
                <a:latin typeface="Arial" panose="020B0604020202020204" pitchFamily="34" charset="0"/>
              </a:rPr>
              <a:t>NEURÔNIO PÓS-SINÁPTICO</a:t>
            </a:r>
          </a:p>
        </p:txBody>
      </p:sp>
      <p:sp>
        <p:nvSpPr>
          <p:cNvPr id="13316" name="AutoShape 7">
            <a:extLst>
              <a:ext uri="{FF2B5EF4-FFF2-40B4-BE49-F238E27FC236}">
                <a16:creationId xmlns:a16="http://schemas.microsoft.com/office/drawing/2014/main" id="{783C3AB7-79D3-8BAC-1CC5-0781D88FC12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95737" y="2492376"/>
            <a:ext cx="792163" cy="360362"/>
          </a:xfrm>
          <a:custGeom>
            <a:avLst/>
            <a:gdLst>
              <a:gd name="T0" fmla="*/ 21788957 w 21600"/>
              <a:gd name="T1" fmla="*/ 0 h 21600"/>
              <a:gd name="T2" fmla="*/ 0 w 21600"/>
              <a:gd name="T3" fmla="*/ 3006036 h 21600"/>
              <a:gd name="T4" fmla="*/ 21788957 w 21600"/>
              <a:gd name="T5" fmla="*/ 6012073 h 21600"/>
              <a:gd name="T6" fmla="*/ 29051955 w 21600"/>
              <a:gd name="T7" fmla="*/ 300603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9785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E24A87CF-4320-A908-244C-F0599F71D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1550" y="287338"/>
            <a:ext cx="7380288" cy="631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m 4" descr="G:\Viviane\Imagens\sinapse.jpg">
            <a:extLst>
              <a:ext uri="{FF2B5EF4-FFF2-40B4-BE49-F238E27FC236}">
                <a16:creationId xmlns:a16="http://schemas.microsoft.com/office/drawing/2014/main" id="{33275096-4C72-C9DE-CDDF-1A260C86F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950" y="681038"/>
            <a:ext cx="8858250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7133B17-58C2-934A-52E3-8D445C555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700" y="901700"/>
            <a:ext cx="50546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76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29" name="Group 67">
            <a:extLst>
              <a:ext uri="{FF2B5EF4-FFF2-40B4-BE49-F238E27FC236}">
                <a16:creationId xmlns:a16="http://schemas.microsoft.com/office/drawing/2014/main" id="{E768BB58-28F9-3207-63CC-C8FCCD8DAE2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28600"/>
            <a:ext cx="8918575" cy="6400800"/>
            <a:chOff x="96" y="95"/>
            <a:chExt cx="5521" cy="4177"/>
          </a:xfrm>
        </p:grpSpPr>
        <p:pic>
          <p:nvPicPr>
            <p:cNvPr id="22530" name="Picture 56" descr="D:\CPD\CD_Biologia\Imagens\membrana.bmp">
              <a:extLst>
                <a:ext uri="{FF2B5EF4-FFF2-40B4-BE49-F238E27FC236}">
                  <a16:creationId xmlns:a16="http://schemas.microsoft.com/office/drawing/2014/main" id="{220F8A37-D473-0936-AE03-7C756FD427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-18000" contras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" y="1894"/>
              <a:ext cx="4992" cy="2378"/>
            </a:xfrm>
            <a:prstGeom prst="rect">
              <a:avLst/>
            </a:prstGeom>
            <a:noFill/>
            <a:ln w="76200" cmpd="tri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2531" name="Group 53">
              <a:extLst>
                <a:ext uri="{FF2B5EF4-FFF2-40B4-BE49-F238E27FC236}">
                  <a16:creationId xmlns:a16="http://schemas.microsoft.com/office/drawing/2014/main" id="{3AAED520-46BC-968E-75B8-7B23277183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1508"/>
              <a:ext cx="5521" cy="326"/>
              <a:chOff x="144" y="1492"/>
              <a:chExt cx="5521" cy="326"/>
            </a:xfrm>
          </p:grpSpPr>
          <p:sp>
            <p:nvSpPr>
              <p:cNvPr id="22550" name="AutoShape 12">
                <a:extLst>
                  <a:ext uri="{FF2B5EF4-FFF2-40B4-BE49-F238E27FC236}">
                    <a16:creationId xmlns:a16="http://schemas.microsoft.com/office/drawing/2014/main" id="{54569475-C660-7388-C8DC-C1F28F336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1492"/>
                <a:ext cx="1248" cy="325"/>
              </a:xfrm>
              <a:prstGeom prst="flowChartAlternateProcess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240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SINGER</a:t>
                </a:r>
              </a:p>
            </p:txBody>
          </p:sp>
          <p:sp>
            <p:nvSpPr>
              <p:cNvPr id="22551" name="AutoShape 14">
                <a:extLst>
                  <a:ext uri="{FF2B5EF4-FFF2-40B4-BE49-F238E27FC236}">
                    <a16:creationId xmlns:a16="http://schemas.microsoft.com/office/drawing/2014/main" id="{88004F14-BD1B-344C-197A-D7206BDA6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1" y="1493"/>
                <a:ext cx="1274" cy="325"/>
              </a:xfrm>
              <a:prstGeom prst="flowChartAlternateProcess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240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NICHOLSON</a:t>
                </a:r>
              </a:p>
            </p:txBody>
          </p:sp>
        </p:grpSp>
        <p:sp>
          <p:nvSpPr>
            <p:cNvPr id="3096" name="Text Box 24">
              <a:extLst>
                <a:ext uri="{FF2B5EF4-FFF2-40B4-BE49-F238E27FC236}">
                  <a16:creationId xmlns:a16="http://schemas.microsoft.com/office/drawing/2014/main" id="{1874289E-DD19-7474-497D-9D705020D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8" y="3782"/>
              <a:ext cx="586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1500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Proteína</a:t>
              </a:r>
            </a:p>
          </p:txBody>
        </p:sp>
        <p:grpSp>
          <p:nvGrpSpPr>
            <p:cNvPr id="22533" name="Group 31">
              <a:extLst>
                <a:ext uri="{FF2B5EF4-FFF2-40B4-BE49-F238E27FC236}">
                  <a16:creationId xmlns:a16="http://schemas.microsoft.com/office/drawing/2014/main" id="{38712CF1-7485-36FF-D08D-A10046E47B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3522"/>
              <a:ext cx="576" cy="204"/>
              <a:chOff x="3756" y="3498"/>
              <a:chExt cx="576" cy="204"/>
            </a:xfrm>
          </p:grpSpPr>
          <p:sp>
            <p:nvSpPr>
              <p:cNvPr id="22548" name="Line 26">
                <a:extLst>
                  <a:ext uri="{FF2B5EF4-FFF2-40B4-BE49-F238E27FC236}">
                    <a16:creationId xmlns:a16="http://schemas.microsoft.com/office/drawing/2014/main" id="{5AEB3CFC-9EA4-FBE0-8C7A-40E6B9916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4" y="3498"/>
                <a:ext cx="288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22549" name="Line 27">
                <a:extLst>
                  <a:ext uri="{FF2B5EF4-FFF2-40B4-BE49-F238E27FC236}">
                    <a16:creationId xmlns:a16="http://schemas.microsoft.com/office/drawing/2014/main" id="{1D8EA7BD-1110-3D5B-4E31-D6752BB6A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56" y="3696"/>
                <a:ext cx="576" cy="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3100" name="Text Box 28">
              <a:extLst>
                <a:ext uri="{FF2B5EF4-FFF2-40B4-BE49-F238E27FC236}">
                  <a16:creationId xmlns:a16="http://schemas.microsoft.com/office/drawing/2014/main" id="{C1FCADE8-4957-2792-BEBE-5846BC5DF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1" y="3590"/>
              <a:ext cx="59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1500"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Lipídeos</a:t>
              </a:r>
            </a:p>
          </p:txBody>
        </p:sp>
        <p:grpSp>
          <p:nvGrpSpPr>
            <p:cNvPr id="22535" name="Group 57">
              <a:extLst>
                <a:ext uri="{FF2B5EF4-FFF2-40B4-BE49-F238E27FC236}">
                  <a16:creationId xmlns:a16="http://schemas.microsoft.com/office/drawing/2014/main" id="{A2596AD2-09EE-DF0F-F501-DD8B2B8CB8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3877"/>
              <a:ext cx="1392" cy="12"/>
              <a:chOff x="1056" y="3877"/>
              <a:chExt cx="1392" cy="12"/>
            </a:xfrm>
          </p:grpSpPr>
          <p:sp>
            <p:nvSpPr>
              <p:cNvPr id="22546" name="Line 22">
                <a:extLst>
                  <a:ext uri="{FF2B5EF4-FFF2-40B4-BE49-F238E27FC236}">
                    <a16:creationId xmlns:a16="http://schemas.microsoft.com/office/drawing/2014/main" id="{3E62A32B-71E1-D80C-2DD9-508A0AA57A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878"/>
                <a:ext cx="384" cy="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22547" name="Line 34">
                <a:extLst>
                  <a:ext uri="{FF2B5EF4-FFF2-40B4-BE49-F238E27FC236}">
                    <a16:creationId xmlns:a16="http://schemas.microsoft.com/office/drawing/2014/main" id="{272383D1-8661-7D04-606F-C52BF4F17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3877"/>
                <a:ext cx="384" cy="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  <p:grpSp>
          <p:nvGrpSpPr>
            <p:cNvPr id="22536" name="Group 59">
              <a:extLst>
                <a:ext uri="{FF2B5EF4-FFF2-40B4-BE49-F238E27FC236}">
                  <a16:creationId xmlns:a16="http://schemas.microsoft.com/office/drawing/2014/main" id="{32794E26-1DED-AF8D-3820-4C0EEB6DAD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2" y="95"/>
              <a:ext cx="3160" cy="1738"/>
              <a:chOff x="1282" y="95"/>
              <a:chExt cx="3160" cy="1738"/>
            </a:xfrm>
          </p:grpSpPr>
          <p:sp>
            <p:nvSpPr>
              <p:cNvPr id="22538" name="AutoShape 10">
                <a:extLst>
                  <a:ext uri="{FF2B5EF4-FFF2-40B4-BE49-F238E27FC236}">
                    <a16:creationId xmlns:a16="http://schemas.microsoft.com/office/drawing/2014/main" id="{E0D0C090-FAC9-EB52-FF4B-3B6906452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8" y="815"/>
                <a:ext cx="969" cy="325"/>
              </a:xfrm>
              <a:prstGeom prst="flowChartAlternateProcess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240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MODELO</a:t>
                </a:r>
              </a:p>
            </p:txBody>
          </p:sp>
          <p:sp>
            <p:nvSpPr>
              <p:cNvPr id="22539" name="AutoShape 13">
                <a:extLst>
                  <a:ext uri="{FF2B5EF4-FFF2-40B4-BE49-F238E27FC236}">
                    <a16:creationId xmlns:a16="http://schemas.microsoft.com/office/drawing/2014/main" id="{D836DA72-206F-5E08-4B81-763321A76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1" y="1508"/>
                <a:ext cx="1796" cy="325"/>
              </a:xfrm>
              <a:prstGeom prst="flowChartAlternateProcess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240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MOSAICO FLUÍDO</a:t>
                </a:r>
              </a:p>
            </p:txBody>
          </p:sp>
          <p:sp>
            <p:nvSpPr>
              <p:cNvPr id="22540" name="AutoShape 36">
                <a:extLst>
                  <a:ext uri="{FF2B5EF4-FFF2-40B4-BE49-F238E27FC236}">
                    <a16:creationId xmlns:a16="http://schemas.microsoft.com/office/drawing/2014/main" id="{1DD76BD7-8422-AF4B-89F7-FF3E2B1F7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2" y="95"/>
                <a:ext cx="3160" cy="390"/>
              </a:xfrm>
              <a:prstGeom prst="flowChartAlternate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prstShdw prst="shdw13" dist="53882" dir="13500000">
                  <a:schemeClr val="bg2"/>
                </a:prstShdw>
              </a:effec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3000">
                    <a:solidFill>
                      <a:srgbClr val="339966"/>
                    </a:solidFill>
                    <a:latin typeface="Gill Sans MT" panose="020B0502020104020203" pitchFamily="34" charset="77"/>
                  </a:rPr>
                  <a:t>MEMBRANA PLASMÁTICA</a:t>
                </a:r>
              </a:p>
            </p:txBody>
          </p:sp>
          <p:sp>
            <p:nvSpPr>
              <p:cNvPr id="22541" name="AutoShape 49">
                <a:extLst>
                  <a:ext uri="{FF2B5EF4-FFF2-40B4-BE49-F238E27FC236}">
                    <a16:creationId xmlns:a16="http://schemas.microsoft.com/office/drawing/2014/main" id="{7E8AE16D-20F7-6406-3FC1-C1A040648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2697" y="537"/>
                <a:ext cx="329" cy="24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48 w 21600"/>
                  <a:gd name="T13" fmla="*/ 5400 h 21600"/>
                  <a:gd name="T14" fmla="*/ 18908 w 21600"/>
                  <a:gd name="T15" fmla="*/ 162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C0E00"/>
                  </a:gs>
                  <a:gs pos="50000">
                    <a:srgbClr val="FF0000"/>
                  </a:gs>
                  <a:gs pos="100000">
                    <a:srgbClr val="4C0E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grpSp>
            <p:nvGrpSpPr>
              <p:cNvPr id="22542" name="Group 58">
                <a:extLst>
                  <a:ext uri="{FF2B5EF4-FFF2-40B4-BE49-F238E27FC236}">
                    <a16:creationId xmlns:a16="http://schemas.microsoft.com/office/drawing/2014/main" id="{9A036B0E-1B67-707B-0E7A-5A691C6F70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63" y="1152"/>
                <a:ext cx="2957" cy="634"/>
                <a:chOff x="1363" y="1104"/>
                <a:chExt cx="2957" cy="634"/>
              </a:xfrm>
            </p:grpSpPr>
            <p:sp>
              <p:nvSpPr>
                <p:cNvPr id="22543" name="AutoShape 48">
                  <a:extLst>
                    <a:ext uri="{FF2B5EF4-FFF2-40B4-BE49-F238E27FC236}">
                      <a16:creationId xmlns:a16="http://schemas.microsoft.com/office/drawing/2014/main" id="{7E6941EF-18FF-7FB5-3419-EFC5A0BC1F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2697" y="1149"/>
                  <a:ext cx="329" cy="24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17694720 60000 65536"/>
                    <a:gd name="T9" fmla="*/ 11796480 60000 65536"/>
                    <a:gd name="T10" fmla="*/ 5898240 60000 65536"/>
                    <a:gd name="T11" fmla="*/ 0 60000 65536"/>
                    <a:gd name="T12" fmla="*/ 3348 w 21600"/>
                    <a:gd name="T13" fmla="*/ 5400 h 21600"/>
                    <a:gd name="T14" fmla="*/ 18908 w 21600"/>
                    <a:gd name="T15" fmla="*/ 162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16200" y="0"/>
                      </a:moveTo>
                      <a:lnTo>
                        <a:pt x="16200" y="5400"/>
                      </a:lnTo>
                      <a:lnTo>
                        <a:pt x="3375" y="5400"/>
                      </a:lnTo>
                      <a:lnTo>
                        <a:pt x="3375" y="16200"/>
                      </a:lnTo>
                      <a:lnTo>
                        <a:pt x="16200" y="16200"/>
                      </a:lnTo>
                      <a:lnTo>
                        <a:pt x="16200" y="21600"/>
                      </a:lnTo>
                      <a:lnTo>
                        <a:pt x="21600" y="10800"/>
                      </a:lnTo>
                      <a:lnTo>
                        <a:pt x="16200" y="0"/>
                      </a:lnTo>
                      <a:close/>
                    </a:path>
                    <a:path w="21600" h="21600">
                      <a:moveTo>
                        <a:pt x="1350" y="5400"/>
                      </a:moveTo>
                      <a:lnTo>
                        <a:pt x="1350" y="16200"/>
                      </a:lnTo>
                      <a:lnTo>
                        <a:pt x="2700" y="16200"/>
                      </a:lnTo>
                      <a:lnTo>
                        <a:pt x="2700" y="5400"/>
                      </a:lnTo>
                      <a:lnTo>
                        <a:pt x="1350" y="5400"/>
                      </a:lnTo>
                      <a:close/>
                    </a:path>
                    <a:path w="21600" h="21600">
                      <a:moveTo>
                        <a:pt x="0" y="5400"/>
                      </a:moveTo>
                      <a:lnTo>
                        <a:pt x="0" y="16200"/>
                      </a:lnTo>
                      <a:lnTo>
                        <a:pt x="675" y="16200"/>
                      </a:lnTo>
                      <a:lnTo>
                        <a:pt x="675" y="5400"/>
                      </a:lnTo>
                      <a:lnTo>
                        <a:pt x="0" y="54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C0E00"/>
                    </a:gs>
                    <a:gs pos="50000">
                      <a:srgbClr val="FF0000"/>
                    </a:gs>
                    <a:gs pos="100000">
                      <a:srgbClr val="4C0E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2544" name="AutoShape 50">
                  <a:extLst>
                    <a:ext uri="{FF2B5EF4-FFF2-40B4-BE49-F238E27FC236}">
                      <a16:creationId xmlns:a16="http://schemas.microsoft.com/office/drawing/2014/main" id="{FDA675D4-5771-A9D9-D93B-D9B776BDFD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1363" y="1498"/>
                  <a:ext cx="329" cy="24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17694720 60000 65536"/>
                    <a:gd name="T9" fmla="*/ 11796480 60000 65536"/>
                    <a:gd name="T10" fmla="*/ 5898240 60000 65536"/>
                    <a:gd name="T11" fmla="*/ 0 60000 65536"/>
                    <a:gd name="T12" fmla="*/ 3348 w 21600"/>
                    <a:gd name="T13" fmla="*/ 5400 h 21600"/>
                    <a:gd name="T14" fmla="*/ 18908 w 21600"/>
                    <a:gd name="T15" fmla="*/ 162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16200" y="0"/>
                      </a:moveTo>
                      <a:lnTo>
                        <a:pt x="16200" y="5400"/>
                      </a:lnTo>
                      <a:lnTo>
                        <a:pt x="3375" y="5400"/>
                      </a:lnTo>
                      <a:lnTo>
                        <a:pt x="3375" y="16200"/>
                      </a:lnTo>
                      <a:lnTo>
                        <a:pt x="16200" y="16200"/>
                      </a:lnTo>
                      <a:lnTo>
                        <a:pt x="16200" y="21600"/>
                      </a:lnTo>
                      <a:lnTo>
                        <a:pt x="21600" y="10800"/>
                      </a:lnTo>
                      <a:lnTo>
                        <a:pt x="16200" y="0"/>
                      </a:lnTo>
                      <a:close/>
                    </a:path>
                    <a:path w="21600" h="21600">
                      <a:moveTo>
                        <a:pt x="1350" y="5400"/>
                      </a:moveTo>
                      <a:lnTo>
                        <a:pt x="1350" y="16200"/>
                      </a:lnTo>
                      <a:lnTo>
                        <a:pt x="2700" y="16200"/>
                      </a:lnTo>
                      <a:lnTo>
                        <a:pt x="2700" y="5400"/>
                      </a:lnTo>
                      <a:lnTo>
                        <a:pt x="1350" y="5400"/>
                      </a:lnTo>
                      <a:close/>
                    </a:path>
                    <a:path w="21600" h="21600">
                      <a:moveTo>
                        <a:pt x="0" y="5400"/>
                      </a:moveTo>
                      <a:lnTo>
                        <a:pt x="0" y="16200"/>
                      </a:lnTo>
                      <a:lnTo>
                        <a:pt x="675" y="16200"/>
                      </a:lnTo>
                      <a:lnTo>
                        <a:pt x="675" y="5400"/>
                      </a:lnTo>
                      <a:lnTo>
                        <a:pt x="0" y="54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C0E00"/>
                    </a:gs>
                    <a:gs pos="50000">
                      <a:srgbClr val="FF0000"/>
                    </a:gs>
                    <a:gs pos="100000">
                      <a:srgbClr val="4C0E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2545" name="AutoShape 51">
                  <a:extLst>
                    <a:ext uri="{FF2B5EF4-FFF2-40B4-BE49-F238E27FC236}">
                      <a16:creationId xmlns:a16="http://schemas.microsoft.com/office/drawing/2014/main" id="{1A916166-73E8-3CFD-AE7D-8910B54757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3991" y="1498"/>
                  <a:ext cx="329" cy="24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17694720 60000 65536"/>
                    <a:gd name="T9" fmla="*/ 11796480 60000 65536"/>
                    <a:gd name="T10" fmla="*/ 5898240 60000 65536"/>
                    <a:gd name="T11" fmla="*/ 0 60000 65536"/>
                    <a:gd name="T12" fmla="*/ 3348 w 21600"/>
                    <a:gd name="T13" fmla="*/ 5400 h 21600"/>
                    <a:gd name="T14" fmla="*/ 18908 w 21600"/>
                    <a:gd name="T15" fmla="*/ 162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16200" y="0"/>
                      </a:moveTo>
                      <a:lnTo>
                        <a:pt x="16200" y="5400"/>
                      </a:lnTo>
                      <a:lnTo>
                        <a:pt x="3375" y="5400"/>
                      </a:lnTo>
                      <a:lnTo>
                        <a:pt x="3375" y="16200"/>
                      </a:lnTo>
                      <a:lnTo>
                        <a:pt x="16200" y="16200"/>
                      </a:lnTo>
                      <a:lnTo>
                        <a:pt x="16200" y="21600"/>
                      </a:lnTo>
                      <a:lnTo>
                        <a:pt x="21600" y="10800"/>
                      </a:lnTo>
                      <a:lnTo>
                        <a:pt x="16200" y="0"/>
                      </a:lnTo>
                      <a:close/>
                    </a:path>
                    <a:path w="21600" h="21600">
                      <a:moveTo>
                        <a:pt x="1350" y="5400"/>
                      </a:moveTo>
                      <a:lnTo>
                        <a:pt x="1350" y="16200"/>
                      </a:lnTo>
                      <a:lnTo>
                        <a:pt x="2700" y="16200"/>
                      </a:lnTo>
                      <a:lnTo>
                        <a:pt x="2700" y="5400"/>
                      </a:lnTo>
                      <a:lnTo>
                        <a:pt x="1350" y="5400"/>
                      </a:lnTo>
                      <a:close/>
                    </a:path>
                    <a:path w="21600" h="21600">
                      <a:moveTo>
                        <a:pt x="0" y="5400"/>
                      </a:moveTo>
                      <a:lnTo>
                        <a:pt x="0" y="16200"/>
                      </a:lnTo>
                      <a:lnTo>
                        <a:pt x="675" y="16200"/>
                      </a:lnTo>
                      <a:lnTo>
                        <a:pt x="675" y="5400"/>
                      </a:lnTo>
                      <a:lnTo>
                        <a:pt x="0" y="54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C0E00"/>
                    </a:gs>
                    <a:gs pos="50000">
                      <a:srgbClr val="FF0000"/>
                    </a:gs>
                    <a:gs pos="100000">
                      <a:srgbClr val="4C0E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</p:grpSp>
        </p:grpSp>
        <p:sp>
          <p:nvSpPr>
            <p:cNvPr id="22537" name="Text Box 61">
              <a:extLst>
                <a:ext uri="{FF2B5EF4-FFF2-40B4-BE49-F238E27FC236}">
                  <a16:creationId xmlns:a16="http://schemas.microsoft.com/office/drawing/2014/main" id="{944A485A-CFDF-0AEE-6842-2335C4BFB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968"/>
              <a:ext cx="1104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800">
                  <a:latin typeface="Gill Sans MT" panose="020B0502020104020203" pitchFamily="34" charset="77"/>
                  <a:sym typeface="Monotype Sorts" pitchFamily="2" charset="2"/>
                </a:rPr>
                <a:t> </a:t>
              </a:r>
              <a:r>
                <a:rPr lang="pt-BR" altLang="pt-BR" sz="1800">
                  <a:latin typeface="Gill Sans MT" panose="020B0502020104020203" pitchFamily="34" charset="77"/>
                </a:rPr>
                <a:t>glicocálix</a:t>
              </a:r>
              <a:endParaRPr lang="pt-BR" altLang="pt-BR" sz="2400">
                <a:latin typeface="Gill Sans MT" panose="020B0502020104020203" pitchFamily="34" charset="77"/>
              </a:endParaRPr>
            </a:p>
          </p:txBody>
        </p:sp>
      </p:grp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Picture 39" descr="cellmemb2[1]">
            <a:extLst>
              <a:ext uri="{FF2B5EF4-FFF2-40B4-BE49-F238E27FC236}">
                <a16:creationId xmlns:a16="http://schemas.microsoft.com/office/drawing/2014/main" id="{A916BDB2-BAA3-8A2E-F777-624FB9FCD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4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1687513"/>
            <a:ext cx="8863012" cy="4865687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4" name="Text Box 40">
            <a:extLst>
              <a:ext uri="{FF2B5EF4-FFF2-40B4-BE49-F238E27FC236}">
                <a16:creationId xmlns:a16="http://schemas.microsoft.com/office/drawing/2014/main" id="{73E5F86F-D4D1-679E-FB9A-E3E4C2968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213" y="166688"/>
            <a:ext cx="4219575" cy="528637"/>
          </a:xfrm>
          <a:prstGeom prst="rect">
            <a:avLst/>
          </a:prstGeom>
          <a:solidFill>
            <a:srgbClr val="FEDAFE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pt-BR" altLang="pt-BR">
                <a:latin typeface="Tahoma" panose="020B0604030504040204" pitchFamily="34" charset="0"/>
              </a:rPr>
              <a:t>MEMBRANA PLASMÁTICA</a:t>
            </a:r>
          </a:p>
        </p:txBody>
      </p:sp>
      <p:sp>
        <p:nvSpPr>
          <p:cNvPr id="23555" name="Text Box 41">
            <a:extLst>
              <a:ext uri="{FF2B5EF4-FFF2-40B4-BE49-F238E27FC236}">
                <a16:creationId xmlns:a16="http://schemas.microsoft.com/office/drawing/2014/main" id="{4174CDDD-EBFF-6DBB-866F-7A191AB8A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928688"/>
            <a:ext cx="3376612" cy="954087"/>
          </a:xfrm>
          <a:prstGeom prst="rect">
            <a:avLst/>
          </a:prstGeom>
          <a:solidFill>
            <a:schemeClr val="hlink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pt-BR" altLang="pt-BR">
                <a:latin typeface="Tahoma" panose="020B0604030504040204" pitchFamily="34" charset="0"/>
              </a:rPr>
              <a:t>Composição química</a:t>
            </a:r>
          </a:p>
        </p:txBody>
      </p:sp>
      <p:sp>
        <p:nvSpPr>
          <p:cNvPr id="23556" name="Text Box 42">
            <a:extLst>
              <a:ext uri="{FF2B5EF4-FFF2-40B4-BE49-F238E27FC236}">
                <a16:creationId xmlns:a16="http://schemas.microsoft.com/office/drawing/2014/main" id="{A8A2B1C6-92AD-89D5-98A1-35094CF1F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9575" y="990600"/>
            <a:ext cx="4854575" cy="406400"/>
          </a:xfrm>
          <a:prstGeom prst="rect">
            <a:avLst/>
          </a:prstGeom>
          <a:solidFill>
            <a:schemeClr val="hlink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pt-BR" altLang="pt-BR" sz="2000">
                <a:latin typeface="Tahoma" panose="020B0604030504040204" pitchFamily="34" charset="0"/>
              </a:rPr>
              <a:t>LIPÍDIOS, PROTEÍNAS E AÇÚCARES</a:t>
            </a:r>
          </a:p>
        </p:txBody>
      </p:sp>
      <p:sp>
        <p:nvSpPr>
          <p:cNvPr id="23557" name="AutoShape 43">
            <a:extLst>
              <a:ext uri="{FF2B5EF4-FFF2-40B4-BE49-F238E27FC236}">
                <a16:creationId xmlns:a16="http://schemas.microsoft.com/office/drawing/2014/main" id="{AE927FF1-041B-2581-BB39-9AB5F6B66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450" y="990600"/>
            <a:ext cx="352425" cy="3810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pt-BR" sz="1800"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1026">
            <a:extLst>
              <a:ext uri="{FF2B5EF4-FFF2-40B4-BE49-F238E27FC236}">
                <a16:creationId xmlns:a16="http://schemas.microsoft.com/office/drawing/2014/main" id="{61328157-ABC6-2EB4-8F03-9EC39D289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-26988"/>
            <a:ext cx="8078787" cy="603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8" name="Text Box 1027">
            <a:extLst>
              <a:ext uri="{FF2B5EF4-FFF2-40B4-BE49-F238E27FC236}">
                <a16:creationId xmlns:a16="http://schemas.microsoft.com/office/drawing/2014/main" id="{783BAD0D-E488-824B-BCE5-A203CCDE6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84150"/>
            <a:ext cx="1663700" cy="6334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90000" rIns="54000" bIns="54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>
                <a:latin typeface="Tahoma" panose="020B0604030504040204" pitchFamily="34" charset="0"/>
              </a:rPr>
              <a:t>Galactosídeo permease</a:t>
            </a:r>
            <a:endParaRPr lang="pt-BR" altLang="pt-BR" sz="2000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24579" name="Text Box 1028">
            <a:extLst>
              <a:ext uri="{FF2B5EF4-FFF2-40B4-BE49-F238E27FC236}">
                <a16:creationId xmlns:a16="http://schemas.microsoft.com/office/drawing/2014/main" id="{624CF91E-82A9-8A68-E0CD-2CF136818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844550"/>
            <a:ext cx="1358900" cy="596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54000" rIns="54000" bIns="54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>
                <a:latin typeface="Tahoma" panose="020B0604030504040204" pitchFamily="34" charset="0"/>
              </a:rPr>
              <a:t>Lactose (exterior)</a:t>
            </a:r>
            <a:endParaRPr lang="pt-BR" altLang="pt-BR" sz="2000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24580" name="Text Box 1029">
            <a:extLst>
              <a:ext uri="{FF2B5EF4-FFF2-40B4-BE49-F238E27FC236}">
                <a16:creationId xmlns:a16="http://schemas.microsoft.com/office/drawing/2014/main" id="{09D2F263-7BDB-B8F4-9B89-3E6653878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95250"/>
            <a:ext cx="2514600" cy="749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54000" rIns="54000" bIns="54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>
                <a:latin typeface="Tahoma" panose="020B0604030504040204" pitchFamily="34" charset="0"/>
              </a:rPr>
              <a:t>Bomba de próton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>
                <a:latin typeface="Tahoma" panose="020B0604030504040204" pitchFamily="34" charset="0"/>
              </a:rPr>
              <a:t>(inibida por CN</a:t>
            </a:r>
            <a:r>
              <a:rPr lang="pt-BR" altLang="pt-BR" sz="2000" baseline="30000">
                <a:latin typeface="Tahoma" panose="020B0604030504040204" pitchFamily="34" charset="0"/>
              </a:rPr>
              <a:t>-</a:t>
            </a:r>
            <a:r>
              <a:rPr lang="pt-BR" altLang="pt-BR" sz="2000">
                <a:latin typeface="Tahoma" panose="020B0604030504040204" pitchFamily="34" charset="0"/>
              </a:rPr>
              <a:t>)</a:t>
            </a:r>
            <a:endParaRPr lang="pt-BR" altLang="pt-BR" sz="2000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24581" name="Text Box 1030">
            <a:extLst>
              <a:ext uri="{FF2B5EF4-FFF2-40B4-BE49-F238E27FC236}">
                <a16:creationId xmlns:a16="http://schemas.microsoft.com/office/drawing/2014/main" id="{5DA6C3C4-6509-56B3-B8E2-F9DC43E1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00" y="4794250"/>
            <a:ext cx="1358900" cy="596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54000" rIns="54000" bIns="54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>
                <a:latin typeface="Tahoma" panose="020B0604030504040204" pitchFamily="34" charset="0"/>
              </a:rPr>
              <a:t>Lactose (interior)</a:t>
            </a:r>
            <a:endParaRPr lang="pt-BR" altLang="pt-BR" sz="2000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24582" name="Text Box 1031">
            <a:extLst>
              <a:ext uri="{FF2B5EF4-FFF2-40B4-BE49-F238E27FC236}">
                <a16:creationId xmlns:a16="http://schemas.microsoft.com/office/drawing/2014/main" id="{1E233BC3-1990-A0A8-1149-80E127F7E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6096000"/>
            <a:ext cx="1358900" cy="3524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54000" rIns="54000" bIns="54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endParaRPr lang="pt-BR" altLang="pt-BR" sz="2000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24583" name="Text Box 1032">
            <a:extLst>
              <a:ext uri="{FF2B5EF4-FFF2-40B4-BE49-F238E27FC236}">
                <a16:creationId xmlns:a16="http://schemas.microsoft.com/office/drawing/2014/main" id="{901FAEAB-6130-E536-E0D4-859DF33CF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841750"/>
            <a:ext cx="838200" cy="2428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54000" rIns="54000" bIns="54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100">
                <a:latin typeface="Tahoma" panose="020B0604030504040204" pitchFamily="34" charset="0"/>
              </a:rPr>
              <a:t>combustível</a:t>
            </a:r>
            <a:endParaRPr lang="pt-BR" altLang="pt-BR" sz="1100">
              <a:latin typeface="Tahoma" panose="020B0604030504040204" pitchFamily="34" charset="0"/>
              <a:sym typeface="Symbol" pitchFamily="2" charset="2"/>
            </a:endParaRPr>
          </a:p>
        </p:txBody>
      </p:sp>
      <p:sp>
        <p:nvSpPr>
          <p:cNvPr id="322569" name="Text Box 1033">
            <a:extLst>
              <a:ext uri="{FF2B5EF4-FFF2-40B4-BE49-F238E27FC236}">
                <a16:creationId xmlns:a16="http://schemas.microsoft.com/office/drawing/2014/main" id="{C323B3B9-4E70-2802-4510-849145464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16563"/>
            <a:ext cx="9144000" cy="984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54000" rIns="54000" bIns="54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800" b="1" dirty="0">
                <a:latin typeface="Tahoma" panose="020B0604030504040204" pitchFamily="34" charset="0"/>
              </a:rPr>
              <a:t>Gradiente de íons fornece a energia para transporte ativo secundário: o transporte primário de H</a:t>
            </a:r>
            <a:r>
              <a:rPr lang="pt-BR" altLang="pt-BR" sz="1800" b="1" baseline="30000" dirty="0">
                <a:latin typeface="Tahoma" panose="020B0604030504040204" pitchFamily="34" charset="0"/>
              </a:rPr>
              <a:t>+ </a:t>
            </a:r>
            <a:r>
              <a:rPr lang="pt-BR" altLang="pt-BR" sz="1800" b="1" dirty="0">
                <a:latin typeface="Tahoma" panose="020B0604030504040204" pitchFamily="34" charset="0"/>
              </a:rPr>
              <a:t>para fora da célula, dirigido pela oxidação de uma variedade de combustíveis, estabelece um gradiente de próton e um potencial elétrico (interior negativo) através da membrana.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563814E-A0C7-4E79-D28F-638B019C89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altLang="pt-BR" sz="3200" b="1"/>
              <a:t>INFLUÊNCIA DO POTENCIAL DE AÇÃO NA LIBERAÇÃO DO TRANSMISSOR NOS TERMINAIS PRÉ-SINÁPTICOS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A119908F-DE3F-7F1A-8A5B-BE1BEFF15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916113"/>
            <a:ext cx="8229600" cy="4525962"/>
          </a:xfrm>
        </p:spPr>
        <p:txBody>
          <a:bodyPr/>
          <a:lstStyle/>
          <a:p>
            <a:pPr algn="just"/>
            <a:r>
              <a:rPr lang="pt-BR" altLang="pt-BR" b="1" dirty="0"/>
              <a:t>Acredita-se que os íons cálcio se fixam a moléculas de proteínas nas superfícies internas da membrana, que faz com que vesículas de transmissor na vizinhança fixem também à membrana e se fundam com esta, promovendo a exocitose.</a:t>
            </a:r>
          </a:p>
          <a:p>
            <a:pPr algn="just"/>
            <a:endParaRPr lang="pt-BR" altLang="pt-B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73321859-5322-1802-5983-B709B6240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200" b="1"/>
              <a:t>AÇÃO DA SUBSTÂNCIA TRANSMISSORA SOBRE O NEURÔNIO PÓS-SINÁPTICO</a:t>
            </a:r>
          </a:p>
        </p:txBody>
      </p:sp>
      <p:sp>
        <p:nvSpPr>
          <p:cNvPr id="27650" name="Rectangle 6">
            <a:extLst>
              <a:ext uri="{FF2B5EF4-FFF2-40B4-BE49-F238E27FC236}">
                <a16:creationId xmlns:a16="http://schemas.microsoft.com/office/drawing/2014/main" id="{A3C8157F-707C-41C6-A788-8FFEC13BD7C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600200"/>
            <a:ext cx="4038600" cy="55006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Tx/>
              <a:buNone/>
            </a:pPr>
            <a:r>
              <a:rPr lang="pt-BR" altLang="pt-BR" sz="2400"/>
              <a:t>       </a:t>
            </a:r>
            <a:r>
              <a:rPr lang="pt-BR" altLang="pt-BR" b="1"/>
              <a:t>“PROTEÍNAS RECEPTORAS”</a:t>
            </a:r>
          </a:p>
          <a:p>
            <a:pPr marL="533400" indent="-533400">
              <a:lnSpc>
                <a:spcPct val="80000"/>
              </a:lnSpc>
              <a:buClr>
                <a:srgbClr val="9933FF"/>
              </a:buClr>
              <a:buFontTx/>
              <a:buAutoNum type="arabicPeriod"/>
            </a:pPr>
            <a:r>
              <a:rPr lang="pt-BR" altLang="pt-BR" b="1" u="sng"/>
              <a:t>Componente de fixação</a:t>
            </a:r>
            <a:r>
              <a:rPr lang="pt-BR" altLang="pt-BR" b="1"/>
              <a:t>: protrui para fora da membrana onde fixa o neurotransmissor;</a:t>
            </a:r>
          </a:p>
          <a:p>
            <a:pPr marL="533400" indent="-533400">
              <a:lnSpc>
                <a:spcPct val="80000"/>
              </a:lnSpc>
              <a:buClr>
                <a:srgbClr val="9933FF"/>
              </a:buClr>
              <a:buFontTx/>
              <a:buAutoNum type="arabicPeriod"/>
            </a:pPr>
            <a:r>
              <a:rPr lang="pt-BR" altLang="pt-BR" b="1" u="sng"/>
              <a:t>Ionóforo</a:t>
            </a:r>
            <a:r>
              <a:rPr lang="pt-BR" altLang="pt-BR" b="1"/>
              <a:t>: atravessa toda a espessura da membrana para o interior do neurônio pós-sináptico;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pt-BR" altLang="pt-BR" b="1"/>
              <a:t>  </a:t>
            </a:r>
          </a:p>
        </p:txBody>
      </p:sp>
      <p:pic>
        <p:nvPicPr>
          <p:cNvPr id="27651" name="Picture 8" descr="vesicle1">
            <a:extLst>
              <a:ext uri="{FF2B5EF4-FFF2-40B4-BE49-F238E27FC236}">
                <a16:creationId xmlns:a16="http://schemas.microsoft.com/office/drawing/2014/main" id="{4ED26F90-1952-4097-25A8-2EB366CF0305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070100"/>
            <a:ext cx="4038600" cy="1246188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52" name="Picture 9" descr="Por favor, aguarde o carregamento da animação">
            <a:extLst>
              <a:ext uri="{FF2B5EF4-FFF2-40B4-BE49-F238E27FC236}">
                <a16:creationId xmlns:a16="http://schemas.microsoft.com/office/drawing/2014/main" id="{D86E58D0-E291-8A65-F99F-265BC433EE4F}"/>
              </a:ext>
            </a:extLst>
          </p:cNvPr>
          <p:cNvPicPr>
            <a:picLocks noGrp="1" noChangeAspect="1" noChangeArrowheads="1" noCrop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16463" y="4079875"/>
            <a:ext cx="3887787" cy="244475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5">
            <a:extLst>
              <a:ext uri="{FF2B5EF4-FFF2-40B4-BE49-F238E27FC236}">
                <a16:creationId xmlns:a16="http://schemas.microsoft.com/office/drawing/2014/main" id="{2276AB98-9A0D-4C15-5BEF-347A1A320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/>
              <a:t>PROTEÍNAS RECEPTORAS</a:t>
            </a:r>
          </a:p>
        </p:txBody>
      </p:sp>
      <p:pic>
        <p:nvPicPr>
          <p:cNvPr id="28674" name="Picture 4" descr="transmission[1]">
            <a:extLst>
              <a:ext uri="{FF2B5EF4-FFF2-40B4-BE49-F238E27FC236}">
                <a16:creationId xmlns:a16="http://schemas.microsoft.com/office/drawing/2014/main" id="{8F66FB16-4EF7-66E1-65CB-A27C026779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2275" y="1600200"/>
            <a:ext cx="5759450" cy="449262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pulso nervoso - Só Biologia">
            <a:extLst>
              <a:ext uri="{FF2B5EF4-FFF2-40B4-BE49-F238E27FC236}">
                <a16:creationId xmlns:a16="http://schemas.microsoft.com/office/drawing/2014/main" id="{2DE972FD-5BB9-1C68-69B8-990CD86CB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2445"/>
            <a:ext cx="7282216" cy="653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980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itle 1">
            <a:extLst>
              <a:ext uri="{FF2B5EF4-FFF2-40B4-BE49-F238E27FC236}">
                <a16:creationId xmlns:a16="http://schemas.microsoft.com/office/drawing/2014/main" id="{78C756A1-8675-5F48-47ED-0CB7EC97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 err="1"/>
              <a:t>Impulso</a:t>
            </a:r>
            <a:r>
              <a:rPr lang="en-US" dirty="0"/>
              <a:t> </a:t>
            </a:r>
            <a:r>
              <a:rPr lang="en-US" dirty="0" err="1"/>
              <a:t>Nervoso</a:t>
            </a:r>
            <a:endParaRPr lang="en-US" dirty="0"/>
          </a:p>
        </p:txBody>
      </p:sp>
      <p:pic>
        <p:nvPicPr>
          <p:cNvPr id="2050" name="Picture 2" descr="Sistema nervoso: o que é, estrutura, função - Escola Kids">
            <a:extLst>
              <a:ext uri="{FF2B5EF4-FFF2-40B4-BE49-F238E27FC236}">
                <a16:creationId xmlns:a16="http://schemas.microsoft.com/office/drawing/2014/main" id="{0A84D804-C05E-9074-D448-2FDDF5AE3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931" y="2708920"/>
            <a:ext cx="9143873" cy="288032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086384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A55980D-D285-5A17-FED0-5C0B3B721E84}"/>
              </a:ext>
            </a:extLst>
          </p:cNvPr>
          <p:cNvSpPr txBox="1"/>
          <p:nvPr/>
        </p:nvSpPr>
        <p:spPr>
          <a:xfrm>
            <a:off x="188154" y="1124744"/>
            <a:ext cx="748883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1. Geração do impulso nervoso (potencial de ação)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neurônio em repouso tem carga elétrica negativa no interior.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 estímulo adequado causa </a:t>
            </a:r>
            <a:r>
              <a:rPr lang="pt-BR" b="1" dirty="0"/>
              <a:t>despolarização</a:t>
            </a:r>
            <a:r>
              <a:rPr lang="pt-BR" dirty="0"/>
              <a:t> (entrada de Na⁺).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Se atingir o limiar, ocorre o </a:t>
            </a:r>
            <a:r>
              <a:rPr lang="pt-BR" b="1" dirty="0"/>
              <a:t>potencial de ação</a:t>
            </a:r>
            <a:r>
              <a:rPr lang="pt-BR" dirty="0"/>
              <a:t> (disparo elétrico).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2. Propagação do impulso ao longo do axônio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potencial de ação se propaga ao longo do axônio.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Ocorre abertura sequencial de canais de Na⁺ e </a:t>
            </a:r>
            <a:r>
              <a:rPr lang="pt-BR" dirty="0" err="1"/>
              <a:t>K</a:t>
            </a:r>
            <a:r>
              <a:rPr lang="pt-BR" dirty="0"/>
              <a:t>⁺.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Em neurônios mielinizados, a condução é mais rápida (</a:t>
            </a:r>
            <a:r>
              <a:rPr lang="pt-BR" b="1" dirty="0"/>
              <a:t>saltatória</a:t>
            </a:r>
            <a:r>
              <a:rPr lang="pt-B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3. Chegada do impulso ao terminal </a:t>
            </a:r>
            <a:r>
              <a:rPr lang="pt-BR" b="1" dirty="0" err="1"/>
              <a:t>axônico</a:t>
            </a: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impulso elétrico chega ao final do neurônio (botão sináptico).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Isso promove a abertura de </a:t>
            </a:r>
            <a:r>
              <a:rPr lang="pt-BR" b="1" dirty="0"/>
              <a:t>canais de Ca²⁺ dependentes de voltagem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4. Entrada de cálcio (Ca²⁺) no terminal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Ca²⁺ entra no neurônio.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Esse íon é essencial para iniciar a liberação de neurotransmissores.</a:t>
            </a:r>
          </a:p>
          <a:p>
            <a:endParaRPr lang="pt-BR" b="1" dirty="0"/>
          </a:p>
          <a:p>
            <a:endParaRPr lang="pt-BR" dirty="0"/>
          </a:p>
        </p:txBody>
      </p:sp>
      <p:pic>
        <p:nvPicPr>
          <p:cNvPr id="1026" name="Picture 2" descr="Resumindo (podcast) - Lala | Listen Notes">
            <a:extLst>
              <a:ext uri="{FF2B5EF4-FFF2-40B4-BE49-F238E27FC236}">
                <a16:creationId xmlns:a16="http://schemas.microsoft.com/office/drawing/2014/main" id="{C089157B-33B3-DFA5-9C53-6CD4DD2F59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0" t="26900" r="14300" b="20601"/>
          <a:stretch/>
        </p:blipFill>
        <p:spPr bwMode="auto">
          <a:xfrm>
            <a:off x="7236295" y="100945"/>
            <a:ext cx="1719551" cy="167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935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C19153B-E664-BC5E-D0B0-EA52F94E1744}"/>
              </a:ext>
            </a:extLst>
          </p:cNvPr>
          <p:cNvSpPr txBox="1"/>
          <p:nvPr/>
        </p:nvSpPr>
        <p:spPr>
          <a:xfrm>
            <a:off x="395536" y="764704"/>
            <a:ext cx="80648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  <a:p>
            <a:r>
              <a:rPr lang="pt-BR" b="1" dirty="0"/>
              <a:t>5. Liberação de neurotransmissores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Vesículas sinápticas se fundem com a membrana (exocitose)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Os neurotransmissores são liberados na </a:t>
            </a:r>
            <a:r>
              <a:rPr lang="pt-BR" b="1" dirty="0"/>
              <a:t>fenda sináptica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6. Ligação aos receptores no neurônio pós-sináptico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Neurotransmissores se ligam a </a:t>
            </a:r>
            <a:r>
              <a:rPr lang="pt-BR" b="1" dirty="0"/>
              <a:t>receptores específicos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Isso pode gerar: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Excitação</a:t>
            </a:r>
            <a:r>
              <a:rPr lang="pt-BR" dirty="0"/>
              <a:t> (entrada de Na⁺ → despolarização)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Inibição</a:t>
            </a:r>
            <a:r>
              <a:rPr lang="pt-BR" dirty="0"/>
              <a:t> (entrada de Cl⁻ ou saída de </a:t>
            </a:r>
            <a:r>
              <a:rPr lang="pt-BR" dirty="0" err="1"/>
              <a:t>K</a:t>
            </a:r>
            <a:r>
              <a:rPr lang="pt-BR" dirty="0"/>
              <a:t>⁺ → hiperpolarização)</a:t>
            </a:r>
          </a:p>
          <a:p>
            <a:r>
              <a:rPr lang="pt-BR" b="1" dirty="0"/>
              <a:t>7. Geração de resposta no neurônio pós-sináptico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Se o estímulo for suficiente, um novo potencial de ação é gerado.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Caso contrário, o sinal é interrompido.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8. Remoção do neurotransmissor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Para encerrar o sinal, o neurotransmissor é removido por: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Recaptação</a:t>
            </a:r>
            <a:r>
              <a:rPr lang="pt-BR" dirty="0"/>
              <a:t> pelo neurônio pré-sináptico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Degradação enzimática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Difusão para fora da fenda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Picture 2" descr="Resumindo (podcast) - Lala | Listen Notes">
            <a:extLst>
              <a:ext uri="{FF2B5EF4-FFF2-40B4-BE49-F238E27FC236}">
                <a16:creationId xmlns:a16="http://schemas.microsoft.com/office/drawing/2014/main" id="{A47B4B49-6990-872E-0F2B-68C564E87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0" t="26900" r="14300" b="20601"/>
          <a:stretch/>
        </p:blipFill>
        <p:spPr bwMode="auto">
          <a:xfrm>
            <a:off x="7236295" y="100945"/>
            <a:ext cx="1719551" cy="167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666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m gerada: Passo a passo do impulso nervoso">
            <a:extLst>
              <a:ext uri="{FF2B5EF4-FFF2-40B4-BE49-F238E27FC236}">
                <a16:creationId xmlns:a16="http://schemas.microsoft.com/office/drawing/2014/main" id="{6F7A35ED-64EA-2077-3E95-25B669C500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Imagem 3" descr="Uma imagem contendo Diagrama&#10;&#10;Descrição gerada automaticamente">
            <a:extLst>
              <a:ext uri="{FF2B5EF4-FFF2-40B4-BE49-F238E27FC236}">
                <a16:creationId xmlns:a16="http://schemas.microsoft.com/office/drawing/2014/main" id="{7FF3EEEF-C37F-B0D8-A88A-C3797AD40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457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12CAFAA-475A-4EEB-D118-D95F43AA7D77}"/>
              </a:ext>
            </a:extLst>
          </p:cNvPr>
          <p:cNvSpPr txBox="1"/>
          <p:nvPr/>
        </p:nvSpPr>
        <p:spPr>
          <a:xfrm>
            <a:off x="6156176" y="6574675"/>
            <a:ext cx="3419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Barros, LA.S. Imagem criada com IA</a:t>
            </a:r>
          </a:p>
        </p:txBody>
      </p:sp>
    </p:spTree>
    <p:extLst>
      <p:ext uri="{BB962C8B-B14F-4D97-AF65-F5344CB8AC3E}">
        <p14:creationId xmlns:p14="http://schemas.microsoft.com/office/powerpoint/2010/main" val="2211894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Quais são os Neurotransmissores que controlam nossas Emoções">
            <a:extLst>
              <a:ext uri="{FF2B5EF4-FFF2-40B4-BE49-F238E27FC236}">
                <a16:creationId xmlns:a16="http://schemas.microsoft.com/office/drawing/2014/main" id="{336DB7F9-8115-EBE1-4BF4-B1464646EA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8"/>
          <a:stretch/>
        </p:blipFill>
        <p:spPr bwMode="auto">
          <a:xfrm>
            <a:off x="755576" y="89645"/>
            <a:ext cx="7927977" cy="676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023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>
            <a:extLst>
              <a:ext uri="{FF2B5EF4-FFF2-40B4-BE49-F238E27FC236}">
                <a16:creationId xmlns:a16="http://schemas.microsoft.com/office/drawing/2014/main" id="{5DBCD0DF-A320-B118-3FA1-6F7A0533F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925" y="187325"/>
            <a:ext cx="8531225" cy="641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02068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EB1DF04-4A80-34A4-5C2F-D73406C47B2B}"/>
              </a:ext>
            </a:extLst>
          </p:cNvPr>
          <p:cNvSpPr txBox="1"/>
          <p:nvPr/>
        </p:nvSpPr>
        <p:spPr>
          <a:xfrm>
            <a:off x="431540" y="692696"/>
            <a:ext cx="8280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https://www.kenhub.com/pt/library/fisiologia-pt/neurotransmissores?gad_source=1&amp;gad_campaignid=23456968687&amp;gbraid=0AAAAADtP8paRl-loqvHaaHYoFHreThA_H&amp;gclid=Cj0KCQjwve7NBhC-ARIsALZy9HXPrqE4rWqK0Gm3h1v-ae36b1jS9z668iWg13CvBLxyx9D0XAMEClMaAreCEALw_wcB</a:t>
            </a:r>
            <a:endParaRPr lang="pt-BR" dirty="0"/>
          </a:p>
          <a:p>
            <a:endParaRPr lang="pt-BR" dirty="0"/>
          </a:p>
        </p:txBody>
      </p:sp>
      <p:pic>
        <p:nvPicPr>
          <p:cNvPr id="5122" name="Picture 2" descr="A importância do conhecimento em Farmacologia para a atuação do  farmacêutico - Blog Universo Ateneu">
            <a:extLst>
              <a:ext uri="{FF2B5EF4-FFF2-40B4-BE49-F238E27FC236}">
                <a16:creationId xmlns:a16="http://schemas.microsoft.com/office/drawing/2014/main" id="{09CE5769-CAB2-E951-BB8C-417AAC4CF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996952"/>
            <a:ext cx="7596336" cy="3736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259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>
            <a:extLst>
              <a:ext uri="{FF2B5EF4-FFF2-40B4-BE49-F238E27FC236}">
                <a16:creationId xmlns:a16="http://schemas.microsoft.com/office/drawing/2014/main" id="{E480A3C3-5612-F175-3C38-BCEEA392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pt-BR" altLang="pt-BR"/>
              <a:t>Neurotransmissores </a:t>
            </a:r>
          </a:p>
        </p:txBody>
      </p:sp>
      <p:sp>
        <p:nvSpPr>
          <p:cNvPr id="22531" name="Espaço Reservado para Conteúdo 2">
            <a:extLst>
              <a:ext uri="{FF2B5EF4-FFF2-40B4-BE49-F238E27FC236}">
                <a16:creationId xmlns:a16="http://schemas.microsoft.com/office/drawing/2014/main" id="{3424AB11-BB07-6B17-423B-FEBF66E326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280400" cy="4997450"/>
          </a:xfrm>
        </p:spPr>
        <p:txBody>
          <a:bodyPr/>
          <a:lstStyle/>
          <a:p>
            <a:pPr eaLnBrk="1" hangingPunct="1"/>
            <a:r>
              <a:rPr lang="pt-BR" altLang="pt-BR"/>
              <a:t>Acetilcolina (ACh): acetil coenzima A + colina</a:t>
            </a:r>
          </a:p>
          <a:p>
            <a:pPr eaLnBrk="1" hangingPunct="1"/>
            <a:r>
              <a:rPr lang="pt-BR" altLang="pt-BR"/>
              <a:t>Aminas:</a:t>
            </a:r>
          </a:p>
          <a:p>
            <a:pPr lvl="1" eaLnBrk="1" hangingPunct="1"/>
            <a:r>
              <a:rPr lang="pt-BR" altLang="pt-BR"/>
              <a:t>dopamina; noradrenalina; adrenalina – tirosina</a:t>
            </a:r>
          </a:p>
          <a:p>
            <a:pPr lvl="1" eaLnBrk="1" hangingPunct="1"/>
            <a:r>
              <a:rPr lang="pt-BR" altLang="pt-BR"/>
              <a:t>Serotonina – triptofano</a:t>
            </a:r>
          </a:p>
          <a:p>
            <a:pPr eaLnBrk="1" hangingPunct="1"/>
            <a:r>
              <a:rPr lang="pt-BR" altLang="pt-BR"/>
              <a:t>Aminoácidos:</a:t>
            </a:r>
          </a:p>
          <a:p>
            <a:pPr lvl="1" eaLnBrk="1" hangingPunct="1"/>
            <a:r>
              <a:rPr lang="pt-BR" altLang="pt-BR"/>
              <a:t>Glutamato; ácido gama aminobutírico (GABA)</a:t>
            </a:r>
          </a:p>
          <a:p>
            <a:pPr eaLnBrk="1" hangingPunct="1"/>
            <a:r>
              <a:rPr lang="pt-BR" altLang="pt-BR"/>
              <a:t>Polipeptídeos:</a:t>
            </a:r>
          </a:p>
          <a:p>
            <a:pPr lvl="1" eaLnBrk="1" hangingPunct="1"/>
            <a:r>
              <a:rPr lang="pt-BR" altLang="pt-BR"/>
              <a:t>Endorfinas e encefalinas</a:t>
            </a:r>
          </a:p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305488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D5FDB016-27CC-4C98-90E3-689E405D0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t-BR" altLang="pt-BR" sz="3600" b="1"/>
              <a:t>AÇÃO DA SUBSTÂNCIA TRANSMISSORA SOBRE O NEURÔNIO PÓS-SINÁPTICO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84E76695-77C0-0C28-27F5-B6FCFE8095B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585161"/>
            <a:ext cx="4465638" cy="2952750"/>
          </a:xfrm>
        </p:spPr>
        <p:txBody>
          <a:bodyPr/>
          <a:lstStyle/>
          <a:p>
            <a:pPr marL="0" indent="0">
              <a:buClr>
                <a:srgbClr val="9933FF"/>
              </a:buClr>
              <a:buNone/>
            </a:pPr>
            <a:r>
              <a:rPr lang="pt-BR" altLang="pt-BR" b="1" dirty="0" err="1"/>
              <a:t>Ionóforo</a:t>
            </a:r>
            <a:r>
              <a:rPr lang="pt-BR" altLang="pt-BR" b="1" dirty="0"/>
              <a:t>:</a:t>
            </a:r>
          </a:p>
          <a:p>
            <a:pPr marL="533400" indent="-533400">
              <a:buFontTx/>
              <a:buNone/>
            </a:pPr>
            <a:r>
              <a:rPr lang="pt-BR" altLang="pt-BR" b="1" dirty="0">
                <a:solidFill>
                  <a:srgbClr val="9933FF"/>
                </a:solidFill>
              </a:rPr>
              <a:t>1.</a:t>
            </a:r>
            <a:r>
              <a:rPr lang="pt-BR" altLang="pt-BR" b="1" dirty="0"/>
              <a:t> Canais Iônicos: permitem a passagem de tipos específicos de íons através da membrana;</a:t>
            </a:r>
          </a:p>
          <a:p>
            <a:pPr marL="533400" indent="-533400">
              <a:buFontTx/>
              <a:buNone/>
            </a:pPr>
            <a:r>
              <a:rPr lang="pt-BR" altLang="pt-BR" b="1" dirty="0"/>
              <a:t> </a:t>
            </a:r>
            <a:r>
              <a:rPr lang="pt-BR" altLang="pt-BR" b="1" dirty="0">
                <a:solidFill>
                  <a:srgbClr val="9933FF"/>
                </a:solidFill>
              </a:rPr>
              <a:t> </a:t>
            </a:r>
            <a:endParaRPr lang="pt-BR" altLang="pt-BR" b="1" dirty="0"/>
          </a:p>
        </p:txBody>
      </p:sp>
      <p:pic>
        <p:nvPicPr>
          <p:cNvPr id="29699" name="Picture 6" descr="rec1b[1]">
            <a:extLst>
              <a:ext uri="{FF2B5EF4-FFF2-40B4-BE49-F238E27FC236}">
                <a16:creationId xmlns:a16="http://schemas.microsoft.com/office/drawing/2014/main" id="{02E01C4A-4F55-7ED6-D41E-0B610273787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8448" y="1585161"/>
            <a:ext cx="4105275" cy="208915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00" name="Text Box 7">
            <a:extLst>
              <a:ext uri="{FF2B5EF4-FFF2-40B4-BE49-F238E27FC236}">
                <a16:creationId xmlns:a16="http://schemas.microsoft.com/office/drawing/2014/main" id="{9788E7CF-E138-9F3A-CD8F-98CF92AA9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08500"/>
            <a:ext cx="831691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28900" indent="-3429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86100" indent="-3429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43300" indent="-3429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00500" indent="-3429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 dirty="0">
                <a:solidFill>
                  <a:srgbClr val="9933FF"/>
                </a:solidFill>
                <a:latin typeface="Arial" panose="020B0604020202020204" pitchFamily="34" charset="0"/>
              </a:rPr>
              <a:t>2. </a:t>
            </a:r>
            <a:r>
              <a:rPr lang="pt-BR" altLang="pt-BR" sz="2900" b="1" dirty="0">
                <a:latin typeface="+mn-lt"/>
              </a:rPr>
              <a:t>Ativador de segundo mensageiro: não é    um canal iônico, mas uma molécula que </a:t>
            </a:r>
            <a:r>
              <a:rPr lang="pt-BR" altLang="pt-BR" sz="2900" b="1" dirty="0" err="1">
                <a:latin typeface="+mn-lt"/>
              </a:rPr>
              <a:t>protrui</a:t>
            </a:r>
            <a:r>
              <a:rPr lang="pt-BR" altLang="pt-BR" sz="2900" b="1" dirty="0">
                <a:latin typeface="+mn-lt"/>
              </a:rPr>
              <a:t> para dentro do citoplasma da célula e ativa uma ou mais substâncias dentro do neurônio pós-sináptico; </a:t>
            </a:r>
          </a:p>
          <a:p>
            <a:pPr eaLnBrk="1" hangingPunct="1"/>
            <a:endParaRPr lang="pt-BR" altLang="pt-BR" sz="28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27DCFA28-96BF-B425-5316-35502583D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03350"/>
          </a:xfrm>
        </p:spPr>
        <p:txBody>
          <a:bodyPr/>
          <a:lstStyle/>
          <a:p>
            <a:r>
              <a:rPr lang="pt-BR" altLang="pt-BR" b="1"/>
              <a:t>TRANSMISSORES SINÁPTICOS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0131DCAE-1027-8D93-3EC1-C3188E70E5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609600" indent="-609600">
              <a:buClr>
                <a:srgbClr val="9933FF"/>
              </a:buClr>
              <a:buFontTx/>
              <a:buAutoNum type="arabicPeriod"/>
            </a:pPr>
            <a:r>
              <a:rPr lang="pt-BR" altLang="pt-BR" b="1"/>
              <a:t>TRANSMISSORES DE MOLÉCULA PEQUENA : rápidos / citossol das terminações pré-sinápticas</a:t>
            </a:r>
          </a:p>
          <a:p>
            <a:pPr marL="609600" indent="-609600">
              <a:buClr>
                <a:srgbClr val="9933FF"/>
              </a:buClr>
            </a:pPr>
            <a:r>
              <a:rPr lang="pt-BR" altLang="pt-BR" b="1"/>
              <a:t>Acetilcolina: excitatório (exceção: coração);</a:t>
            </a:r>
          </a:p>
          <a:p>
            <a:pPr marL="609600" indent="-609600">
              <a:buClr>
                <a:srgbClr val="9933FF"/>
              </a:buClr>
            </a:pPr>
            <a:r>
              <a:rPr lang="pt-BR" altLang="pt-BR" b="1"/>
              <a:t>Norepinefrina: excitatório e inibitório;</a:t>
            </a:r>
          </a:p>
          <a:p>
            <a:pPr marL="609600" indent="-609600">
              <a:buClr>
                <a:srgbClr val="9933FF"/>
              </a:buClr>
            </a:pPr>
            <a:r>
              <a:rPr lang="pt-BR" altLang="pt-BR" b="1"/>
              <a:t>Dopamina: inibitório;</a:t>
            </a:r>
          </a:p>
          <a:p>
            <a:pPr marL="609600" indent="-609600">
              <a:buClr>
                <a:srgbClr val="9933FF"/>
              </a:buClr>
            </a:pPr>
            <a:r>
              <a:rPr lang="pt-BR" altLang="pt-BR" b="1"/>
              <a:t>Glicina: inibitório;</a:t>
            </a:r>
          </a:p>
          <a:p>
            <a:pPr marL="609600" indent="-609600">
              <a:buClr>
                <a:srgbClr val="9933FF"/>
              </a:buClr>
            </a:pPr>
            <a:r>
              <a:rPr lang="pt-BR" altLang="pt-BR" b="1"/>
              <a:t>GABA: inibição;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5E8B96A2-02AA-D3CE-AC41-7E510E111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03350"/>
          </a:xfrm>
        </p:spPr>
        <p:txBody>
          <a:bodyPr/>
          <a:lstStyle/>
          <a:p>
            <a:r>
              <a:rPr lang="pt-BR" altLang="pt-BR" b="1"/>
              <a:t>TRANSMISSORES SINÁPTICOS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72765D34-0551-0861-7733-614971475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609600" indent="-609600">
              <a:buClr>
                <a:srgbClr val="9933FF"/>
              </a:buClr>
              <a:buFontTx/>
              <a:buAutoNum type="arabicPeriod" startAt="2"/>
            </a:pPr>
            <a:r>
              <a:rPr lang="pt-BR" altLang="pt-BR" b="1"/>
              <a:t>NEUROPEPTÍDEOS: lentos, porém potentes / ribossomos no corpo celular neuronal</a:t>
            </a:r>
          </a:p>
          <a:p>
            <a:pPr marL="609600" indent="-609600">
              <a:buClr>
                <a:srgbClr val="9933FF"/>
              </a:buClr>
            </a:pPr>
            <a:r>
              <a:rPr lang="pt-BR" altLang="pt-BR" b="1"/>
              <a:t>Hormônios de liberação hipotalâmicos: somastostatina;</a:t>
            </a:r>
          </a:p>
          <a:p>
            <a:pPr marL="609600" indent="-609600">
              <a:buClr>
                <a:srgbClr val="9933FF"/>
              </a:buClr>
            </a:pPr>
            <a:r>
              <a:rPr lang="pt-BR" altLang="pt-BR" b="1"/>
              <a:t>Peptídeos hipofisários: prolactina;</a:t>
            </a:r>
          </a:p>
          <a:p>
            <a:pPr marL="609600" indent="-609600">
              <a:buClr>
                <a:srgbClr val="9933FF"/>
              </a:buClr>
            </a:pPr>
            <a:r>
              <a:rPr lang="pt-BR" altLang="pt-BR" b="1"/>
              <a:t>Peptídeos que atuam sobre o trato digestivo e o cérebro: insulina, leucina-encefálica;</a:t>
            </a:r>
          </a:p>
          <a:p>
            <a:pPr marL="609600" indent="-609600">
              <a:buClr>
                <a:srgbClr val="9933FF"/>
              </a:buClr>
            </a:pPr>
            <a:r>
              <a:rPr lang="pt-BR" altLang="pt-BR" b="1"/>
              <a:t>De outros tecidos: bradicinina, etc.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Origem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rigem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1362</TotalTime>
  <Words>1338</Words>
  <Application>Microsoft Macintosh PowerPoint</Application>
  <PresentationFormat>Apresentação na tela (4:3)</PresentationFormat>
  <Paragraphs>195</Paragraphs>
  <Slides>43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3" baseType="lpstr">
      <vt:lpstr>Aptos</vt:lpstr>
      <vt:lpstr>Arial</vt:lpstr>
      <vt:lpstr>Gill Sans MT</vt:lpstr>
      <vt:lpstr>Google Sans</vt:lpstr>
      <vt:lpstr>Tahoma</vt:lpstr>
      <vt:lpstr>Times</vt:lpstr>
      <vt:lpstr>Tw Cen MT</vt:lpstr>
      <vt:lpstr>Wingdings</vt:lpstr>
      <vt:lpstr>Wingdings 2</vt:lpstr>
      <vt:lpstr>Mediano</vt:lpstr>
      <vt:lpstr>Apresentação do PowerPoint</vt:lpstr>
      <vt:lpstr>Apresentação do PowerPoint</vt:lpstr>
      <vt:lpstr>Apresentação do PowerPoint</vt:lpstr>
      <vt:lpstr>Neurônio </vt:lpstr>
      <vt:lpstr>Neurônios</vt:lpstr>
      <vt:lpstr>Partes do neurônio</vt:lpstr>
      <vt:lpstr>ANATOMIA FISIOLÓGICA DA SINAPSE </vt:lpstr>
      <vt:lpstr>TIPOS DE NEURÔNIOS</vt:lpstr>
      <vt:lpstr>Apresentação do PowerPoint</vt:lpstr>
      <vt:lpstr>Apresentação do PowerPoint</vt:lpstr>
      <vt:lpstr>Fibras nervosas</vt:lpstr>
      <vt:lpstr>Apresentação do PowerPoint</vt:lpstr>
      <vt:lpstr>Apresentação do PowerPoint</vt:lpstr>
      <vt:lpstr>SINAPSES DO SNC</vt:lpstr>
      <vt:lpstr>Estruturas da sinapse</vt:lpstr>
      <vt:lpstr>Sinapse </vt:lpstr>
      <vt:lpstr>SINAPSE ELÉTRICA</vt:lpstr>
      <vt:lpstr>SINAPSE QUÍMICA</vt:lpstr>
      <vt:lpstr>SINAPSE QUÍMICA</vt:lpstr>
      <vt:lpstr>SINAPSE QUÍMICA</vt:lpstr>
      <vt:lpstr>ESTRUTURA BÁSICA DAS TERMINAÇÕES PRÉ -SINÁPTICAS</vt:lpstr>
      <vt:lpstr>CONDUÇÃO “EM MÃO ÚNICA” NAS SINAPSES QUÍMICAS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INFLUÊNCIA DO POTENCIAL DE AÇÃO NA LIBERAÇÃO DO TRANSMISSOR NOS TERMINAIS PRÉ-SINÁPTICOS</vt:lpstr>
      <vt:lpstr>AÇÃO DA SUBSTÂNCIA TRANSMISSORA SOBRE O NEURÔNIO PÓS-SINÁPTICO</vt:lpstr>
      <vt:lpstr>PROTEÍNAS RECEPTORAS</vt:lpstr>
      <vt:lpstr>Apresentação do PowerPoint</vt:lpstr>
      <vt:lpstr>Impulso Nervoso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Neurotransmissores </vt:lpstr>
      <vt:lpstr>AÇÃO DA SUBSTÂNCIA TRANSMISSORA SOBRE O NEURÔNIO PÓS-SINÁPTICO</vt:lpstr>
      <vt:lpstr>TRANSMISSORES SINÁPTICOS</vt:lpstr>
      <vt:lpstr>TRANSMISSORES SINÁPTICOS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NERVOSO E CONTRAÇÃO MUSCULAR</dc:title>
  <dc:creator>Viviane</dc:creator>
  <cp:lastModifiedBy>Laiza Barros</cp:lastModifiedBy>
  <cp:revision>19</cp:revision>
  <dcterms:created xsi:type="dcterms:W3CDTF">2011-05-05T20:46:32Z</dcterms:created>
  <dcterms:modified xsi:type="dcterms:W3CDTF">2026-03-19T19:27:59Z</dcterms:modified>
</cp:coreProperties>
</file>