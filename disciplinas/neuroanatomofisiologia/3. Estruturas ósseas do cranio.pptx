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3" r:id="rId2"/>
    <p:sldId id="256" r:id="rId3"/>
    <p:sldId id="270" r:id="rId4"/>
    <p:sldId id="257" r:id="rId5"/>
    <p:sldId id="281" r:id="rId6"/>
    <p:sldId id="258" r:id="rId7"/>
    <p:sldId id="280" r:id="rId8"/>
    <p:sldId id="259" r:id="rId9"/>
    <p:sldId id="260" r:id="rId10"/>
    <p:sldId id="261" r:id="rId11"/>
    <p:sldId id="271" r:id="rId12"/>
    <p:sldId id="262" r:id="rId13"/>
    <p:sldId id="263" r:id="rId14"/>
    <p:sldId id="283" r:id="rId15"/>
    <p:sldId id="284" r:id="rId16"/>
    <p:sldId id="282" r:id="rId17"/>
    <p:sldId id="285" r:id="rId18"/>
    <p:sldId id="264" r:id="rId19"/>
    <p:sldId id="267" r:id="rId20"/>
    <p:sldId id="268" r:id="rId21"/>
    <p:sldId id="274" r:id="rId22"/>
    <p:sldId id="278" r:id="rId23"/>
    <p:sldId id="286" r:id="rId24"/>
    <p:sldId id="287" r:id="rId25"/>
    <p:sldId id="288" r:id="rId26"/>
    <p:sldId id="298" r:id="rId27"/>
    <p:sldId id="299" r:id="rId28"/>
    <p:sldId id="289" r:id="rId29"/>
    <p:sldId id="297" r:id="rId30"/>
    <p:sldId id="290" r:id="rId31"/>
    <p:sldId id="291" r:id="rId32"/>
    <p:sldId id="300" r:id="rId33"/>
    <p:sldId id="301" r:id="rId3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>
      <p:cViewPr varScale="1">
        <p:scale>
          <a:sx n="117" d="100"/>
          <a:sy n="117" d="100"/>
        </p:scale>
        <p:origin x="148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2910" y="1122480"/>
            <a:ext cx="685773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90000"/>
              </a:lnSpc>
              <a:buNone/>
              <a:defRPr/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r>
              <a:rPr lang="pt-BR"/>
              <a:t>&lt;data/hora&gt;</a:t>
            </a:r>
            <a:endParaRPr lang="pt-BR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8860" y="6356520"/>
            <a:ext cx="308583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05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pt-BR"/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78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fld id="{FA579089-8000-4FD4-86B0-53DF4B9EA4D0}" type="slidenum">
              <a:rPr lang="pt-BR" smtClean="0"/>
              <a:pPr/>
              <a:t>‹nº›</a:t>
            </a:fld>
            <a:endParaRPr lang="pt-BR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110" y="1604520"/>
            <a:ext cx="822933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324000" indent="-243000">
              <a:lnSpc>
                <a:spcPct val="90000"/>
              </a:lnSpc>
              <a:spcBef>
                <a:spcPts val="106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648000" lvl="1" indent="-243000">
              <a:lnSpc>
                <a:spcPct val="90000"/>
              </a:lnSpc>
              <a:spcBef>
                <a:spcPts val="8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972000" lvl="2" indent="-2160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296000" lvl="3" indent="-162000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1620000" lvl="4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1944000" lvl="5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2268000" lvl="6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  <p:extLst>
      <p:ext uri="{BB962C8B-B14F-4D97-AF65-F5344CB8AC3E}">
        <p14:creationId xmlns:p14="http://schemas.microsoft.com/office/powerpoint/2010/main" val="423881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19/02/2026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5" descr="Forma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0" y="857250"/>
            <a:ext cx="9143820" cy="51432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42910" y="1268760"/>
            <a:ext cx="6857730" cy="2220720"/>
          </a:xfrm>
          <a:prstGeom prst="rect">
            <a:avLst/>
          </a:prstGeom>
          <a:noFill/>
          <a:ln w="0">
            <a:noFill/>
          </a:ln>
        </p:spPr>
        <p:txBody>
          <a:bodyPr vert="horz" lIns="68580" tIns="34290" rIns="68580" bIns="34290" numCol="1" spcCol="0" anchor="b">
            <a:noAutofit/>
          </a:bodyPr>
          <a:lstStyle/>
          <a:p>
            <a:r>
              <a:rPr lang="pt-BR" sz="4800" dirty="0"/>
              <a:t>Estruturas ósseas do Crânio e Coluna </a:t>
            </a:r>
            <a:r>
              <a:rPr lang="pt-BR" sz="4800" dirty="0" err="1"/>
              <a:t>vertbral</a:t>
            </a:r>
            <a:r>
              <a:rPr lang="pt-BR" sz="4800" dirty="0"/>
              <a:t>	</a:t>
            </a:r>
            <a:endParaRPr lang="pt-BR" sz="4500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142910" y="3558870"/>
            <a:ext cx="6857730" cy="1241460"/>
          </a:xfrm>
          <a:prstGeom prst="rect">
            <a:avLst/>
          </a:prstGeom>
          <a:noFill/>
          <a:ln w="0">
            <a:noFill/>
          </a:ln>
        </p:spPr>
        <p:txBody>
          <a:bodyPr vert="horz" lIns="68580" tIns="34290" rIns="68580" bIns="34290" numCol="1" spcCol="0" anchor="t">
            <a:noAutofit/>
          </a:bodyPr>
          <a:lstStyle/>
          <a:p>
            <a:r>
              <a:rPr lang="pt-BR" sz="1800" dirty="0">
                <a:solidFill>
                  <a:schemeClr val="dk1"/>
                </a:solidFill>
                <a:latin typeface="Calibri"/>
              </a:rPr>
              <a:t>Profa. Dra. Laiza Barros</a:t>
            </a:r>
          </a:p>
          <a:p>
            <a:r>
              <a:rPr lang="pt-BR" sz="1800">
                <a:solidFill>
                  <a:schemeClr val="dk1"/>
                </a:solidFill>
                <a:latin typeface="Calibri"/>
              </a:rPr>
              <a:t>Psicologia  </a:t>
            </a:r>
          </a:p>
          <a:p>
            <a:r>
              <a:rPr lang="pt-BR" sz="1800">
                <a:solidFill>
                  <a:schemeClr val="dk1"/>
                </a:solidFill>
                <a:latin typeface="Calibri"/>
              </a:rPr>
              <a:t>2026</a:t>
            </a:r>
            <a:endParaRPr lang="pt-BR" sz="1800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27584" y="1340768"/>
            <a:ext cx="7776864" cy="3312368"/>
          </a:xfrm>
        </p:spPr>
        <p:txBody>
          <a:bodyPr>
            <a:normAutofit/>
          </a:bodyPr>
          <a:lstStyle/>
          <a:p>
            <a:pPr algn="ctr"/>
            <a:r>
              <a:rPr lang="pt-BR" sz="4400" dirty="0"/>
              <a:t>Estruturas ósseas do Crânio e Coluna </a:t>
            </a:r>
            <a:r>
              <a:rPr lang="pt-BR" sz="4400" dirty="0" err="1"/>
              <a:t>vertbral</a:t>
            </a:r>
            <a:r>
              <a:rPr lang="pt-BR" sz="4400" dirty="0"/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95536" y="2034714"/>
            <a:ext cx="79928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OSSOS DO CRÂNIO: Frontal, Parietais, Temporais, </a:t>
            </a:r>
            <a:r>
              <a:rPr lang="pt-BR" dirty="0" err="1"/>
              <a:t>Esfenóide</a:t>
            </a:r>
            <a:r>
              <a:rPr lang="pt-BR" dirty="0"/>
              <a:t>, </a:t>
            </a:r>
            <a:r>
              <a:rPr lang="pt-BR" dirty="0" err="1"/>
              <a:t>Etmóide</a:t>
            </a:r>
            <a:r>
              <a:rPr lang="pt-BR" dirty="0"/>
              <a:t> e Occipital </a:t>
            </a:r>
          </a:p>
          <a:p>
            <a:endParaRPr lang="pt-BR" dirty="0"/>
          </a:p>
          <a:p>
            <a:r>
              <a:rPr lang="pt-BR" dirty="0"/>
              <a:t>OSSOS DA FACE: Mandíbula, Vômer, Conchas nasais inferiores, Lacrimais,Nasais, </a:t>
            </a:r>
            <a:r>
              <a:rPr lang="pt-BR" dirty="0" err="1"/>
              <a:t>Zigomáticos</a:t>
            </a:r>
            <a:r>
              <a:rPr lang="pt-BR" dirty="0"/>
              <a:t> (ou malares), Palatinos, Maxilas e osso </a:t>
            </a:r>
            <a:r>
              <a:rPr lang="pt-BR" dirty="0" err="1"/>
              <a:t>hióide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1778" y="765770"/>
            <a:ext cx="5980542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ixaDeTexto 2"/>
          <p:cNvSpPr txBox="1"/>
          <p:nvPr/>
        </p:nvSpPr>
        <p:spPr>
          <a:xfrm>
            <a:off x="755576" y="69269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Crânio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95536" y="188640"/>
            <a:ext cx="7416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Vista Superior do Crânio - Calota Craniana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dirty="0"/>
              <a:t> </a:t>
            </a:r>
          </a:p>
          <a:p>
            <a:endParaRPr lang="pt-BR" dirty="0"/>
          </a:p>
        </p:txBody>
      </p:sp>
      <p:pic>
        <p:nvPicPr>
          <p:cNvPr id="3" name="Imagem 2" descr="http://www.auladeanatomia.com/osteologia/calota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764704"/>
            <a:ext cx="7560840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530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http://www.auladeanatomia.com/osteologia/cranioanterior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692696"/>
            <a:ext cx="7344816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251398" y="6495752"/>
          <a:ext cx="5353050" cy="115507"/>
        </p:xfrm>
        <a:graphic>
          <a:graphicData uri="http://schemas.openxmlformats.org/drawingml/2006/table">
            <a:tbl>
              <a:tblPr/>
              <a:tblGrid>
                <a:gridCol w="53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50"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  <a:spcAft>
                          <a:spcPts val="0"/>
                        </a:spcAft>
                      </a:pPr>
                      <a:r>
                        <a:rPr lang="pt-BR" sz="750" u="sng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Fonte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: NETTER, Frank H.. Atlas de Anatomia Humana. 2ed. Porto Alegre: </a:t>
                      </a:r>
                      <a:r>
                        <a:rPr lang="pt-BR" sz="750" dirty="0" err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Artmed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, 2000.</a:t>
                      </a:r>
                      <a:r>
                        <a:rPr lang="pt-BR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pt-BR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0" t="13601" r="13250" b="3800"/>
          <a:stretch/>
        </p:blipFill>
        <p:spPr>
          <a:xfrm rot="5400000">
            <a:off x="814770" y="516871"/>
            <a:ext cx="6578359" cy="5544618"/>
          </a:xfrm>
          <a:prstGeom prst="rect">
            <a:avLst/>
          </a:prstGeom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258985"/>
              </p:ext>
            </p:extLst>
          </p:nvPr>
        </p:nvGraphicFramePr>
        <p:xfrm>
          <a:off x="3683446" y="6669360"/>
          <a:ext cx="5353050" cy="115507"/>
        </p:xfrm>
        <a:graphic>
          <a:graphicData uri="http://schemas.openxmlformats.org/drawingml/2006/table">
            <a:tbl>
              <a:tblPr/>
              <a:tblGrid>
                <a:gridCol w="53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50"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  <a:spcAft>
                          <a:spcPts val="0"/>
                        </a:spcAft>
                      </a:pPr>
                      <a:r>
                        <a:rPr lang="pt-BR" sz="750" u="sng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Fonte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: NETTER, Frank H.. Atlas de Anatomia Humana. 2ed. Porto Alegre: </a:t>
                      </a:r>
                      <a:r>
                        <a:rPr lang="pt-BR" sz="750" dirty="0" err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Artmed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, 2000.</a:t>
                      </a:r>
                      <a:r>
                        <a:rPr lang="pt-BR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pt-BR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1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http://www.auladeanatomia.com/osteologia/orbita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2118" y="1484784"/>
            <a:ext cx="636036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683446" y="6453336"/>
          <a:ext cx="5353050" cy="115507"/>
        </p:xfrm>
        <a:graphic>
          <a:graphicData uri="http://schemas.openxmlformats.org/drawingml/2006/table">
            <a:tbl>
              <a:tblPr/>
              <a:tblGrid>
                <a:gridCol w="53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50"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  <a:spcAft>
                          <a:spcPts val="0"/>
                        </a:spcAft>
                      </a:pPr>
                      <a:r>
                        <a:rPr lang="pt-BR" sz="750" u="sng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Fonte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: NETTER, Frank H.. Atlas de Anatomia Humana. 2ed. Porto Alegre: </a:t>
                      </a:r>
                      <a:r>
                        <a:rPr lang="pt-BR" sz="750" dirty="0" err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Artmed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, 2000.</a:t>
                      </a:r>
                      <a:r>
                        <a:rPr lang="pt-BR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pt-BR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0" t="13601" r="13250" b="3800"/>
          <a:stretch/>
        </p:blipFill>
        <p:spPr>
          <a:xfrm rot="5400000">
            <a:off x="275084" y="379880"/>
            <a:ext cx="2449494" cy="20645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99592" y="476672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Vista Lateral do Crânio</a:t>
            </a:r>
            <a:r>
              <a:rPr lang="pt-BR" dirty="0"/>
              <a:t> </a:t>
            </a:r>
          </a:p>
        </p:txBody>
      </p:sp>
      <p:pic>
        <p:nvPicPr>
          <p:cNvPr id="3" name="Imagem 2" descr="http://www.auladeanatomia.com/osteologia/craniolateral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35" y="1268760"/>
            <a:ext cx="7248525" cy="5086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3683446" y="6495752"/>
          <a:ext cx="5353050" cy="115507"/>
        </p:xfrm>
        <a:graphic>
          <a:graphicData uri="http://schemas.openxmlformats.org/drawingml/2006/table">
            <a:tbl>
              <a:tblPr/>
              <a:tblGrid>
                <a:gridCol w="53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50"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  <a:spcAft>
                          <a:spcPts val="0"/>
                        </a:spcAft>
                      </a:pPr>
                      <a:r>
                        <a:rPr lang="pt-BR" sz="750" u="sng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Fonte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: NETTER, Frank H.. Atlas de Anatomia Humana. 2ed. Porto Alegre: </a:t>
                      </a:r>
                      <a:r>
                        <a:rPr lang="pt-BR" sz="750" dirty="0" err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Artmed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, 2000.</a:t>
                      </a:r>
                      <a:r>
                        <a:rPr lang="pt-BR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pt-BR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http://www.auladeanatomia.com/osteologia/craniolateral3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7403" y="980728"/>
            <a:ext cx="6564957" cy="4923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ixaDeTexto 2"/>
          <p:cNvSpPr txBox="1"/>
          <p:nvPr/>
        </p:nvSpPr>
        <p:spPr>
          <a:xfrm>
            <a:off x="899592" y="476672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Vista Lateral do Crânio</a:t>
            </a:r>
            <a:r>
              <a:rPr lang="pt-BR" dirty="0"/>
              <a:t>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3683446" y="6495752"/>
          <a:ext cx="5353050" cy="115507"/>
        </p:xfrm>
        <a:graphic>
          <a:graphicData uri="http://schemas.openxmlformats.org/drawingml/2006/table">
            <a:tbl>
              <a:tblPr/>
              <a:tblGrid>
                <a:gridCol w="53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50"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  <a:spcAft>
                          <a:spcPts val="0"/>
                        </a:spcAft>
                      </a:pPr>
                      <a:r>
                        <a:rPr lang="pt-BR" sz="750" u="sng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Fonte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: NETTER, Frank H.. Atlas de Anatomia Humana. 2ed. Porto Alegre: </a:t>
                      </a:r>
                      <a:r>
                        <a:rPr lang="pt-BR" sz="750" dirty="0" err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Artmed</a:t>
                      </a:r>
                      <a:r>
                        <a:rPr lang="pt-BR" sz="75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, 2000.</a:t>
                      </a:r>
                      <a:r>
                        <a:rPr lang="pt-BR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pt-BR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628" y="1628800"/>
            <a:ext cx="6072708" cy="430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aixaDeTexto 3"/>
          <p:cNvSpPr txBox="1"/>
          <p:nvPr/>
        </p:nvSpPr>
        <p:spPr>
          <a:xfrm>
            <a:off x="827584" y="539388"/>
            <a:ext cx="67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Articulação </a:t>
            </a:r>
            <a:r>
              <a:rPr lang="pt-BR" dirty="0" err="1"/>
              <a:t>Temporomandibular</a:t>
            </a:r>
            <a:r>
              <a:rPr lang="pt-BR" dirty="0"/>
              <a:t> (ATM)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http://www.auladeanatomia.com/osteologia/craniomedia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9411" y="698524"/>
            <a:ext cx="6564957" cy="553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tângulo 2"/>
          <p:cNvSpPr/>
          <p:nvPr/>
        </p:nvSpPr>
        <p:spPr>
          <a:xfrm>
            <a:off x="4644008" y="6515859"/>
            <a:ext cx="4572000" cy="2975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750"/>
              </a:lnSpc>
              <a:spcAft>
                <a:spcPts val="0"/>
              </a:spcAft>
            </a:pPr>
            <a:r>
              <a:rPr lang="pt-BR" sz="800" u="sng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Fonte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: NETTER, Frank H.. Atlas de Anatomia Humana. 2ed. Porto Alegre: </a:t>
            </a:r>
            <a:r>
              <a:rPr lang="pt-BR" sz="800" dirty="0" err="1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Artmed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, 2000.</a:t>
            </a:r>
            <a:r>
              <a:rPr lang="pt-BR" sz="3600" dirty="0">
                <a:latin typeface="Times New Roman"/>
                <a:ea typeface="Times New Roman"/>
                <a:cs typeface="Times New Roman"/>
              </a:rPr>
              <a:t> </a:t>
            </a:r>
            <a:endParaRPr lang="pt-BR" sz="32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51520" y="188640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Vista Medial do Crânio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95536" y="188640"/>
            <a:ext cx="8604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Vista Superior do Crânio - Calota Craniana</a:t>
            </a:r>
            <a:br>
              <a:rPr lang="pt-BR" dirty="0"/>
            </a:br>
            <a:endParaRPr lang="pt-BR" dirty="0"/>
          </a:p>
          <a:p>
            <a:r>
              <a:rPr lang="pt-BR" dirty="0"/>
              <a:t> </a:t>
            </a:r>
          </a:p>
          <a:p>
            <a:endParaRPr lang="pt-BR" dirty="0"/>
          </a:p>
        </p:txBody>
      </p:sp>
      <p:pic>
        <p:nvPicPr>
          <p:cNvPr id="3" name="Imagem 2" descr="http://www.auladeanatomia.com/osteologia/calota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204864"/>
            <a:ext cx="5519539" cy="435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42916"/>
            <a:ext cx="7200800" cy="6372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ângulo 3"/>
          <p:cNvSpPr/>
          <p:nvPr/>
        </p:nvSpPr>
        <p:spPr>
          <a:xfrm>
            <a:off x="251520" y="6515859"/>
            <a:ext cx="4572000" cy="2975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750"/>
              </a:lnSpc>
              <a:spcAft>
                <a:spcPts val="0"/>
              </a:spcAft>
            </a:pPr>
            <a:r>
              <a:rPr lang="pt-BR" sz="800" u="sng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Fonte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: NETTER, Frank H.. Atlas de Anatomia Humana. 2ed. Porto Alegre: </a:t>
            </a:r>
            <a:r>
              <a:rPr lang="pt-BR" sz="800" dirty="0" err="1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Artmed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, 2000.</a:t>
            </a:r>
            <a:r>
              <a:rPr lang="pt-BR" sz="3600" dirty="0">
                <a:latin typeface="Times New Roman"/>
                <a:ea typeface="Times New Roman"/>
                <a:cs typeface="Times New Roman"/>
              </a:rPr>
              <a:t> </a:t>
            </a:r>
            <a:endParaRPr lang="pt-BR" sz="3200" dirty="0"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657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5" t="13252" r="20075" b="14299"/>
          <a:stretch/>
        </p:blipFill>
        <p:spPr>
          <a:xfrm rot="5400000">
            <a:off x="1240847" y="567465"/>
            <a:ext cx="6662306" cy="5472608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51520" y="6515859"/>
            <a:ext cx="4572000" cy="2975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750"/>
              </a:lnSpc>
              <a:spcAft>
                <a:spcPts val="0"/>
              </a:spcAft>
            </a:pPr>
            <a:r>
              <a:rPr lang="pt-BR" sz="800" u="sng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Fonte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: NETTER, Frank H.. Atlas de Anatomia Humana. 2ed. Porto Alegre: </a:t>
            </a:r>
            <a:r>
              <a:rPr lang="pt-BR" sz="800" dirty="0" err="1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Artmed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, 2000.</a:t>
            </a:r>
            <a:r>
              <a:rPr lang="pt-BR" sz="3600" dirty="0">
                <a:latin typeface="Times New Roman"/>
                <a:ea typeface="Times New Roman"/>
                <a:cs typeface="Times New Roman"/>
              </a:rPr>
              <a:t> </a:t>
            </a:r>
            <a:endParaRPr lang="pt-BR" sz="3200" dirty="0"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7100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95536" y="476672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Fossas Cranianas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É dividida em 3 fossas: Fossa Anterior, Fossa Média e Fossa Posterior</a:t>
            </a:r>
          </a:p>
        </p:txBody>
      </p:sp>
      <p:pic>
        <p:nvPicPr>
          <p:cNvPr id="3" name="Imagem 2" descr="http://www.auladeanatomia.com/osteologia/fossaanterior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911" y="2060848"/>
            <a:ext cx="2079873" cy="2494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Imagem 3" descr="http://www.auladeanatomia.com/osteologia/fossamedia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2924944"/>
            <a:ext cx="2376264" cy="2494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m 4" descr="http://www.auladeanatomia.com/osteologia/fossaposterior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217" y="4293096"/>
            <a:ext cx="2232248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05434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95536" y="188640"/>
            <a:ext cx="86044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Vista Superior do Crânio - Calota Craniana</a:t>
            </a:r>
          </a:p>
          <a:p>
            <a:endParaRPr lang="pt-BR" b="1" u="sng" dirty="0"/>
          </a:p>
          <a:p>
            <a:r>
              <a:rPr lang="pt-BR" dirty="0"/>
              <a:t>1 - </a:t>
            </a:r>
            <a:r>
              <a:rPr lang="pt-BR" u="sng" dirty="0"/>
              <a:t>Sutura Coronal ou </a:t>
            </a:r>
            <a:r>
              <a:rPr lang="pt-BR" u="sng" dirty="0" err="1"/>
              <a:t>Bregmática</a:t>
            </a:r>
            <a:r>
              <a:rPr lang="pt-BR" dirty="0"/>
              <a:t>: entre os ossos frontal e parietais </a:t>
            </a:r>
          </a:p>
          <a:p>
            <a:r>
              <a:rPr lang="pt-BR" dirty="0"/>
              <a:t>2 - </a:t>
            </a:r>
            <a:r>
              <a:rPr lang="pt-BR" u="sng" dirty="0"/>
              <a:t>Sutura Sagital</a:t>
            </a:r>
            <a:r>
              <a:rPr lang="pt-BR" dirty="0"/>
              <a:t>: entre os dois parietais (linha sagital mediana) </a:t>
            </a:r>
          </a:p>
          <a:p>
            <a:r>
              <a:rPr lang="pt-BR" dirty="0"/>
              <a:t>3 - </a:t>
            </a:r>
            <a:r>
              <a:rPr lang="pt-BR" u="sng" dirty="0"/>
              <a:t>Sutura </a:t>
            </a:r>
            <a:r>
              <a:rPr lang="pt-BR" u="sng" dirty="0" err="1"/>
              <a:t>Lambdóide</a:t>
            </a:r>
            <a:r>
              <a:rPr lang="pt-BR" dirty="0"/>
              <a:t>: entre os parietais e o occipital </a:t>
            </a:r>
          </a:p>
          <a:p>
            <a:r>
              <a:rPr lang="pt-BR" dirty="0"/>
              <a:t>4 - </a:t>
            </a:r>
            <a:r>
              <a:rPr lang="pt-BR" u="sng" dirty="0"/>
              <a:t>Sutura Escamosa</a:t>
            </a:r>
            <a:r>
              <a:rPr lang="pt-BR" dirty="0"/>
              <a:t>: entre o parietal e o temporal </a:t>
            </a:r>
            <a:br>
              <a:rPr lang="pt-BR" dirty="0"/>
            </a:br>
            <a:endParaRPr lang="pt-BR" dirty="0"/>
          </a:p>
          <a:p>
            <a:r>
              <a:rPr lang="pt-BR" dirty="0"/>
              <a:t> </a:t>
            </a:r>
          </a:p>
          <a:p>
            <a:endParaRPr lang="pt-BR" dirty="0"/>
          </a:p>
        </p:txBody>
      </p:sp>
      <p:pic>
        <p:nvPicPr>
          <p:cNvPr id="3" name="Imagem 2" descr="http://www.auladeanatomia.com/osteologia/calota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204864"/>
            <a:ext cx="5519539" cy="435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285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/>
          <p:cNvSpPr txBox="1"/>
          <p:nvPr/>
        </p:nvSpPr>
        <p:spPr>
          <a:xfrm>
            <a:off x="323528" y="245547"/>
            <a:ext cx="83884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/>
              <a:t>Alguns Pontos Antropométricos do Crânio</a:t>
            </a:r>
            <a:r>
              <a:rPr lang="pt-BR" dirty="0"/>
              <a:t>: </a:t>
            </a:r>
          </a:p>
          <a:p>
            <a:r>
              <a:rPr lang="pt-BR" i="1" dirty="0" err="1"/>
              <a:t>Bregma</a:t>
            </a:r>
            <a:r>
              <a:rPr lang="pt-BR" dirty="0"/>
              <a:t> - ponto de união das suturas sagital e coronal </a:t>
            </a:r>
          </a:p>
          <a:p>
            <a:r>
              <a:rPr lang="pt-BR" i="1" dirty="0" err="1"/>
              <a:t>Lâmbda</a:t>
            </a:r>
            <a:r>
              <a:rPr lang="pt-BR" dirty="0"/>
              <a:t> - ponto de união das suturas sagital e </a:t>
            </a:r>
            <a:r>
              <a:rPr lang="pt-BR" dirty="0" err="1"/>
              <a:t>lambdóide</a:t>
            </a:r>
            <a:r>
              <a:rPr lang="pt-BR" dirty="0"/>
              <a:t> </a:t>
            </a:r>
          </a:p>
          <a:p>
            <a:r>
              <a:rPr lang="pt-BR" i="1" dirty="0" err="1"/>
              <a:t>Vértex</a:t>
            </a:r>
            <a:r>
              <a:rPr lang="pt-BR" dirty="0"/>
              <a:t> - parte mais alta do crânio </a:t>
            </a:r>
          </a:p>
          <a:p>
            <a:r>
              <a:rPr lang="pt-BR" i="1" dirty="0"/>
              <a:t>Gônio</a:t>
            </a:r>
            <a:r>
              <a:rPr lang="pt-BR" dirty="0"/>
              <a:t> - ângulo da mandíbula </a:t>
            </a:r>
          </a:p>
          <a:p>
            <a:r>
              <a:rPr lang="pt-BR" i="1" dirty="0"/>
              <a:t>Ptério</a:t>
            </a:r>
            <a:r>
              <a:rPr lang="pt-BR" dirty="0"/>
              <a:t> - ponto de união dos ossos parietal, frontal, </a:t>
            </a:r>
            <a:r>
              <a:rPr lang="pt-BR" dirty="0" err="1"/>
              <a:t>esfenóide</a:t>
            </a:r>
            <a:r>
              <a:rPr lang="pt-BR" dirty="0"/>
              <a:t> e temporal </a:t>
            </a:r>
          </a:p>
          <a:p>
            <a:endParaRPr lang="pt-BR" dirty="0"/>
          </a:p>
        </p:txBody>
      </p:sp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282492"/>
            <a:ext cx="4193282" cy="411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ângulo 3"/>
          <p:cNvSpPr/>
          <p:nvPr/>
        </p:nvSpPr>
        <p:spPr>
          <a:xfrm>
            <a:off x="4644008" y="6515859"/>
            <a:ext cx="4572000" cy="2975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750"/>
              </a:lnSpc>
              <a:spcAft>
                <a:spcPts val="0"/>
              </a:spcAft>
            </a:pPr>
            <a:r>
              <a:rPr lang="pt-BR" sz="800" u="sng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Fonte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: NETTER, Frank H.. Atlas de Anatomia Humana. 2ed. Porto Alegre: </a:t>
            </a:r>
            <a:r>
              <a:rPr lang="pt-BR" sz="800" dirty="0" err="1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Artmed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, 2000.</a:t>
            </a:r>
            <a:r>
              <a:rPr lang="pt-BR" sz="3600" dirty="0">
                <a:latin typeface="Times New Roman"/>
                <a:ea typeface="Times New Roman"/>
                <a:cs typeface="Times New Roman"/>
              </a:rPr>
              <a:t> </a:t>
            </a:r>
            <a:endParaRPr lang="pt-BR" sz="3200" dirty="0">
              <a:latin typeface="Calibri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187624" y="260648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/>
              <a:t>Vista Inferior do Crânio</a:t>
            </a:r>
            <a:endParaRPr lang="pt-BR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7859" y="548680"/>
            <a:ext cx="5748638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ângulo 3"/>
          <p:cNvSpPr/>
          <p:nvPr/>
        </p:nvSpPr>
        <p:spPr>
          <a:xfrm>
            <a:off x="4644008" y="6515859"/>
            <a:ext cx="4572000" cy="2975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750"/>
              </a:lnSpc>
              <a:spcAft>
                <a:spcPts val="0"/>
              </a:spcAft>
            </a:pPr>
            <a:r>
              <a:rPr lang="pt-BR" sz="800" u="sng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Fonte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: NETTER, Frank H.. Atlas de Anatomia Humana. 2ed. Porto Alegre: </a:t>
            </a:r>
            <a:r>
              <a:rPr lang="pt-BR" sz="800" dirty="0" err="1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Artmed</a:t>
            </a:r>
            <a:r>
              <a:rPr lang="pt-BR" sz="800" dirty="0">
                <a:solidFill>
                  <a:srgbClr val="000000"/>
                </a:solidFill>
                <a:latin typeface="Verdana"/>
                <a:ea typeface="Times New Roman"/>
                <a:cs typeface="Times New Roman"/>
              </a:rPr>
              <a:t>, 2000.</a:t>
            </a:r>
            <a:r>
              <a:rPr lang="pt-BR" sz="3600" dirty="0">
                <a:latin typeface="Times New Roman"/>
                <a:ea typeface="Times New Roman"/>
                <a:cs typeface="Times New Roman"/>
              </a:rPr>
              <a:t> </a:t>
            </a:r>
            <a:endParaRPr lang="pt-BR" sz="3200" dirty="0">
              <a:latin typeface="Calibri"/>
              <a:ea typeface="Calibri"/>
              <a:cs typeface="Times New Roman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0" t="15350" r="10226" b="9050"/>
          <a:stretch/>
        </p:blipFill>
        <p:spPr>
          <a:xfrm rot="5400000">
            <a:off x="-108520" y="3356992"/>
            <a:ext cx="3600400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http://www.auladeanatomia.com/osteologia/basedocranio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76672"/>
            <a:ext cx="7992888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trela de 5 pontas 4"/>
          <p:cNvSpPr/>
          <p:nvPr/>
        </p:nvSpPr>
        <p:spPr>
          <a:xfrm>
            <a:off x="7020272" y="260648"/>
            <a:ext cx="266328" cy="360040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trela de 5 pontas 5"/>
          <p:cNvSpPr/>
          <p:nvPr/>
        </p:nvSpPr>
        <p:spPr>
          <a:xfrm>
            <a:off x="7092280" y="1700808"/>
            <a:ext cx="216024" cy="216024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trela de 5 pontas 6"/>
          <p:cNvSpPr/>
          <p:nvPr/>
        </p:nvSpPr>
        <p:spPr>
          <a:xfrm>
            <a:off x="6876256" y="3068960"/>
            <a:ext cx="216024" cy="216024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trela de 5 pontas 7"/>
          <p:cNvSpPr/>
          <p:nvPr/>
        </p:nvSpPr>
        <p:spPr>
          <a:xfrm>
            <a:off x="8100392" y="3933056"/>
            <a:ext cx="216024" cy="216024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trela de 5 pontas 8"/>
          <p:cNvSpPr/>
          <p:nvPr/>
        </p:nvSpPr>
        <p:spPr>
          <a:xfrm>
            <a:off x="7236296" y="4365104"/>
            <a:ext cx="216024" cy="216024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trela de 5 pontas 9"/>
          <p:cNvSpPr/>
          <p:nvPr/>
        </p:nvSpPr>
        <p:spPr>
          <a:xfrm>
            <a:off x="7812360" y="4725144"/>
            <a:ext cx="216024" cy="216024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trela de 5 pontas 10"/>
          <p:cNvSpPr/>
          <p:nvPr/>
        </p:nvSpPr>
        <p:spPr>
          <a:xfrm>
            <a:off x="2411760" y="5733256"/>
            <a:ext cx="216024" cy="216024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trela de 5 pontas 11"/>
          <p:cNvSpPr/>
          <p:nvPr/>
        </p:nvSpPr>
        <p:spPr>
          <a:xfrm>
            <a:off x="1187624" y="4221088"/>
            <a:ext cx="216024" cy="216024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trela de 5 pontas 12"/>
          <p:cNvSpPr/>
          <p:nvPr/>
        </p:nvSpPr>
        <p:spPr>
          <a:xfrm>
            <a:off x="395536" y="2564904"/>
            <a:ext cx="216024" cy="216024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trela de 5 pontas 13"/>
          <p:cNvSpPr/>
          <p:nvPr/>
        </p:nvSpPr>
        <p:spPr>
          <a:xfrm>
            <a:off x="683568" y="2348880"/>
            <a:ext cx="216024" cy="216024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craniobeb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1052736"/>
            <a:ext cx="8066719" cy="4608512"/>
          </a:xfrm>
          <a:prstGeom prst="rect">
            <a:avLst/>
          </a:prstGeom>
        </p:spPr>
      </p:pic>
      <p:sp>
        <p:nvSpPr>
          <p:cNvPr id="3" name="Retângulo de cantos arredondados 2"/>
          <p:cNvSpPr/>
          <p:nvPr/>
        </p:nvSpPr>
        <p:spPr>
          <a:xfrm>
            <a:off x="7166111" y="2132856"/>
            <a:ext cx="1440160" cy="648072"/>
          </a:xfrm>
          <a:prstGeom prst="roundRect">
            <a:avLst/>
          </a:prstGeom>
          <a:solidFill>
            <a:srgbClr val="FFFFCC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>
                <a:solidFill>
                  <a:schemeClr val="bg2"/>
                </a:solidFill>
              </a:ln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563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784028"/>
            <a:ext cx="5544615" cy="57571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aixaDeTexto 2"/>
          <p:cNvSpPr txBox="1"/>
          <p:nvPr/>
        </p:nvSpPr>
        <p:spPr>
          <a:xfrm>
            <a:off x="395536" y="476672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Cranioestenose</a:t>
            </a:r>
            <a:r>
              <a:rPr lang="pt-BR" dirty="0"/>
              <a:t>: fechamento precoce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2693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777532"/>
            <a:ext cx="7000588" cy="5603796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691680" y="332656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Coluna vertebral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1834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16632"/>
            <a:ext cx="6912768" cy="663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65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4450"/>
            <a:ext cx="7924800" cy="67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60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14" y="1196751"/>
            <a:ext cx="7728586" cy="4884133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611560" y="40466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Disco intervertebral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748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60648"/>
            <a:ext cx="3021883" cy="19097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443" y="1084508"/>
            <a:ext cx="5108101" cy="555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09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750001"/>
            <a:ext cx="8712968" cy="610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87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0" r="10752" b="15082"/>
          <a:stretch/>
        </p:blipFill>
        <p:spPr>
          <a:xfrm>
            <a:off x="467544" y="629980"/>
            <a:ext cx="7920880" cy="5906095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115616" y="260648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Anatomia da vértebra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141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908720"/>
            <a:ext cx="7655848" cy="5747886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899592" y="33265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Vértebras cervicais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4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48680"/>
            <a:ext cx="7992888" cy="60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423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48 ideias de Cérebro Pensante para salvar hoje | cérebro, desenho de cerebro,  ilustração do cérebro e muito mais">
            <a:extLst>
              <a:ext uri="{FF2B5EF4-FFF2-40B4-BE49-F238E27FC236}">
                <a16:creationId xmlns:a16="http://schemas.microsoft.com/office/drawing/2014/main" id="{329E0FD6-D28F-E669-99FC-0DB510AB3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16632"/>
            <a:ext cx="4039264" cy="587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9280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4" descr="Uma imagem contendo 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0" y="857250"/>
            <a:ext cx="9143820" cy="514323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265</TotalTime>
  <Words>455</Words>
  <Application>Microsoft Macintosh PowerPoint</Application>
  <PresentationFormat>Apresentação na tela (4:3)</PresentationFormat>
  <Paragraphs>50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Century Schoolbook</vt:lpstr>
      <vt:lpstr>Symbol</vt:lpstr>
      <vt:lpstr>Times New Roman</vt:lpstr>
      <vt:lpstr>Verdana</vt:lpstr>
      <vt:lpstr>Wingdings</vt:lpstr>
      <vt:lpstr>Wingdings 2</vt:lpstr>
      <vt:lpstr>Balcão Envidraçado</vt:lpstr>
      <vt:lpstr>Estruturas ósseas do Crânio e Coluna vertbral </vt:lpstr>
      <vt:lpstr>Estruturas ósseas do Crânio e Coluna vertbral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ósseas do Cranio </dc:title>
  <dc:creator>Láiza</dc:creator>
  <cp:lastModifiedBy>Laiza Barros</cp:lastModifiedBy>
  <cp:revision>38</cp:revision>
  <dcterms:created xsi:type="dcterms:W3CDTF">2015-03-06T20:36:28Z</dcterms:created>
  <dcterms:modified xsi:type="dcterms:W3CDTF">2026-02-19T16:41:21Z</dcterms:modified>
</cp:coreProperties>
</file>